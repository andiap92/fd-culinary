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f00ee7ccf7496d" /><Relationship Type="http://schemas.openxmlformats.org/officeDocument/2006/relationships/extended-properties" Target="/docProps/app.xml" Id="Ra5aa6bafa2694ebf" /><Relationship Type="http://schemas.openxmlformats.org/officeDocument/2006/relationships/officeDocument" Target="/ppt/presentation.xml" Id="Rd21c8d622060412d" /></Relationships>
</file>

<file path=ppt/presentation.xml><?xml version="1.0" encoding="utf-8"?>
<p:presentation xmlns:p="http://schemas.openxmlformats.org/presentationml/2006/main">
  <p:sldMasterIdLst>
    <p:sldMasterId xmlns:r="http://schemas.openxmlformats.org/officeDocument/2006/relationships" id="2147483648" r:id="R154f786edc1b4a8b"/>
  </p:sldMasterIdLst>
  <p:notesMasterIdLst>
    <p:notesMasterId xmlns:r="http://schemas.openxmlformats.org/officeDocument/2006/relationships" r:id="Rcaf4e6dea6d9413a"/>
  </p:notesMasterIdLst>
  <p:sldIdLst>
    <p:sldId xmlns:r="http://schemas.openxmlformats.org/officeDocument/2006/relationships" id="256" r:id="R08841a13bb2d4b87"/>
    <p:sldId xmlns:r="http://schemas.openxmlformats.org/officeDocument/2006/relationships" id="257" r:id="Rb5a5aab4d7c54c23"/>
    <p:sldId xmlns:r="http://schemas.openxmlformats.org/officeDocument/2006/relationships" id="258" r:id="R1568e951cfa84495"/>
    <p:sldId xmlns:r="http://schemas.openxmlformats.org/officeDocument/2006/relationships" id="259" r:id="R3694ca32d37c45f4"/>
    <p:sldId xmlns:r="http://schemas.openxmlformats.org/officeDocument/2006/relationships" id="260" r:id="Rc8e10b8189eb4776"/>
    <p:sldId xmlns:r="http://schemas.openxmlformats.org/officeDocument/2006/relationships" id="261" r:id="R67d591211cd84c05"/>
    <p:sldId xmlns:r="http://schemas.openxmlformats.org/officeDocument/2006/relationships" id="262" r:id="R72376b82af694d24"/>
    <p:sldId xmlns:r="http://schemas.openxmlformats.org/officeDocument/2006/relationships" id="263" r:id="R321e8b70552141ea"/>
    <p:sldId xmlns:r="http://schemas.openxmlformats.org/officeDocument/2006/relationships" id="264" r:id="Raa1ec820a7e84356"/>
    <p:sldId xmlns:r="http://schemas.openxmlformats.org/officeDocument/2006/relationships" id="265" r:id="R671cebf24dbe4202"/>
    <p:sldId xmlns:r="http://schemas.openxmlformats.org/officeDocument/2006/relationships" id="266" r:id="R50d01de68d68443b"/>
    <p:sldId xmlns:r="http://schemas.openxmlformats.org/officeDocument/2006/relationships" id="267" r:id="R4986759e7f724f60"/>
    <p:sldId xmlns:r="http://schemas.openxmlformats.org/officeDocument/2006/relationships" id="268" r:id="R0234d2f992474c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cf1fab74ad4e33" /><Relationship Type="http://schemas.openxmlformats.org/officeDocument/2006/relationships/slideMaster" Target="/ppt/slideMasters/slideMaster1.xml" Id="R154f786edc1b4a8b" /><Relationship Type="http://schemas.openxmlformats.org/officeDocument/2006/relationships/notesMaster" Target="/ppt/notesMasters/notesMaster1.xml" Id="Rcaf4e6dea6d9413a" /><Relationship Type="http://schemas.openxmlformats.org/officeDocument/2006/relationships/presProps" Target="/ppt/presProps.xml" Id="Rf2b2b70ff5c34c99" /><Relationship Type="http://schemas.openxmlformats.org/officeDocument/2006/relationships/tableStyles" Target="/ppt/tableStyles.xml" Id="R665497340ca14460" /><Relationship Type="http://schemas.openxmlformats.org/officeDocument/2006/relationships/slide" Target="/ppt/slides/slide1.xml" Id="R08841a13bb2d4b87" /><Relationship Type="http://schemas.openxmlformats.org/officeDocument/2006/relationships/slide" Target="/ppt/slides/slide2.xml" Id="Rb5a5aab4d7c54c23" /><Relationship Type="http://schemas.openxmlformats.org/officeDocument/2006/relationships/slide" Target="/ppt/slides/slide3.xml" Id="R1568e951cfa84495" /><Relationship Type="http://schemas.openxmlformats.org/officeDocument/2006/relationships/slide" Target="/ppt/slides/slide4.xml" Id="R3694ca32d37c45f4" /><Relationship Type="http://schemas.openxmlformats.org/officeDocument/2006/relationships/slide" Target="/ppt/slides/slide5.xml" Id="Rc8e10b8189eb4776" /><Relationship Type="http://schemas.openxmlformats.org/officeDocument/2006/relationships/slide" Target="/ppt/slides/slide6.xml" Id="R67d591211cd84c05" /><Relationship Type="http://schemas.openxmlformats.org/officeDocument/2006/relationships/slide" Target="/ppt/slides/slide7.xml" Id="R72376b82af694d24" /><Relationship Type="http://schemas.openxmlformats.org/officeDocument/2006/relationships/slide" Target="/ppt/slides/slide8.xml" Id="R321e8b70552141ea" /><Relationship Type="http://schemas.openxmlformats.org/officeDocument/2006/relationships/slide" Target="/ppt/slides/slide9.xml" Id="Raa1ec820a7e84356" /><Relationship Type="http://schemas.openxmlformats.org/officeDocument/2006/relationships/slide" Target="/ppt/slides/slide10.xml" Id="R671cebf24dbe4202" /><Relationship Type="http://schemas.openxmlformats.org/officeDocument/2006/relationships/slide" Target="/ppt/slides/slide11.xml" Id="R50d01de68d68443b" /><Relationship Type="http://schemas.openxmlformats.org/officeDocument/2006/relationships/slide" Target="/ppt/slides/slide12.xml" Id="R4986759e7f724f60" /><Relationship Type="http://schemas.openxmlformats.org/officeDocument/2006/relationships/slide" Target="/ppt/slides/slide13.xml" Id="R0234d2f992474c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a2a366b32543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f2f92065a543d8" /><Relationship Type="http://schemas.openxmlformats.org/officeDocument/2006/relationships/notesMaster" Target="/ppt/notesMasters/notesMaster1.xml" Id="Rc2d5bda6d37446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0b6a380ae5408d" /><Relationship Type="http://schemas.openxmlformats.org/officeDocument/2006/relationships/notesMaster" Target="/ppt/notesMasters/notesMaster1.xml" Id="R20ab7cd0c2e84a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7969f9bad34c6f" /><Relationship Type="http://schemas.openxmlformats.org/officeDocument/2006/relationships/notesMaster" Target="/ppt/notesMasters/notesMaster1.xml" Id="R76da57ee8f3647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6f610f10364b48" /><Relationship Type="http://schemas.openxmlformats.org/officeDocument/2006/relationships/notesMaster" Target="/ppt/notesMasters/notesMaster1.xml" Id="R26e6031b5e524b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8b10153db144ea" /><Relationship Type="http://schemas.openxmlformats.org/officeDocument/2006/relationships/notesMaster" Target="/ppt/notesMasters/notesMaster1.xml" Id="R3eb22b3b043145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9803c63962403f" /><Relationship Type="http://schemas.openxmlformats.org/officeDocument/2006/relationships/notesMaster" Target="/ppt/notesMasters/notesMaster1.xml" Id="R85a8ede3f12145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2ff3ff715542a7" /><Relationship Type="http://schemas.openxmlformats.org/officeDocument/2006/relationships/notesMaster" Target="/ppt/notesMasters/notesMaster1.xml" Id="Rd8bbeb98d67f4b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56240b72bd4e8c" /><Relationship Type="http://schemas.openxmlformats.org/officeDocument/2006/relationships/notesMaster" Target="/ppt/notesMasters/notesMaster1.xml" Id="R20698b8541734b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f18d04750a4018" /><Relationship Type="http://schemas.openxmlformats.org/officeDocument/2006/relationships/notesMaster" Target="/ppt/notesMasters/notesMaster1.xml" Id="Ra158554c3b1942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7e86352133481d" /><Relationship Type="http://schemas.openxmlformats.org/officeDocument/2006/relationships/notesMaster" Target="/ppt/notesMasters/notesMaster1.xml" Id="Rcf5f3afa836942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e367a689ad416d" /><Relationship Type="http://schemas.openxmlformats.org/officeDocument/2006/relationships/notesMaster" Target="/ppt/notesMasters/notesMaster1.xml" Id="Rc0e8a26348f64e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88db9ca93c4184" /><Relationship Type="http://schemas.openxmlformats.org/officeDocument/2006/relationships/notesMaster" Target="/ppt/notesMasters/notesMaster1.xml" Id="Ra9376e8b56774c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2b2b709b07499d" /><Relationship Type="http://schemas.openxmlformats.org/officeDocument/2006/relationships/notesMaster" Target="/ppt/notesMasters/notesMaster1.xml" Id="R8f1d590e38894f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Presentasi ini merangkum fungsi yang tampak pada source website proyek per 6 Oktober 2026. Teks dan alur menjelaskan kondisi implementasi saat ini, bukan janji fitur yang belum dibuat.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Alur diambil dari CTA WhatsApp dan data katalog dalam src/js/app.js dan src/data/catalog.js.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Hero menggunakan public/assets/images/home-banner.jpg dan tidak memiliki efek uap atau splash pada versi saat ini. Source: public/index.html dan src/css/styles.css.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Poster: public/assets/images/menu-signature.jpg. Data produk dan foto diambil dari src/data/catalog.js.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Ukuran mengubah state kartu tanpa reload halaman. Nilai harga berasal dari poster menu klien dan src/data/catalog.js. Foto 1 L adalah foto yang sama yang diskalakan melalui 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harga: poster menu 2.jpg yang diberikan klien dan konfigurasi src/data/catalog.js. Rincian: Roasted Jasmine Milktea Rp16.000/Rp56.000; Roasted Oolong Milktea Rp16.000/Rp56.000; Blooming Jasmine Rp25.000/Rp95.000; Matcha Latte Rp18.000/Rp68.000; Matcha Oat Latte Rp24.000/Rp90.000; Choco Hazelnut Rp18.000/Rp68.000; Palm Sugar Latte Rp16.000/Rp60.000; Palm Sugar Oat Latte Rp24.000/Rp80.000; Creamy Butterscotch Rp16.000/Rp60.000; Creamy Caramel Rp16.000/Rp60.000. Setiap pasangan berurutan untuk 250 ml/1 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Harga dan satuan dari src/data/catalog.js. Konfirmasi ketersediaan dan satuan penjualan dengan owner sebelum dipublikasikan.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dasar sesuai arahan klien. Website memakai tautan Click to Chat wa.me. Referensi alur WhatsApp: https://faq.whatsapp.com/5913398998672934/. Tidak ada WhatsApp Business Platform API atau automation dalam implementasi saat ini.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Bagian profile/cerita dan footer ada di public/index.html. Alamat, jam operasional, peta, dan tautan sosial media belum ditemukan pada konten website saat pemeriksaan.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Jumlah dan perilaku berdasarkan data review di src/data/catalog.js dan pengendali kategori di src/js/app.js. Saat ini ada tiga review Minuman dan belum ada review Kue. Video review hanya tersedia untuk Minuman.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Responsif, menu ponsel, dan footer diimplementasikan pada public/index.html, src/css/styles.css dan src/js/app.js. Diagram ponsel merupakan ilustrasi fungsi, bukan tangkapan layar produk.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harga resmi penyedia, diperiksa 6 Oktober 2026: Rumahweb shared hosting https://www.rumahweb.com/hosting-murah/ dan domain https://www.rumahweb.com/domain-murah/. Paket Small terlihat Rp17.900/bulan, domain .com promo Rp137.000 tahun pertama dan renewal Rp201.000/tahun; .id Rp219.000/tahun. Rumahweb mencantumkan bundling domain tahun pertama/SSL/email dengan syarat paket tertentu. Perhitungan contoh: 17.900×12 + 137.000 = 351.800; 17.900×12 + 201.000 = 415.800; 17.900×12 + 219.000 = 433.800. Estimasi, bukan penawaran mengikat; verifikasi harga dan kelayakan bundel saat checkout.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 pada paket adalah draf untuk pembahasan, bukan penawaran harga final atau kontrak yang sudah ditandatangani. Isi detail para pihak, nilai, jadwal, kewajiban, garansi, dan hukum yang berlaku sebelum digunakan sebagai dokumen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89e767be0c49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a43df4d2054c66" /><Relationship Type="http://schemas.openxmlformats.org/officeDocument/2006/relationships/slideLayout" Target="/ppt/slideLayouts/slideLayout1.xml" Id="Rc26c1835a1fc47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6c1835a1fc47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7a264cc5baf4f1a" /><Relationship Type="http://schemas.openxmlformats.org/officeDocument/2006/relationships/image" Target="/ppt/media/image.jpeg" Id="R251ed0a7aece4f87" /><Relationship Type="http://schemas.openxmlformats.org/officeDocument/2006/relationships/image" Target="/ppt/media/image.png" Id="R239523f5fe084378" /><Relationship Type="http://schemas.openxmlformats.org/officeDocument/2006/relationships/notesSlide" Target="/ppt/notesSlides/notesSlide1.xml" Id="R578a0bc0b0654c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400007839a64cfd" /><Relationship Type="http://schemas.openxmlformats.org/officeDocument/2006/relationships/notesSlide" Target="/ppt/notesSlides/notesSlide2.xml" Id="R0cb6549da5ca48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ec9cc77dd0749d1" /><Relationship Type="http://schemas.openxmlformats.org/officeDocument/2006/relationships/image" Target="/ppt/media/image2.jpeg" Id="Rd8eec6bcd52e464c" /><Relationship Type="http://schemas.openxmlformats.org/officeDocument/2006/relationships/notesSlide" Target="/ppt/notesSlides/notesSlide3.xml" Id="R15494958540f46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9c6948abadb46fe" /><Relationship Type="http://schemas.openxmlformats.org/officeDocument/2006/relationships/image" Target="/ppt/media/image3.jpeg" Id="R85aaf57688504576" /><Relationship Type="http://schemas.openxmlformats.org/officeDocument/2006/relationships/notesSlide" Target="/ppt/notesSlides/notesSlide4.xml" Id="Rc5f3f0a98ab94e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87f2403e4b8417d" /><Relationship Type="http://schemas.openxmlformats.org/officeDocument/2006/relationships/image" Target="/ppt/media/image2.png" Id="R522934d70d334c4a" /><Relationship Type="http://schemas.openxmlformats.org/officeDocument/2006/relationships/notesSlide" Target="/ppt/notesSlides/notesSlide5.xml" Id="Re9b4c9949dbc4a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c6bc249b5d4be5" /><Relationship Type="http://schemas.openxmlformats.org/officeDocument/2006/relationships/notesSlide" Target="/ppt/notesSlides/notesSlide6.xml" Id="Rbb327c20dd194a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1061763b6a4469" /><Relationship Type="http://schemas.openxmlformats.org/officeDocument/2006/relationships/notesSlide" Target="/ppt/notesSlides/notesSlide7.xml" Id="Raf3190fbd7b84e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d747026dfd4656" /><Relationship Type="http://schemas.openxmlformats.org/officeDocument/2006/relationships/notesSlide" Target="/ppt/notesSlides/notesSlide8.xml" Id="Ra1aa8e8ed39849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9e174c087db40db" /><Relationship Type="http://schemas.openxmlformats.org/officeDocument/2006/relationships/image" Target="/ppt/media/image3.png" Id="Rfb451e08af474345" /><Relationship Type="http://schemas.openxmlformats.org/officeDocument/2006/relationships/notesSlide" Target="/ppt/notesSlides/notesSlide9.xml" Id="R2fbf007407064eb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7ef5d981f9d49d5" /><Relationship Type="http://schemas.openxmlformats.org/officeDocument/2006/relationships/notesSlide" Target="/ppt/notesSlides/notesSlide10.xml" Id="Rbde8c945a6204e8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c3b0d4dd7346a2" /><Relationship Type="http://schemas.openxmlformats.org/officeDocument/2006/relationships/notesSlide" Target="/ppt/notesSlides/notesSlide11.xml" Id="R430a3d49824f42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470092b103a4dd4" /><Relationship Type="http://schemas.openxmlformats.org/officeDocument/2006/relationships/notesSlide" Target="/ppt/notesSlides/notesSlide12.xml" Id="R07d6d6819de4400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ef3946f6f434121" /><Relationship Type="http://schemas.openxmlformats.org/officeDocument/2006/relationships/notesSlide" Target="/ppt/notesSlides/notesSlide13.xml" Id="R0474d7847b594066" /></Relationships>
</file>

<file path=ppt/slides/slide1.xml><?xml version="1.0" encoding="utf-8"?>
<p:sld xmlns:p="http://schemas.openxmlformats.org/presentationml/2006/main">
  <p:cSld>
    <p:bg>
      <p:bgPr>
        <a:solidFill xmlns:a="http://schemas.openxmlformats.org/drawingml/2006/main">
          <a:srgbClr val="F8F3EA"/>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51ed0a7aece4f87"/>
          <a:srcRect xmlns:a="http://schemas.openxmlformats.org/drawingml/2006/main" l="3472" t="0" r="3472" b="0"/>
          <a:stretch xmlns:a="http://schemas.openxmlformats.org/drawingml/2006/main">
            <a:fillRect l="0" t="0" r="0" b="0"/>
          </a:stretch>
        </p:blipFill>
        <p:spPr>
          <a:xfrm xmlns:a="http://schemas.openxmlformats.org/drawingml/2006/main">
            <a:off x="5810250" y="0"/>
            <a:ext cx="6381750" cy="6858000"/>
          </a:xfrm>
          <a:prstGeom xmlns:a="http://schemas.openxmlformats.org/drawingml/2006/main" prst="roundRect">
            <a:avLst>
              <a:gd name="adj" fmla="val 2687"/>
            </a:avLst>
          </a:prstGeom>
        </p:spPr>
      </p:pic>
      <p:sp>
        <p:nvSpPr>
          <p:cNvPr id="2" name="">
            <a:extLst xmlns:a="http://schemas.openxmlformats.org/drawingml/2006/main">
              <a:ext uri="{FF2B5EF4-FFF2-40B4-BE49-F238E27FC236}">
                <a16:creationId xmlns:a16="http://schemas.microsoft.com/office/drawing/2014/main" id="{6D44E95B-C168-430E-99E1-128D863ADBDD}"/>
              </a:ext>
            </a:extLst>
          </p:cNvPr>
          <p:cNvSpPr>
            <a:spLocks xmlns:a="http://schemas.openxmlformats.org/drawingml/2006/main" noGrp="1"/>
          </p:cNvSpPr>
          <p:nvPr/>
        </p:nvSpPr>
        <p:spPr>
          <a:xfrm xmlns:a="http://schemas.openxmlformats.org/drawingml/2006/main">
            <a:off x="0" y="0"/>
            <a:ext cx="6096000" cy="6858000"/>
          </a:xfrm>
          <a:prstGeom xmlns:a="http://schemas.openxmlformats.org/drawingml/2006/main" prst="rect">
            <a:avLst/>
          </a:prstGeom>
          <a:solidFill xmlns:a="http://schemas.openxmlformats.org/drawingml/2006/main">
            <a:srgbClr val="F8F3EA"/>
          </a:solidFill>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39523f5fe084378"/>
          <a:stretch xmlns:a="http://schemas.openxmlformats.org/drawingml/2006/main"/>
        </p:blipFill>
        <p:spPr>
          <a:xfrm xmlns:a="http://schemas.openxmlformats.org/drawingml/2006/main">
            <a:off x="533400" y="514350"/>
            <a:ext cx="1066800" cy="1066800"/>
          </a:xfrm>
          <a:prstGeom xmlns:a="http://schemas.openxmlformats.org/drawingml/2006/main" prst="roundRect">
            <a:avLst>
              <a:gd name="adj" fmla="val 16071"/>
            </a:avLst>
          </a:prstGeom>
        </p:spPr>
      </p:pic>
      <p:sp>
        <p:nvSpPr>
          <p:cNvPr id="4" name="">
            <a:extLst xmlns:a="http://schemas.openxmlformats.org/drawingml/2006/main">
              <a:ext uri="{FF2B5EF4-FFF2-40B4-BE49-F238E27FC236}">
                <a16:creationId xmlns:a16="http://schemas.microsoft.com/office/drawing/2014/main" id="{C84D54F1-1739-4F5C-B477-960A79100C2A}"/>
              </a:ext>
            </a:extLst>
          </p:cNvPr>
          <p:cNvSpPr>
            <a:spLocks xmlns:a="http://schemas.openxmlformats.org/drawingml/2006/main" noGrp="1"/>
          </p:cNvSpPr>
          <p:nvPr/>
        </p:nvSpPr>
        <p:spPr>
          <a:xfrm xmlns:a="http://schemas.openxmlformats.org/drawingml/2006/main">
            <a:off x="533400" y="18478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754D35"/>
                </a:solidFill>
                <a:latin typeface="Arial"/>
                <a:ea typeface="Arial"/>
                <a:cs typeface="Arial"/>
              </a:defRPr>
            </a:pPr>
            <a:r>
              <a:rPr sz="1350" b="1">
                <a:solidFill>
                  <a:srgbClr val="754D35"/>
                </a:solidFill>
                <a:latin typeface="Arial"/>
                <a:ea typeface="Arial"/>
                <a:cs typeface="Arial"/>
              </a:rPr>
              <a:t>FD CULINARY</a:t>
            </a:r>
          </a:p>
        </p:txBody>
      </p:sp>
      <p:sp>
        <p:nvSpPr>
          <p:cNvPr id="5" name="">
            <a:extLst xmlns:a="http://schemas.openxmlformats.org/drawingml/2006/main">
              <a:ext uri="{FF2B5EF4-FFF2-40B4-BE49-F238E27FC236}">
                <a16:creationId xmlns:a16="http://schemas.microsoft.com/office/drawing/2014/main" id="{1D6E9E2F-2021-4F57-B6A6-279D71BAC5C6}"/>
              </a:ext>
            </a:extLst>
          </p:cNvPr>
          <p:cNvSpPr>
            <a:spLocks xmlns:a="http://schemas.openxmlformats.org/drawingml/2006/main" noGrp="1"/>
          </p:cNvSpPr>
          <p:nvPr/>
        </p:nvSpPr>
        <p:spPr>
          <a:xfrm xmlns:a="http://schemas.openxmlformats.org/drawingml/2006/main">
            <a:off x="533400" y="23241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261D18"/>
                </a:solidFill>
                <a:latin typeface="Arial"/>
                <a:ea typeface="Arial"/>
                <a:cs typeface="Arial"/>
              </a:defRPr>
            </a:pPr>
            <a:r>
              <a:rPr sz="3600" b="1">
                <a:solidFill>
                  <a:srgbClr val="261D18"/>
                </a:solidFill>
                <a:latin typeface="Arial"/>
                <a:ea typeface="Arial"/>
                <a:cs typeface="Arial"/>
              </a:rPr>
              <a:t>Website katalog</a:t>
            </a:r>
          </a:p>
          <a:p xmlns:a="http://schemas.openxmlformats.org/drawingml/2006/main">
            <a:pPr algn="l">
              <a:defRPr sz="3600" b="1">
                <a:solidFill>
                  <a:srgbClr val="261D18"/>
                </a:solidFill>
                <a:latin typeface="Arial"/>
                <a:ea typeface="Arial"/>
                <a:cs typeface="Arial"/>
              </a:defRPr>
            </a:pPr>
            <a:r>
              <a:rPr sz="3600" b="1">
                <a:solidFill>
                  <a:srgbClr val="261D18"/>
                </a:solidFill>
                <a:latin typeface="Arial"/>
                <a:ea typeface="Arial"/>
                <a:cs typeface="Arial"/>
              </a:rPr>
              <a:t>minuman dan kue</a:t>
            </a:r>
          </a:p>
        </p:txBody>
      </p:sp>
      <p:sp>
        <p:nvSpPr>
          <p:cNvPr id="6" name="">
            <a:extLst xmlns:a="http://schemas.openxmlformats.org/drawingml/2006/main">
              <a:ext uri="{FF2B5EF4-FFF2-40B4-BE49-F238E27FC236}">
                <a16:creationId xmlns:a16="http://schemas.microsoft.com/office/drawing/2014/main" id="{387DC4D9-C42E-472C-91C5-5CD9C36DBF4B}"/>
              </a:ext>
            </a:extLst>
          </p:cNvPr>
          <p:cNvSpPr>
            <a:spLocks xmlns:a="http://schemas.openxmlformats.org/drawingml/2006/main" noGrp="1"/>
          </p:cNvSpPr>
          <p:nvPr/>
        </p:nvSpPr>
        <p:spPr>
          <a:xfrm xmlns:a="http://schemas.openxmlformats.org/drawingml/2006/main">
            <a:off x="552450" y="4010025"/>
            <a:ext cx="4686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6E655E"/>
                </a:solidFill>
                <a:latin typeface="Arial"/>
                <a:ea typeface="Arial"/>
                <a:cs typeface="Arial"/>
              </a:defRPr>
            </a:pPr>
            <a:r>
              <a:rPr sz="1650" b="0">
                <a:solidFill>
                  <a:srgbClr val="6E655E"/>
                </a:solidFill>
                <a:latin typeface="Arial"/>
                <a:ea typeface="Arial"/>
                <a:cs typeface="Arial"/>
              </a:rPr>
              <a:t>Presentasi fungsi menu dan alur layanan</a:t>
            </a:r>
          </a:p>
        </p:txBody>
      </p:sp>
      <p:sp>
        <p:nvSpPr>
          <p:cNvPr id="7" name="">
            <a:extLst xmlns:a="http://schemas.openxmlformats.org/drawingml/2006/main">
              <a:ext uri="{FF2B5EF4-FFF2-40B4-BE49-F238E27FC236}">
                <a16:creationId xmlns:a16="http://schemas.microsoft.com/office/drawing/2014/main" id="{00FB1E71-298F-4B75-BBC9-39D8D195B61B}"/>
              </a:ext>
            </a:extLst>
          </p:cNvPr>
          <p:cNvSpPr>
            <a:spLocks xmlns:a="http://schemas.openxmlformats.org/drawingml/2006/main" noGrp="1"/>
          </p:cNvSpPr>
          <p:nvPr/>
        </p:nvSpPr>
        <p:spPr>
          <a:xfrm xmlns:a="http://schemas.openxmlformats.org/drawingml/2006/main">
            <a:off x="552450" y="4629150"/>
            <a:ext cx="762000" cy="38100"/>
          </a:xfrm>
          <a:prstGeom xmlns:a="http://schemas.openxmlformats.org/drawingml/2006/main" prst="rect">
            <a:avLst/>
          </a:prstGeom>
          <a:solidFill xmlns:a="http://schemas.openxmlformats.org/drawingml/2006/main">
            <a:srgbClr val="C39A6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87F44D6-34CB-458E-B855-932B3F9ADF20}"/>
              </a:ext>
            </a:extLst>
          </p:cNvPr>
          <p:cNvSpPr>
            <a:spLocks xmlns:a="http://schemas.openxmlformats.org/drawingml/2006/main" noGrp="1"/>
          </p:cNvSpPr>
          <p:nvPr/>
        </p:nvSpPr>
        <p:spPr>
          <a:xfrm xmlns:a="http://schemas.openxmlformats.org/drawingml/2006/main">
            <a:off x="552450" y="4857750"/>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E655E"/>
                </a:solidFill>
                <a:latin typeface="Arial"/>
                <a:ea typeface="Arial"/>
                <a:cs typeface="Arial"/>
              </a:defRPr>
            </a:pPr>
            <a:r>
              <a:rPr sz="1350" b="0">
                <a:solidFill>
                  <a:srgbClr val="6E655E"/>
                </a:solidFill>
                <a:latin typeface="Arial"/>
                <a:ea typeface="Arial"/>
                <a:cs typeface="Arial"/>
              </a:rPr>
              <a:t>Ringkasan berdasarkan versi website proyek per 6 Oktober 2026</a:t>
            </a:r>
          </a:p>
        </p:txBody>
      </p:sp>
      <p:sp>
        <p:nvSpPr>
          <p:cNvPr id="9" name="">
            <a:extLst xmlns:a="http://schemas.openxmlformats.org/drawingml/2006/main">
              <a:ext uri="{FF2B5EF4-FFF2-40B4-BE49-F238E27FC236}">
                <a16:creationId xmlns:a16="http://schemas.microsoft.com/office/drawing/2014/main" id="{C17614B7-761B-429A-AB97-144A7959D99F}"/>
              </a:ext>
            </a:extLst>
          </p:cNvPr>
          <p:cNvSpPr>
            <a:spLocks xmlns:a="http://schemas.openxmlformats.org/drawingml/2006/main" noGrp="1"/>
          </p:cNvSpPr>
          <p:nvPr/>
        </p:nvSpPr>
        <p:spPr>
          <a:xfrm xmlns:a="http://schemas.openxmlformats.org/drawingml/2006/main">
            <a:off x="552450" y="61912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66744D"/>
                </a:solidFill>
                <a:latin typeface="Arial"/>
                <a:ea typeface="Arial"/>
                <a:cs typeface="Arial"/>
              </a:defRPr>
            </a:pPr>
            <a:r>
              <a:rPr sz="1050" b="1">
                <a:solidFill>
                  <a:srgbClr val="66744D"/>
                </a:solidFill>
                <a:latin typeface="Arial"/>
                <a:ea typeface="Arial"/>
                <a:cs typeface="Arial"/>
              </a:rPr>
              <a:t>BAHAN PEMBAHASAN KLIEN</a:t>
            </a:r>
          </a:p>
        </p:txBody>
      </p:sp>
    </p:spTree>
    <p:extLst>
      <p:ext uri="{BB962C8B-B14F-4D97-AF65-F5344CB8AC3E}">
        <p14:creationId xmlns:p14="http://schemas.microsoft.com/office/powerpoint/2010/main" val="762770610"/>
      </p:ext>
    </p:extLst>
  </p:cSld>
</p:sld>
</file>

<file path=ppt/slides/slide2.xml><?xml version="1.0" encoding="utf-8"?>
<p:sld xmlns:p="http://schemas.openxmlformats.org/presentationml/2006/main">
  <p:cSld>
    <p:bg>
      <p:bgPr>
        <a:solidFill xmlns:a="http://schemas.openxmlformats.org/drawingml/2006/main">
          <a:srgbClr val="F8F3E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89092B7-5876-48DF-9DF5-D612F2ADF0A4}"/>
              </a:ext>
            </a:extLst>
          </p:cNvPr>
          <p:cNvSpPr>
            <a:spLocks xmlns:a="http://schemas.openxmlformats.org/drawingml/2006/main" noGrp="1"/>
          </p:cNvSpPr>
          <p:nvPr/>
        </p:nvSpPr>
        <p:spPr>
          <a:xfrm xmlns:a="http://schemas.openxmlformats.org/drawingml/2006/main">
            <a:off x="533400" y="228600"/>
            <a:ext cx="552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754D35"/>
                </a:solidFill>
                <a:latin typeface="Arial"/>
                <a:ea typeface="Arial"/>
                <a:cs typeface="Arial"/>
              </a:defRPr>
            </a:pPr>
            <a:r>
              <a:rPr sz="1050" b="1">
                <a:solidFill>
                  <a:srgbClr val="754D35"/>
                </a:solidFill>
                <a:latin typeface="Arial"/>
                <a:ea typeface="Arial"/>
                <a:cs typeface="Arial"/>
              </a:rPr>
              <a:t>FD CULINARY  /  PRESENTASI WEBSITE</a:t>
            </a:r>
          </a:p>
        </p:txBody>
      </p:sp>
      <p:sp>
        <p:nvSpPr>
          <p:cNvPr id="2" name="">
            <a:extLst xmlns:a="http://schemas.openxmlformats.org/drawingml/2006/main">
              <a:ext uri="{FF2B5EF4-FFF2-40B4-BE49-F238E27FC236}">
                <a16:creationId xmlns:a16="http://schemas.microsoft.com/office/drawing/2014/main" id="{ED4EAF07-2BAE-48C1-AB38-261B7E6B77EB}"/>
              </a:ext>
            </a:extLst>
          </p:cNvPr>
          <p:cNvSpPr>
            <a:spLocks xmlns:a="http://schemas.openxmlformats.org/drawingml/2006/main" noGrp="1"/>
          </p:cNvSpPr>
          <p:nvPr/>
        </p:nvSpPr>
        <p:spPr>
          <a:xfrm xmlns:a="http://schemas.openxmlformats.org/drawingml/2006/main">
            <a:off x="533400" y="5524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66744D"/>
                </a:solidFill>
                <a:latin typeface="Arial"/>
                <a:ea typeface="Arial"/>
                <a:cs typeface="Arial"/>
              </a:defRPr>
            </a:pPr>
            <a:r>
              <a:rPr sz="1050" b="1">
                <a:solidFill>
                  <a:srgbClr val="66744D"/>
                </a:solidFill>
                <a:latin typeface="Arial"/>
                <a:ea typeface="Arial"/>
                <a:cs typeface="Arial"/>
              </a:rPr>
              <a:t>RINGKASAN LAYANAN</a:t>
            </a:r>
          </a:p>
        </p:txBody>
      </p:sp>
      <p:sp>
        <p:nvSpPr>
          <p:cNvPr id="3" name="">
            <a:extLst xmlns:a="http://schemas.openxmlformats.org/drawingml/2006/main">
              <a:ext uri="{FF2B5EF4-FFF2-40B4-BE49-F238E27FC236}">
                <a16:creationId xmlns:a16="http://schemas.microsoft.com/office/drawing/2014/main" id="{AC19B848-0458-4C47-98E6-7C2F85763EA3}"/>
              </a:ext>
            </a:extLst>
          </p:cNvPr>
          <p:cNvSpPr>
            <a:spLocks xmlns:a="http://schemas.openxmlformats.org/drawingml/2006/main" noGrp="1"/>
          </p:cNvSpPr>
          <p:nvPr/>
        </p:nvSpPr>
        <p:spPr>
          <a:xfrm xmlns:a="http://schemas.openxmlformats.org/drawingml/2006/main">
            <a:off x="533400" y="80010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414"/>
          </a:bodyPr>
          <a:lstStyle xmlns:a="http://schemas.openxmlformats.org/drawingml/2006/main"/>
          <a:p xmlns:a="http://schemas.openxmlformats.org/drawingml/2006/main">
            <a:pPr algn="l">
              <a:defRPr sz="2850" b="1">
                <a:solidFill>
                  <a:srgbClr val="261D18"/>
                </a:solidFill>
                <a:latin typeface="Arial"/>
                <a:ea typeface="Arial"/>
                <a:cs typeface="Arial"/>
              </a:defRPr>
            </a:pPr>
            <a:r>
              <a:rPr sz="2850" b="1">
                <a:solidFill>
                  <a:srgbClr val="261D18"/>
                </a:solidFill>
                <a:latin typeface="Arial"/>
                <a:ea typeface="Arial"/>
                <a:cs typeface="Arial"/>
              </a:rPr>
              <a:t>Website menampilkan katalog, WhatsApp menyelesaikan pesanan</a:t>
            </a:r>
          </a:p>
        </p:txBody>
      </p:sp>
      <p:sp>
        <p:nvSpPr>
          <p:cNvPr id="4" name="">
            <a:extLst xmlns:a="http://schemas.openxmlformats.org/drawingml/2006/main">
              <a:ext uri="{FF2B5EF4-FFF2-40B4-BE49-F238E27FC236}">
                <a16:creationId xmlns:a16="http://schemas.microsoft.com/office/drawing/2014/main" id="{6364B1FF-507E-41CE-A82F-FEFAF8CB6CC3}"/>
              </a:ext>
            </a:extLst>
          </p:cNvPr>
          <p:cNvSpPr>
            <a:spLocks xmlns:a="http://schemas.openxmlformats.org/drawingml/2006/main" noGrp="1"/>
          </p:cNvSpPr>
          <p:nvPr/>
        </p:nvSpPr>
        <p:spPr>
          <a:xfrm xmlns:a="http://schemas.openxmlformats.org/drawingml/2006/main">
            <a:off x="552450" y="1323975"/>
            <a:ext cx="1100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E655E"/>
                </a:solidFill>
                <a:latin typeface="Arial"/>
                <a:ea typeface="Arial"/>
                <a:cs typeface="Arial"/>
              </a:defRPr>
            </a:pPr>
            <a:r>
              <a:rPr sz="1350" b="0">
                <a:solidFill>
                  <a:srgbClr val="6E655E"/>
                </a:solidFill>
                <a:latin typeface="Arial"/>
                <a:ea typeface="Arial"/>
                <a:cs typeface="Arial"/>
              </a:rPr>
              <a:t>Pelanggan mengirim daftar katalog yang sedang dilihat. Owner mengonfirmasi detail order melalui chat.</a:t>
            </a:r>
          </a:p>
        </p:txBody>
      </p:sp>
      <p:sp>
        <p:nvSpPr>
          <p:cNvPr id="5" name="">
            <a:extLst xmlns:a="http://schemas.openxmlformats.org/drawingml/2006/main">
              <a:ext uri="{FF2B5EF4-FFF2-40B4-BE49-F238E27FC236}">
                <a16:creationId xmlns:a16="http://schemas.microsoft.com/office/drawing/2014/main" id="{82215C40-FB7C-4A7E-8440-AA9E671BBEFC}"/>
              </a:ext>
            </a:extLst>
          </p:cNvPr>
          <p:cNvSpPr>
            <a:spLocks xmlns:a="http://schemas.openxmlformats.org/drawingml/2006/main" noGrp="1"/>
          </p:cNvSpPr>
          <p:nvPr/>
        </p:nvSpPr>
        <p:spPr>
          <a:xfrm xmlns:a="http://schemas.openxmlformats.org/drawingml/2006/main">
            <a:off x="533400" y="1685925"/>
            <a:ext cx="11125200" cy="19050"/>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64D8120-FB33-4E6C-BA9A-ECE540A8D933}"/>
              </a:ext>
            </a:extLst>
          </p:cNvPr>
          <p:cNvSpPr>
            <a:spLocks xmlns:a="http://schemas.openxmlformats.org/drawingml/2006/main" noGrp="1"/>
          </p:cNvSpPr>
          <p:nvPr/>
        </p:nvSpPr>
        <p:spPr>
          <a:xfrm xmlns:a="http://schemas.openxmlformats.org/drawingml/2006/main">
            <a:off x="619125" y="2305050"/>
            <a:ext cx="2571750" cy="2743200"/>
          </a:xfrm>
          <a:prstGeom xmlns:a="http://schemas.openxmlformats.org/drawingml/2006/main" prst="roundRect">
            <a:avLst>
              <a:gd name="adj" fmla="val 6667"/>
            </a:avLst>
          </a:prstGeom>
          <a:solidFill xmlns:a="http://schemas.openxmlformats.org/drawingml/2006/main">
            <a:srgbClr val="EEE4D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BA598EF-41F1-4198-AD3C-A414FD0F288D}"/>
              </a:ext>
            </a:extLst>
          </p:cNvPr>
          <p:cNvSpPr>
            <a:spLocks xmlns:a="http://schemas.openxmlformats.org/drawingml/2006/main" noGrp="1"/>
          </p:cNvSpPr>
          <p:nvPr/>
        </p:nvSpPr>
        <p:spPr>
          <a:xfrm xmlns:a="http://schemas.openxmlformats.org/drawingml/2006/main">
            <a:off x="828675" y="24955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950" b="1">
                <a:solidFill>
                  <a:srgbClr val="66744D"/>
                </a:solidFill>
                <a:latin typeface="Arial"/>
                <a:ea typeface="Arial"/>
                <a:cs typeface="Arial"/>
              </a:defRPr>
            </a:pPr>
            <a:r>
              <a:rPr sz="1950" b="1">
                <a:solidFill>
                  <a:srgbClr val="66744D"/>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1C40559F-9D35-4929-A18D-BAC941C0F421}"/>
              </a:ext>
            </a:extLst>
          </p:cNvPr>
          <p:cNvSpPr>
            <a:spLocks xmlns:a="http://schemas.openxmlformats.org/drawingml/2006/main" noGrp="1"/>
          </p:cNvSpPr>
          <p:nvPr/>
        </p:nvSpPr>
        <p:spPr>
          <a:xfrm xmlns:a="http://schemas.openxmlformats.org/drawingml/2006/main">
            <a:off x="828675" y="304800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261D18"/>
                </a:solidFill>
                <a:latin typeface="Arial"/>
                <a:ea typeface="Arial"/>
                <a:cs typeface="Arial"/>
              </a:defRPr>
            </a:pPr>
            <a:r>
              <a:rPr sz="1800" b="1">
                <a:solidFill>
                  <a:srgbClr val="261D18"/>
                </a:solidFill>
                <a:latin typeface="Arial"/>
                <a:ea typeface="Arial"/>
                <a:cs typeface="Arial"/>
              </a:rPr>
              <a:t>Lihat katalog</a:t>
            </a:r>
          </a:p>
        </p:txBody>
      </p:sp>
      <p:sp>
        <p:nvSpPr>
          <p:cNvPr id="9" name="">
            <a:extLst xmlns:a="http://schemas.openxmlformats.org/drawingml/2006/main">
              <a:ext uri="{FF2B5EF4-FFF2-40B4-BE49-F238E27FC236}">
                <a16:creationId xmlns:a16="http://schemas.microsoft.com/office/drawing/2014/main" id="{C76FC05B-104C-4CAD-85D3-FA305CE5D1F4}"/>
              </a:ext>
            </a:extLst>
          </p:cNvPr>
          <p:cNvSpPr>
            <a:spLocks xmlns:a="http://schemas.openxmlformats.org/drawingml/2006/main" noGrp="1"/>
          </p:cNvSpPr>
          <p:nvPr/>
        </p:nvSpPr>
        <p:spPr>
          <a:xfrm xmlns:a="http://schemas.openxmlformats.org/drawingml/2006/main">
            <a:off x="828675" y="3581400"/>
            <a:ext cx="2143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E655E"/>
                </a:solidFill>
                <a:latin typeface="Arial"/>
                <a:ea typeface="Arial"/>
                <a:cs typeface="Arial"/>
              </a:defRPr>
            </a:pPr>
            <a:r>
              <a:rPr sz="1425" b="0">
                <a:solidFill>
                  <a:srgbClr val="6E655E"/>
                </a:solidFill>
                <a:latin typeface="Arial"/>
                <a:ea typeface="Arial"/>
                <a:cs typeface="Arial"/>
              </a:rPr>
              <a:t>Pilih kategori minuman atau kue.</a:t>
            </a:r>
          </a:p>
        </p:txBody>
      </p:sp>
      <p:sp>
        <p:nvSpPr>
          <p:cNvPr id="10" name="">
            <a:extLst xmlns:a="http://schemas.openxmlformats.org/drawingml/2006/main">
              <a:ext uri="{FF2B5EF4-FFF2-40B4-BE49-F238E27FC236}">
                <a16:creationId xmlns:a16="http://schemas.microsoft.com/office/drawing/2014/main" id="{B518E2F3-6C81-4EA1-8A64-6396AB9FE01A}"/>
              </a:ext>
            </a:extLst>
          </p:cNvPr>
          <p:cNvSpPr>
            <a:spLocks xmlns:a="http://schemas.openxmlformats.org/drawingml/2006/main" noGrp="1"/>
          </p:cNvSpPr>
          <p:nvPr/>
        </p:nvSpPr>
        <p:spPr>
          <a:xfrm xmlns:a="http://schemas.openxmlformats.org/drawingml/2006/main">
            <a:off x="3209925" y="33528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6020"/>
          </a:bodyPr>
          <a:lstStyle xmlns:a="http://schemas.openxmlformats.org/drawingml/2006/main"/>
          <a:p xmlns:a="http://schemas.openxmlformats.org/drawingml/2006/main">
            <a:pPr algn="ctr">
              <a:defRPr sz="2100" b="1">
                <a:solidFill>
                  <a:srgbClr val="C39A6A"/>
                </a:solidFill>
                <a:latin typeface="Arial"/>
                <a:ea typeface="Arial"/>
                <a:cs typeface="Arial"/>
              </a:defRPr>
            </a:pPr>
            <a:r>
              <a:rPr sz="2100" b="1">
                <a:solidFill>
                  <a:srgbClr val="C39A6A"/>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F7349833-8624-452B-BFC4-C58B22B7B13A}"/>
              </a:ext>
            </a:extLst>
          </p:cNvPr>
          <p:cNvSpPr>
            <a:spLocks xmlns:a="http://schemas.openxmlformats.org/drawingml/2006/main" noGrp="1"/>
          </p:cNvSpPr>
          <p:nvPr/>
        </p:nvSpPr>
        <p:spPr>
          <a:xfrm xmlns:a="http://schemas.openxmlformats.org/drawingml/2006/main">
            <a:off x="3429000" y="2305050"/>
            <a:ext cx="2571750" cy="2743200"/>
          </a:xfrm>
          <a:prstGeom xmlns:a="http://schemas.openxmlformats.org/drawingml/2006/main" prst="roundRect">
            <a:avLst>
              <a:gd name="adj" fmla="val 6667"/>
            </a:avLst>
          </a:prstGeom>
          <a:solidFill xmlns:a="http://schemas.openxmlformats.org/drawingml/2006/main">
            <a:srgbClr val="FFFDF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EE55057-D53C-4D4A-BE70-F42F7FEED4C5}"/>
              </a:ext>
            </a:extLst>
          </p:cNvPr>
          <p:cNvSpPr>
            <a:spLocks xmlns:a="http://schemas.openxmlformats.org/drawingml/2006/main" noGrp="1"/>
          </p:cNvSpPr>
          <p:nvPr/>
        </p:nvSpPr>
        <p:spPr>
          <a:xfrm xmlns:a="http://schemas.openxmlformats.org/drawingml/2006/main">
            <a:off x="3638550" y="24955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950" b="1">
                <a:solidFill>
                  <a:srgbClr val="66744D"/>
                </a:solidFill>
                <a:latin typeface="Arial"/>
                <a:ea typeface="Arial"/>
                <a:cs typeface="Arial"/>
              </a:defRPr>
            </a:pPr>
            <a:r>
              <a:rPr sz="1950" b="1">
                <a:solidFill>
                  <a:srgbClr val="66744D"/>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C7F117FC-6960-4773-AB54-39F5D0F2F6F5}"/>
              </a:ext>
            </a:extLst>
          </p:cNvPr>
          <p:cNvSpPr>
            <a:spLocks xmlns:a="http://schemas.openxmlformats.org/drawingml/2006/main" noGrp="1"/>
          </p:cNvSpPr>
          <p:nvPr/>
        </p:nvSpPr>
        <p:spPr>
          <a:xfrm xmlns:a="http://schemas.openxmlformats.org/drawingml/2006/main">
            <a:off x="3638550" y="304800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261D18"/>
                </a:solidFill>
                <a:latin typeface="Arial"/>
                <a:ea typeface="Arial"/>
                <a:cs typeface="Arial"/>
              </a:defRPr>
            </a:pPr>
            <a:r>
              <a:rPr sz="1800" b="1">
                <a:solidFill>
                  <a:srgbClr val="261D18"/>
                </a:solidFill>
                <a:latin typeface="Arial"/>
                <a:ea typeface="Arial"/>
                <a:cs typeface="Arial"/>
              </a:rPr>
              <a:t>Atur pilihan</a:t>
            </a:r>
          </a:p>
        </p:txBody>
      </p:sp>
      <p:sp>
        <p:nvSpPr>
          <p:cNvPr id="14" name="">
            <a:extLst xmlns:a="http://schemas.openxmlformats.org/drawingml/2006/main">
              <a:ext uri="{FF2B5EF4-FFF2-40B4-BE49-F238E27FC236}">
                <a16:creationId xmlns:a16="http://schemas.microsoft.com/office/drawing/2014/main" id="{937DCF49-0641-447A-A2EA-6B793761D3B1}"/>
              </a:ext>
            </a:extLst>
          </p:cNvPr>
          <p:cNvSpPr>
            <a:spLocks xmlns:a="http://schemas.openxmlformats.org/drawingml/2006/main" noGrp="1"/>
          </p:cNvSpPr>
          <p:nvPr/>
        </p:nvSpPr>
        <p:spPr>
          <a:xfrm xmlns:a="http://schemas.openxmlformats.org/drawingml/2006/main">
            <a:off x="3638550" y="3581400"/>
            <a:ext cx="2143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E655E"/>
                </a:solidFill>
                <a:latin typeface="Arial"/>
                <a:ea typeface="Arial"/>
                <a:cs typeface="Arial"/>
              </a:defRPr>
            </a:pPr>
            <a:r>
              <a:rPr sz="1425" b="0">
                <a:solidFill>
                  <a:srgbClr val="6E655E"/>
                </a:solidFill>
                <a:latin typeface="Arial"/>
                <a:ea typeface="Arial"/>
                <a:cs typeface="Arial"/>
              </a:rPr>
              <a:t>Cari produk; pilih ukuran untuk minuman.</a:t>
            </a:r>
          </a:p>
        </p:txBody>
      </p:sp>
      <p:sp>
        <p:nvSpPr>
          <p:cNvPr id="15" name="">
            <a:extLst xmlns:a="http://schemas.openxmlformats.org/drawingml/2006/main">
              <a:ext uri="{FF2B5EF4-FFF2-40B4-BE49-F238E27FC236}">
                <a16:creationId xmlns:a16="http://schemas.microsoft.com/office/drawing/2014/main" id="{DC875D31-DE4B-4D69-A4B0-42891D5FEE1D}"/>
              </a:ext>
            </a:extLst>
          </p:cNvPr>
          <p:cNvSpPr>
            <a:spLocks xmlns:a="http://schemas.openxmlformats.org/drawingml/2006/main" noGrp="1"/>
          </p:cNvSpPr>
          <p:nvPr/>
        </p:nvSpPr>
        <p:spPr>
          <a:xfrm xmlns:a="http://schemas.openxmlformats.org/drawingml/2006/main">
            <a:off x="6019800" y="33528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6020"/>
          </a:bodyPr>
          <a:lstStyle xmlns:a="http://schemas.openxmlformats.org/drawingml/2006/main"/>
          <a:p xmlns:a="http://schemas.openxmlformats.org/drawingml/2006/main">
            <a:pPr algn="ctr">
              <a:defRPr sz="2100" b="1">
                <a:solidFill>
                  <a:srgbClr val="C39A6A"/>
                </a:solidFill>
                <a:latin typeface="Arial"/>
                <a:ea typeface="Arial"/>
                <a:cs typeface="Arial"/>
              </a:defRPr>
            </a:pPr>
            <a:r>
              <a:rPr sz="2100" b="1">
                <a:solidFill>
                  <a:srgbClr val="C39A6A"/>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0DDF3184-139B-4909-AA15-3D3EFB7C2E80}"/>
              </a:ext>
            </a:extLst>
          </p:cNvPr>
          <p:cNvSpPr>
            <a:spLocks xmlns:a="http://schemas.openxmlformats.org/drawingml/2006/main" noGrp="1"/>
          </p:cNvSpPr>
          <p:nvPr/>
        </p:nvSpPr>
        <p:spPr>
          <a:xfrm xmlns:a="http://schemas.openxmlformats.org/drawingml/2006/main">
            <a:off x="6238875" y="2305050"/>
            <a:ext cx="2571750" cy="2743200"/>
          </a:xfrm>
          <a:prstGeom xmlns:a="http://schemas.openxmlformats.org/drawingml/2006/main" prst="roundRect">
            <a:avLst>
              <a:gd name="adj" fmla="val 6667"/>
            </a:avLst>
          </a:prstGeom>
          <a:solidFill xmlns:a="http://schemas.openxmlformats.org/drawingml/2006/main">
            <a:srgbClr val="EEE4D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9B3ACB5-6D1B-4599-9F48-6FF19EC9ED06}"/>
              </a:ext>
            </a:extLst>
          </p:cNvPr>
          <p:cNvSpPr>
            <a:spLocks xmlns:a="http://schemas.openxmlformats.org/drawingml/2006/main" noGrp="1"/>
          </p:cNvSpPr>
          <p:nvPr/>
        </p:nvSpPr>
        <p:spPr>
          <a:xfrm xmlns:a="http://schemas.openxmlformats.org/drawingml/2006/main">
            <a:off x="6448425" y="24955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950" b="1">
                <a:solidFill>
                  <a:srgbClr val="66744D"/>
                </a:solidFill>
                <a:latin typeface="Arial"/>
                <a:ea typeface="Arial"/>
                <a:cs typeface="Arial"/>
              </a:defRPr>
            </a:pPr>
            <a:r>
              <a:rPr sz="1950" b="1">
                <a:solidFill>
                  <a:srgbClr val="66744D"/>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450F449D-3814-4ED9-90EC-F112BF705F68}"/>
              </a:ext>
            </a:extLst>
          </p:cNvPr>
          <p:cNvSpPr>
            <a:spLocks xmlns:a="http://schemas.openxmlformats.org/drawingml/2006/main" noGrp="1"/>
          </p:cNvSpPr>
          <p:nvPr/>
        </p:nvSpPr>
        <p:spPr>
          <a:xfrm xmlns:a="http://schemas.openxmlformats.org/drawingml/2006/main">
            <a:off x="6448425" y="304800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261D18"/>
                </a:solidFill>
                <a:latin typeface="Arial"/>
                <a:ea typeface="Arial"/>
                <a:cs typeface="Arial"/>
              </a:defRPr>
            </a:pPr>
            <a:r>
              <a:rPr sz="1800" b="1">
                <a:solidFill>
                  <a:srgbClr val="261D18"/>
                </a:solidFill>
                <a:latin typeface="Arial"/>
                <a:ea typeface="Arial"/>
                <a:cs typeface="Arial"/>
              </a:rPr>
              <a:t>Buka WhatsApp</a:t>
            </a:r>
          </a:p>
        </p:txBody>
      </p:sp>
      <p:sp>
        <p:nvSpPr>
          <p:cNvPr id="19" name="">
            <a:extLst xmlns:a="http://schemas.openxmlformats.org/drawingml/2006/main">
              <a:ext uri="{FF2B5EF4-FFF2-40B4-BE49-F238E27FC236}">
                <a16:creationId xmlns:a16="http://schemas.microsoft.com/office/drawing/2014/main" id="{7F0207C7-45ED-4B3B-A80A-FB20C62F5566}"/>
              </a:ext>
            </a:extLst>
          </p:cNvPr>
          <p:cNvSpPr>
            <a:spLocks xmlns:a="http://schemas.openxmlformats.org/drawingml/2006/main" noGrp="1"/>
          </p:cNvSpPr>
          <p:nvPr/>
        </p:nvSpPr>
        <p:spPr>
          <a:xfrm xmlns:a="http://schemas.openxmlformats.org/drawingml/2006/main">
            <a:off x="6448425" y="3581400"/>
            <a:ext cx="2143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E655E"/>
                </a:solidFill>
                <a:latin typeface="Arial"/>
                <a:ea typeface="Arial"/>
                <a:cs typeface="Arial"/>
              </a:defRPr>
            </a:pPr>
            <a:r>
              <a:rPr sz="1425" b="0">
                <a:solidFill>
                  <a:srgbClr val="6E655E"/>
                </a:solidFill>
                <a:latin typeface="Arial"/>
                <a:ea typeface="Arial"/>
                <a:cs typeface="Arial"/>
              </a:rPr>
              <a:t>Daftar dan harga tampil dalam pesan.</a:t>
            </a:r>
          </a:p>
        </p:txBody>
      </p:sp>
      <p:sp>
        <p:nvSpPr>
          <p:cNvPr id="20" name="">
            <a:extLst xmlns:a="http://schemas.openxmlformats.org/drawingml/2006/main">
              <a:ext uri="{FF2B5EF4-FFF2-40B4-BE49-F238E27FC236}">
                <a16:creationId xmlns:a16="http://schemas.microsoft.com/office/drawing/2014/main" id="{DA5A22D0-A0E7-467D-8992-7FC9FE991379}"/>
              </a:ext>
            </a:extLst>
          </p:cNvPr>
          <p:cNvSpPr>
            <a:spLocks xmlns:a="http://schemas.openxmlformats.org/drawingml/2006/main" noGrp="1"/>
          </p:cNvSpPr>
          <p:nvPr/>
        </p:nvSpPr>
        <p:spPr>
          <a:xfrm xmlns:a="http://schemas.openxmlformats.org/drawingml/2006/main">
            <a:off x="8829675" y="3352800"/>
            <a:ext cx="22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6020"/>
          </a:bodyPr>
          <a:lstStyle xmlns:a="http://schemas.openxmlformats.org/drawingml/2006/main"/>
          <a:p xmlns:a="http://schemas.openxmlformats.org/drawingml/2006/main">
            <a:pPr algn="ctr">
              <a:defRPr sz="2100" b="1">
                <a:solidFill>
                  <a:srgbClr val="C39A6A"/>
                </a:solidFill>
                <a:latin typeface="Arial"/>
                <a:ea typeface="Arial"/>
                <a:cs typeface="Arial"/>
              </a:defRPr>
            </a:pPr>
            <a:r>
              <a:rPr sz="2100" b="1">
                <a:solidFill>
                  <a:srgbClr val="C39A6A"/>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C8F79439-F898-49F9-BEB6-5F969AAF8D7D}"/>
              </a:ext>
            </a:extLst>
          </p:cNvPr>
          <p:cNvSpPr>
            <a:spLocks xmlns:a="http://schemas.openxmlformats.org/drawingml/2006/main" noGrp="1"/>
          </p:cNvSpPr>
          <p:nvPr/>
        </p:nvSpPr>
        <p:spPr>
          <a:xfrm xmlns:a="http://schemas.openxmlformats.org/drawingml/2006/main">
            <a:off x="9048750" y="2305050"/>
            <a:ext cx="2571750" cy="2743200"/>
          </a:xfrm>
          <a:prstGeom xmlns:a="http://schemas.openxmlformats.org/drawingml/2006/main" prst="roundRect">
            <a:avLst>
              <a:gd name="adj" fmla="val 6667"/>
            </a:avLst>
          </a:prstGeom>
          <a:solidFill xmlns:a="http://schemas.openxmlformats.org/drawingml/2006/main">
            <a:srgbClr val="FFFDF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6A7ECE9-327C-4080-A6C0-04971C71D15F}"/>
              </a:ext>
            </a:extLst>
          </p:cNvPr>
          <p:cNvSpPr>
            <a:spLocks xmlns:a="http://schemas.openxmlformats.org/drawingml/2006/main" noGrp="1"/>
          </p:cNvSpPr>
          <p:nvPr/>
        </p:nvSpPr>
        <p:spPr>
          <a:xfrm xmlns:a="http://schemas.openxmlformats.org/drawingml/2006/main">
            <a:off x="9258300" y="24955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950" b="1">
                <a:solidFill>
                  <a:srgbClr val="66744D"/>
                </a:solidFill>
                <a:latin typeface="Arial"/>
                <a:ea typeface="Arial"/>
                <a:cs typeface="Arial"/>
              </a:defRPr>
            </a:pPr>
            <a:r>
              <a:rPr sz="1950" b="1">
                <a:solidFill>
                  <a:srgbClr val="66744D"/>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FE58F4B5-0A3A-45BB-923F-8991A29C89F2}"/>
              </a:ext>
            </a:extLst>
          </p:cNvPr>
          <p:cNvSpPr>
            <a:spLocks xmlns:a="http://schemas.openxmlformats.org/drawingml/2006/main" noGrp="1"/>
          </p:cNvSpPr>
          <p:nvPr/>
        </p:nvSpPr>
        <p:spPr>
          <a:xfrm xmlns:a="http://schemas.openxmlformats.org/drawingml/2006/main">
            <a:off x="9258300" y="304800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261D18"/>
                </a:solidFill>
                <a:latin typeface="Arial"/>
                <a:ea typeface="Arial"/>
                <a:cs typeface="Arial"/>
              </a:defRPr>
            </a:pPr>
            <a:r>
              <a:rPr sz="1800" b="1">
                <a:solidFill>
                  <a:srgbClr val="261D18"/>
                </a:solidFill>
                <a:latin typeface="Arial"/>
                <a:ea typeface="Arial"/>
                <a:cs typeface="Arial"/>
              </a:rPr>
              <a:t>Konfirmasi owner</a:t>
            </a:r>
          </a:p>
        </p:txBody>
      </p:sp>
      <p:sp>
        <p:nvSpPr>
          <p:cNvPr id="24" name="">
            <a:extLst xmlns:a="http://schemas.openxmlformats.org/drawingml/2006/main">
              <a:ext uri="{FF2B5EF4-FFF2-40B4-BE49-F238E27FC236}">
                <a16:creationId xmlns:a16="http://schemas.microsoft.com/office/drawing/2014/main" id="{D9AD31B4-8E9C-458E-ABF4-6BDAF9698AA6}"/>
              </a:ext>
            </a:extLst>
          </p:cNvPr>
          <p:cNvSpPr>
            <a:spLocks xmlns:a="http://schemas.openxmlformats.org/drawingml/2006/main" noGrp="1"/>
          </p:cNvSpPr>
          <p:nvPr/>
        </p:nvSpPr>
        <p:spPr>
          <a:xfrm xmlns:a="http://schemas.openxmlformats.org/drawingml/2006/main">
            <a:off x="9258300" y="3581400"/>
            <a:ext cx="2143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E655E"/>
                </a:solidFill>
                <a:latin typeface="Arial"/>
                <a:ea typeface="Arial"/>
                <a:cs typeface="Arial"/>
              </a:defRPr>
            </a:pPr>
            <a:r>
              <a:rPr sz="1425" b="0">
                <a:solidFill>
                  <a:srgbClr val="6E655E"/>
                </a:solidFill>
                <a:latin typeface="Arial"/>
                <a:ea typeface="Arial"/>
                <a:cs typeface="Arial"/>
              </a:rPr>
              <a:t>Jumlah, stok, pembayaran, dan pengiriman dibahas di chat.</a:t>
            </a:r>
          </a:p>
        </p:txBody>
      </p:sp>
      <p:sp>
        <p:nvSpPr>
          <p:cNvPr id="25" name="">
            <a:extLst xmlns:a="http://schemas.openxmlformats.org/drawingml/2006/main">
              <a:ext uri="{FF2B5EF4-FFF2-40B4-BE49-F238E27FC236}">
                <a16:creationId xmlns:a16="http://schemas.microsoft.com/office/drawing/2014/main" id="{B72C8317-09B5-456C-AFC2-716C665BA8CD}"/>
              </a:ext>
            </a:extLst>
          </p:cNvPr>
          <p:cNvSpPr>
            <a:spLocks xmlns:a="http://schemas.openxmlformats.org/drawingml/2006/main" noGrp="1"/>
          </p:cNvSpPr>
          <p:nvPr/>
        </p:nvSpPr>
        <p:spPr>
          <a:xfrm xmlns:a="http://schemas.openxmlformats.org/drawingml/2006/main">
            <a:off x="628650" y="54387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754D35"/>
                </a:solidFill>
                <a:latin typeface="Arial"/>
                <a:ea typeface="Arial"/>
                <a:cs typeface="Arial"/>
              </a:defRPr>
            </a:pPr>
            <a:r>
              <a:rPr sz="1500" b="1">
                <a:solidFill>
                  <a:srgbClr val="754D35"/>
                </a:solidFill>
                <a:latin typeface="Arial"/>
                <a:ea typeface="Arial"/>
                <a:cs typeface="Arial"/>
              </a:rPr>
              <a:t>Website tidak memiliki keranjang, pembayaran online, atau status pesanan.</a:t>
            </a:r>
          </a:p>
        </p:txBody>
      </p:sp>
      <p:sp>
        <p:nvSpPr>
          <p:cNvPr id="26" name="">
            <a:extLst xmlns:a="http://schemas.openxmlformats.org/drawingml/2006/main">
              <a:ext uri="{FF2B5EF4-FFF2-40B4-BE49-F238E27FC236}">
                <a16:creationId xmlns:a16="http://schemas.microsoft.com/office/drawing/2014/main" id="{F9D44EAF-3291-495F-BB5F-24021AC008FE}"/>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F1E0247-4A91-493E-B90F-C58AA4A03E55}"/>
              </a:ext>
            </a:extLst>
          </p:cNvPr>
          <p:cNvSpPr>
            <a:spLocks xmlns:a="http://schemas.openxmlformats.org/drawingml/2006/main" noGrp="1"/>
          </p:cNvSpPr>
          <p:nvPr/>
        </p:nvSpPr>
        <p:spPr>
          <a:xfrm xmlns:a="http://schemas.openxmlformats.org/drawingml/2006/main">
            <a:off x="53340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6E655E"/>
                </a:solidFill>
                <a:latin typeface="Arial"/>
                <a:ea typeface="Arial"/>
                <a:cs typeface="Arial"/>
              </a:defRPr>
            </a:pPr>
            <a:r>
              <a:rPr sz="900" b="0">
                <a:solidFill>
                  <a:srgbClr val="6E655E"/>
                </a:solidFill>
                <a:latin typeface="Arial"/>
                <a:ea typeface="Arial"/>
                <a:cs typeface="Arial"/>
              </a:rPr>
              <a:t>FD Culinary  •  Gambaran versi website saat ini</a:t>
            </a:r>
          </a:p>
        </p:txBody>
      </p:sp>
      <p:sp>
        <p:nvSpPr>
          <p:cNvPr id="28" name="">
            <a:extLst xmlns:a="http://schemas.openxmlformats.org/drawingml/2006/main">
              <a:ext uri="{FF2B5EF4-FFF2-40B4-BE49-F238E27FC236}">
                <a16:creationId xmlns:a16="http://schemas.microsoft.com/office/drawing/2014/main" id="{0DDB41B3-2D36-4CEB-A3A4-7519E34FA346}"/>
              </a:ext>
            </a:extLst>
          </p:cNvPr>
          <p:cNvSpPr>
            <a:spLocks xmlns:a="http://schemas.openxmlformats.org/drawingml/2006/main" noGrp="1"/>
          </p:cNvSpPr>
          <p:nvPr/>
        </p:nvSpPr>
        <p:spPr>
          <a:xfrm xmlns:a="http://schemas.openxmlformats.org/drawingml/2006/main">
            <a:off x="11144250" y="64865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754D35"/>
                </a:solidFill>
                <a:latin typeface="Arial"/>
                <a:ea typeface="Arial"/>
                <a:cs typeface="Arial"/>
              </a:defRPr>
            </a:pPr>
            <a:r>
              <a:rPr sz="900" b="1">
                <a:solidFill>
                  <a:srgbClr val="754D35"/>
                </a:solidFill>
                <a:latin typeface="Arial"/>
                <a:ea typeface="Arial"/>
                <a:cs typeface="Arial"/>
              </a:rPr>
              <a:t>02</a:t>
            </a:r>
          </a:p>
        </p:txBody>
      </p:sp>
    </p:spTree>
    <p:extLst>
      <p:ext uri="{BB962C8B-B14F-4D97-AF65-F5344CB8AC3E}">
        <p14:creationId xmlns:p14="http://schemas.microsoft.com/office/powerpoint/2010/main" val="447675535"/>
      </p:ext>
    </p:extLst>
  </p:cSld>
</p:sld>
</file>

<file path=ppt/slides/slide3.xml><?xml version="1.0" encoding="utf-8"?>
<p:sld xmlns:p="http://schemas.openxmlformats.org/presentationml/2006/main">
  <p:cSld>
    <p:bg>
      <p:bgPr>
        <a:solidFill xmlns:a="http://schemas.openxmlformats.org/drawingml/2006/main">
          <a:srgbClr val="F8F3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64173FF-DED4-4CE1-90D6-80A709CEC7A8}"/>
              </a:ext>
            </a:extLst>
          </p:cNvPr>
          <p:cNvSpPr>
            <a:spLocks xmlns:a="http://schemas.openxmlformats.org/drawingml/2006/main" noGrp="1"/>
          </p:cNvSpPr>
          <p:nvPr/>
        </p:nvSpPr>
        <p:spPr>
          <a:xfrm xmlns:a="http://schemas.openxmlformats.org/drawingml/2006/main">
            <a:off x="533400" y="228600"/>
            <a:ext cx="552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754D35"/>
                </a:solidFill>
                <a:latin typeface="Arial"/>
                <a:ea typeface="Arial"/>
                <a:cs typeface="Arial"/>
              </a:defRPr>
            </a:pPr>
            <a:r>
              <a:rPr sz="1050" b="1">
                <a:solidFill>
                  <a:srgbClr val="754D35"/>
                </a:solidFill>
                <a:latin typeface="Arial"/>
                <a:ea typeface="Arial"/>
                <a:cs typeface="Arial"/>
              </a:rPr>
              <a:t>FD CULINARY  /  PRESENTASI WEBSITE</a:t>
            </a:r>
          </a:p>
        </p:txBody>
      </p:sp>
      <p:sp>
        <p:nvSpPr>
          <p:cNvPr id="2" name="">
            <a:extLst xmlns:a="http://schemas.openxmlformats.org/drawingml/2006/main">
              <a:ext uri="{FF2B5EF4-FFF2-40B4-BE49-F238E27FC236}">
                <a16:creationId xmlns:a16="http://schemas.microsoft.com/office/drawing/2014/main" id="{5B2EC878-4EF6-4447-BE76-EF0372282F91}"/>
              </a:ext>
            </a:extLst>
          </p:cNvPr>
          <p:cNvSpPr>
            <a:spLocks xmlns:a="http://schemas.openxmlformats.org/drawingml/2006/main" noGrp="1"/>
          </p:cNvSpPr>
          <p:nvPr/>
        </p:nvSpPr>
        <p:spPr>
          <a:xfrm xmlns:a="http://schemas.openxmlformats.org/drawingml/2006/main">
            <a:off x="533400" y="5524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66744D"/>
                </a:solidFill>
                <a:latin typeface="Arial"/>
                <a:ea typeface="Arial"/>
                <a:cs typeface="Arial"/>
              </a:defRPr>
            </a:pPr>
            <a:r>
              <a:rPr sz="1050" b="1">
                <a:solidFill>
                  <a:srgbClr val="66744D"/>
                </a:solidFill>
                <a:latin typeface="Arial"/>
                <a:ea typeface="Arial"/>
                <a:cs typeface="Arial"/>
              </a:rPr>
              <a:t>BERANDA</a:t>
            </a:r>
          </a:p>
        </p:txBody>
      </p:sp>
      <p:sp>
        <p:nvSpPr>
          <p:cNvPr id="3" name="">
            <a:extLst xmlns:a="http://schemas.openxmlformats.org/drawingml/2006/main">
              <a:ext uri="{FF2B5EF4-FFF2-40B4-BE49-F238E27FC236}">
                <a16:creationId xmlns:a16="http://schemas.microsoft.com/office/drawing/2014/main" id="{B10B50EC-D20D-41CF-AC89-6644C076710B}"/>
              </a:ext>
            </a:extLst>
          </p:cNvPr>
          <p:cNvSpPr>
            <a:spLocks xmlns:a="http://schemas.openxmlformats.org/drawingml/2006/main" noGrp="1"/>
          </p:cNvSpPr>
          <p:nvPr/>
        </p:nvSpPr>
        <p:spPr>
          <a:xfrm xmlns:a="http://schemas.openxmlformats.org/drawingml/2006/main">
            <a:off x="533400" y="80010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261D18"/>
                </a:solidFill>
                <a:latin typeface="Arial"/>
                <a:ea typeface="Arial"/>
                <a:cs typeface="Arial"/>
              </a:defRPr>
            </a:pPr>
            <a:r>
              <a:rPr sz="2850" b="1">
                <a:solidFill>
                  <a:srgbClr val="261D18"/>
                </a:solidFill>
                <a:latin typeface="Arial"/>
                <a:ea typeface="Arial"/>
                <a:cs typeface="Arial"/>
              </a:rPr>
              <a:t>Pesan brand dan ajakan melihat menu</a:t>
            </a:r>
          </a:p>
        </p:txBody>
      </p:sp>
      <p:sp>
        <p:nvSpPr>
          <p:cNvPr id="4" name="">
            <a:extLst xmlns:a="http://schemas.openxmlformats.org/drawingml/2006/main">
              <a:ext uri="{FF2B5EF4-FFF2-40B4-BE49-F238E27FC236}">
                <a16:creationId xmlns:a16="http://schemas.microsoft.com/office/drawing/2014/main" id="{4101F487-2629-4B3D-B659-4349E514B905}"/>
              </a:ext>
            </a:extLst>
          </p:cNvPr>
          <p:cNvSpPr>
            <a:spLocks xmlns:a="http://schemas.openxmlformats.org/drawingml/2006/main" noGrp="1"/>
          </p:cNvSpPr>
          <p:nvPr/>
        </p:nvSpPr>
        <p:spPr>
          <a:xfrm xmlns:a="http://schemas.openxmlformats.org/drawingml/2006/main">
            <a:off x="552450" y="1323975"/>
            <a:ext cx="1100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E655E"/>
                </a:solidFill>
                <a:latin typeface="Arial"/>
                <a:ea typeface="Arial"/>
                <a:cs typeface="Arial"/>
              </a:defRPr>
            </a:pPr>
            <a:r>
              <a:rPr sz="1350" b="0">
                <a:solidFill>
                  <a:srgbClr val="6E655E"/>
                </a:solidFill>
                <a:latin typeface="Arial"/>
                <a:ea typeface="Arial"/>
                <a:cs typeface="Arial"/>
              </a:rPr>
              <a:t>Beranda menjadi titik awal untuk mengenal produk dan meneruskan pengunjung ke katalog.</a:t>
            </a:r>
          </a:p>
        </p:txBody>
      </p:sp>
      <p:sp>
        <p:nvSpPr>
          <p:cNvPr id="5" name="">
            <a:extLst xmlns:a="http://schemas.openxmlformats.org/drawingml/2006/main">
              <a:ext uri="{FF2B5EF4-FFF2-40B4-BE49-F238E27FC236}">
                <a16:creationId xmlns:a16="http://schemas.microsoft.com/office/drawing/2014/main" id="{CCAE8776-4526-467E-974A-A7AF0E39D35B}"/>
              </a:ext>
            </a:extLst>
          </p:cNvPr>
          <p:cNvSpPr>
            <a:spLocks xmlns:a="http://schemas.openxmlformats.org/drawingml/2006/main" noGrp="1"/>
          </p:cNvSpPr>
          <p:nvPr/>
        </p:nvSpPr>
        <p:spPr>
          <a:xfrm xmlns:a="http://schemas.openxmlformats.org/drawingml/2006/main">
            <a:off x="533400" y="1685925"/>
            <a:ext cx="11125200" cy="19050"/>
          </a:xfrm>
          <a:prstGeom xmlns:a="http://schemas.openxmlformats.org/drawingml/2006/main" prst="rect">
            <a:avLst/>
          </a:prstGeom>
          <a:solidFill xmlns:a="http://schemas.openxmlformats.org/drawingml/2006/main">
            <a:srgbClr val="D8C9B7"/>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8eec6bcd52e464c"/>
          <a:srcRect xmlns:a="http://schemas.openxmlformats.org/drawingml/2006/main" l="0" t="16522" r="0" b="16522"/>
          <a:stretch xmlns:a="http://schemas.openxmlformats.org/drawingml/2006/main">
            <a:fillRect l="0" t="0" r="0" b="0"/>
          </a:stretch>
        </p:blipFill>
        <p:spPr>
          <a:xfrm xmlns:a="http://schemas.openxmlformats.org/drawingml/2006/main">
            <a:off x="5905500" y="2028825"/>
            <a:ext cx="5476875" cy="3667125"/>
          </a:xfrm>
          <a:prstGeom xmlns:a="http://schemas.openxmlformats.org/drawingml/2006/main" prst="roundRect">
            <a:avLst>
              <a:gd name="adj" fmla="val 4675"/>
            </a:avLst>
          </a:prstGeom>
        </p:spPr>
      </p:pic>
      <p:sp>
        <p:nvSpPr>
          <p:cNvPr id="7" name="">
            <a:extLst xmlns:a="http://schemas.openxmlformats.org/drawingml/2006/main">
              <a:ext uri="{FF2B5EF4-FFF2-40B4-BE49-F238E27FC236}">
                <a16:creationId xmlns:a16="http://schemas.microsoft.com/office/drawing/2014/main" id="{43BAD5BC-CFF1-41FF-B57C-8E8F2E28B3AB}"/>
              </a:ext>
            </a:extLst>
          </p:cNvPr>
          <p:cNvSpPr>
            <a:spLocks xmlns:a="http://schemas.openxmlformats.org/drawingml/2006/main" noGrp="1"/>
          </p:cNvSpPr>
          <p:nvPr/>
        </p:nvSpPr>
        <p:spPr>
          <a:xfrm xmlns:a="http://schemas.openxmlformats.org/drawingml/2006/main">
            <a:off x="647700" y="2266950"/>
            <a:ext cx="45529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261D18"/>
                </a:solidFill>
                <a:latin typeface="Arial"/>
                <a:ea typeface="Arial"/>
                <a:cs typeface="Arial"/>
              </a:defRPr>
            </a:pPr>
            <a:r>
              <a:rPr sz="2250" b="1">
                <a:solidFill>
                  <a:srgbClr val="261D18"/>
                </a:solidFill>
                <a:latin typeface="Arial"/>
                <a:ea typeface="Arial"/>
                <a:cs typeface="Arial"/>
              </a:rPr>
              <a:t>“Nikmati rasa favoritmu dalam setiap botol.”</a:t>
            </a:r>
          </a:p>
        </p:txBody>
      </p:sp>
      <p:sp>
        <p:nvSpPr>
          <p:cNvPr id="8" name="">
            <a:extLst xmlns:a="http://schemas.openxmlformats.org/drawingml/2006/main">
              <a:ext uri="{FF2B5EF4-FFF2-40B4-BE49-F238E27FC236}">
                <a16:creationId xmlns:a16="http://schemas.microsoft.com/office/drawing/2014/main" id="{9C49BD1A-8BF3-4114-B092-DC9FC639F777}"/>
              </a:ext>
            </a:extLst>
          </p:cNvPr>
          <p:cNvSpPr>
            <a:spLocks xmlns:a="http://schemas.openxmlformats.org/drawingml/2006/main" noGrp="1"/>
          </p:cNvSpPr>
          <p:nvPr/>
        </p:nvSpPr>
        <p:spPr>
          <a:xfrm xmlns:a="http://schemas.openxmlformats.org/drawingml/2006/main">
            <a:off x="647700" y="355282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0143714-CD57-4077-A6BF-EFFB60DCAAA6}"/>
              </a:ext>
            </a:extLst>
          </p:cNvPr>
          <p:cNvSpPr>
            <a:spLocks xmlns:a="http://schemas.openxmlformats.org/drawingml/2006/main" noGrp="1"/>
          </p:cNvSpPr>
          <p:nvPr/>
        </p:nvSpPr>
        <p:spPr>
          <a:xfrm xmlns:a="http://schemas.openxmlformats.org/drawingml/2006/main">
            <a:off x="857250" y="3429000"/>
            <a:ext cx="4362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61D18"/>
                </a:solidFill>
                <a:latin typeface="Arial"/>
                <a:ea typeface="Arial"/>
                <a:cs typeface="Arial"/>
              </a:defRPr>
            </a:pPr>
            <a:r>
              <a:rPr sz="1425" b="0">
                <a:solidFill>
                  <a:srgbClr val="261D18"/>
                </a:solidFill>
                <a:latin typeface="Arial"/>
                <a:ea typeface="Arial"/>
                <a:cs typeface="Arial"/>
              </a:rPr>
              <a:t>Foto hero produk dan ringkasan brand.</a:t>
            </a:r>
          </a:p>
        </p:txBody>
      </p:sp>
      <p:sp>
        <p:nvSpPr>
          <p:cNvPr id="10" name="">
            <a:extLst xmlns:a="http://schemas.openxmlformats.org/drawingml/2006/main">
              <a:ext uri="{FF2B5EF4-FFF2-40B4-BE49-F238E27FC236}">
                <a16:creationId xmlns:a16="http://schemas.microsoft.com/office/drawing/2014/main" id="{E46273B1-60A9-4BE2-9047-F746742640B7}"/>
              </a:ext>
            </a:extLst>
          </p:cNvPr>
          <p:cNvSpPr>
            <a:spLocks xmlns:a="http://schemas.openxmlformats.org/drawingml/2006/main" noGrp="1"/>
          </p:cNvSpPr>
          <p:nvPr/>
        </p:nvSpPr>
        <p:spPr>
          <a:xfrm xmlns:a="http://schemas.openxmlformats.org/drawingml/2006/main">
            <a:off x="647700" y="404812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BE8731B-C8F8-4357-A772-4937430ECCC5}"/>
              </a:ext>
            </a:extLst>
          </p:cNvPr>
          <p:cNvSpPr>
            <a:spLocks xmlns:a="http://schemas.openxmlformats.org/drawingml/2006/main" noGrp="1"/>
          </p:cNvSpPr>
          <p:nvPr/>
        </p:nvSpPr>
        <p:spPr>
          <a:xfrm xmlns:a="http://schemas.openxmlformats.org/drawingml/2006/main">
            <a:off x="857250" y="3924300"/>
            <a:ext cx="4362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61D18"/>
                </a:solidFill>
                <a:latin typeface="Arial"/>
                <a:ea typeface="Arial"/>
                <a:cs typeface="Arial"/>
              </a:defRPr>
            </a:pPr>
            <a:r>
              <a:rPr sz="1425" b="0">
                <a:solidFill>
                  <a:srgbClr val="261D18"/>
                </a:solidFill>
                <a:latin typeface="Arial"/>
                <a:ea typeface="Arial"/>
                <a:cs typeface="Arial"/>
              </a:rPr>
              <a:t>Harga awal ditampilkan sebagai petunjuk.</a:t>
            </a:r>
          </a:p>
        </p:txBody>
      </p:sp>
      <p:sp>
        <p:nvSpPr>
          <p:cNvPr id="12" name="">
            <a:extLst xmlns:a="http://schemas.openxmlformats.org/drawingml/2006/main">
              <a:ext uri="{FF2B5EF4-FFF2-40B4-BE49-F238E27FC236}">
                <a16:creationId xmlns:a16="http://schemas.microsoft.com/office/drawing/2014/main" id="{A7D58CA9-5B16-4397-A575-B869EFD28751}"/>
              </a:ext>
            </a:extLst>
          </p:cNvPr>
          <p:cNvSpPr>
            <a:spLocks xmlns:a="http://schemas.openxmlformats.org/drawingml/2006/main" noGrp="1"/>
          </p:cNvSpPr>
          <p:nvPr/>
        </p:nvSpPr>
        <p:spPr>
          <a:xfrm xmlns:a="http://schemas.openxmlformats.org/drawingml/2006/main">
            <a:off x="647700" y="454342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E8D4F5E-AA22-4FB0-931A-ED6B7B78C6A2}"/>
              </a:ext>
            </a:extLst>
          </p:cNvPr>
          <p:cNvSpPr>
            <a:spLocks xmlns:a="http://schemas.openxmlformats.org/drawingml/2006/main" noGrp="1"/>
          </p:cNvSpPr>
          <p:nvPr/>
        </p:nvSpPr>
        <p:spPr>
          <a:xfrm xmlns:a="http://schemas.openxmlformats.org/drawingml/2006/main">
            <a:off x="857250" y="4419600"/>
            <a:ext cx="4362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61D18"/>
                </a:solidFill>
                <a:latin typeface="Arial"/>
                <a:ea typeface="Arial"/>
                <a:cs typeface="Arial"/>
              </a:defRPr>
            </a:pPr>
            <a:r>
              <a:rPr sz="1425" b="0">
                <a:solidFill>
                  <a:srgbClr val="261D18"/>
                </a:solidFill>
                <a:latin typeface="Arial"/>
                <a:ea typeface="Arial"/>
                <a:cs typeface="Arial"/>
              </a:rPr>
              <a:t>Tombol Lihat Menu menuju katalog.</a:t>
            </a:r>
          </a:p>
        </p:txBody>
      </p:sp>
      <p:sp>
        <p:nvSpPr>
          <p:cNvPr id="14" name="">
            <a:extLst xmlns:a="http://schemas.openxmlformats.org/drawingml/2006/main">
              <a:ext uri="{FF2B5EF4-FFF2-40B4-BE49-F238E27FC236}">
                <a16:creationId xmlns:a16="http://schemas.microsoft.com/office/drawing/2014/main" id="{CE377502-4A9F-44F6-9A25-8CACDE1AE353}"/>
              </a:ext>
            </a:extLst>
          </p:cNvPr>
          <p:cNvSpPr>
            <a:spLocks xmlns:a="http://schemas.openxmlformats.org/drawingml/2006/main" noGrp="1"/>
          </p:cNvSpPr>
          <p:nvPr/>
        </p:nvSpPr>
        <p:spPr>
          <a:xfrm xmlns:a="http://schemas.openxmlformats.org/drawingml/2006/main">
            <a:off x="647700" y="503872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0E7D016-C533-4406-8B08-906AEB0B50CD}"/>
              </a:ext>
            </a:extLst>
          </p:cNvPr>
          <p:cNvSpPr>
            <a:spLocks xmlns:a="http://schemas.openxmlformats.org/drawingml/2006/main" noGrp="1"/>
          </p:cNvSpPr>
          <p:nvPr/>
        </p:nvSpPr>
        <p:spPr>
          <a:xfrm xmlns:a="http://schemas.openxmlformats.org/drawingml/2006/main">
            <a:off x="857250" y="4914900"/>
            <a:ext cx="4362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61D18"/>
                </a:solidFill>
                <a:latin typeface="Arial"/>
                <a:ea typeface="Arial"/>
                <a:cs typeface="Arial"/>
              </a:defRPr>
            </a:pPr>
            <a:r>
              <a:rPr sz="1425" b="0">
                <a:solidFill>
                  <a:srgbClr val="261D18"/>
                </a:solidFill>
                <a:latin typeface="Arial"/>
                <a:ea typeface="Arial"/>
                <a:cs typeface="Arial"/>
              </a:rPr>
              <a:t>Tombol WhatsApp membuka percakapan order.</a:t>
            </a:r>
          </a:p>
        </p:txBody>
      </p:sp>
      <p:sp>
        <p:nvSpPr>
          <p:cNvPr id="16" name="">
            <a:extLst xmlns:a="http://schemas.openxmlformats.org/drawingml/2006/main">
              <a:ext uri="{FF2B5EF4-FFF2-40B4-BE49-F238E27FC236}">
                <a16:creationId xmlns:a16="http://schemas.microsoft.com/office/drawing/2014/main" id="{27F3B9F7-1C5C-4AAB-8666-DAE2BA3D5547}"/>
              </a:ext>
            </a:extLst>
          </p:cNvPr>
          <p:cNvSpPr>
            <a:spLocks xmlns:a="http://schemas.openxmlformats.org/drawingml/2006/main" noGrp="1"/>
          </p:cNvSpPr>
          <p:nvPr/>
        </p:nvSpPr>
        <p:spPr>
          <a:xfrm xmlns:a="http://schemas.openxmlformats.org/drawingml/2006/main">
            <a:off x="647700" y="553402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49268D9-FC2C-4919-AFE0-84912A3B7281}"/>
              </a:ext>
            </a:extLst>
          </p:cNvPr>
          <p:cNvSpPr>
            <a:spLocks xmlns:a="http://schemas.openxmlformats.org/drawingml/2006/main" noGrp="1"/>
          </p:cNvSpPr>
          <p:nvPr/>
        </p:nvSpPr>
        <p:spPr>
          <a:xfrm xmlns:a="http://schemas.openxmlformats.org/drawingml/2006/main">
            <a:off x="857250" y="5410200"/>
            <a:ext cx="4362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61D18"/>
                </a:solidFill>
                <a:latin typeface="Arial"/>
                <a:ea typeface="Arial"/>
                <a:cs typeface="Arial"/>
              </a:defRPr>
            </a:pPr>
            <a:r>
              <a:rPr sz="1425" b="0">
                <a:solidFill>
                  <a:srgbClr val="261D18"/>
                </a:solidFill>
                <a:latin typeface="Arial"/>
                <a:ea typeface="Arial"/>
                <a:cs typeface="Arial"/>
              </a:rPr>
              <a:t>Desain hero kembali ke konsep awal; efek uap dan splash tidak aktif.</a:t>
            </a:r>
          </a:p>
        </p:txBody>
      </p:sp>
      <p:sp>
        <p:nvSpPr>
          <p:cNvPr id="18" name="">
            <a:extLst xmlns:a="http://schemas.openxmlformats.org/drawingml/2006/main">
              <a:ext uri="{FF2B5EF4-FFF2-40B4-BE49-F238E27FC236}">
                <a16:creationId xmlns:a16="http://schemas.microsoft.com/office/drawing/2014/main" id="{81D1999D-CD61-434A-8F7E-94BF2E50BFF5}"/>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871CB19-DA22-494D-8800-D0EEE8BE680F}"/>
              </a:ext>
            </a:extLst>
          </p:cNvPr>
          <p:cNvSpPr>
            <a:spLocks xmlns:a="http://schemas.openxmlformats.org/drawingml/2006/main" noGrp="1"/>
          </p:cNvSpPr>
          <p:nvPr/>
        </p:nvSpPr>
        <p:spPr>
          <a:xfrm xmlns:a="http://schemas.openxmlformats.org/drawingml/2006/main">
            <a:off x="53340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6E655E"/>
                </a:solidFill>
                <a:latin typeface="Arial"/>
                <a:ea typeface="Arial"/>
                <a:cs typeface="Arial"/>
              </a:defRPr>
            </a:pPr>
            <a:r>
              <a:rPr sz="900" b="0">
                <a:solidFill>
                  <a:srgbClr val="6E655E"/>
                </a:solidFill>
                <a:latin typeface="Arial"/>
                <a:ea typeface="Arial"/>
                <a:cs typeface="Arial"/>
              </a:rPr>
              <a:t>FD Culinary  •  Gambaran versi website saat ini</a:t>
            </a:r>
          </a:p>
        </p:txBody>
      </p:sp>
      <p:sp>
        <p:nvSpPr>
          <p:cNvPr id="20" name="">
            <a:extLst xmlns:a="http://schemas.openxmlformats.org/drawingml/2006/main">
              <a:ext uri="{FF2B5EF4-FFF2-40B4-BE49-F238E27FC236}">
                <a16:creationId xmlns:a16="http://schemas.microsoft.com/office/drawing/2014/main" id="{4A0B0510-31A6-49BF-B4EA-44E1EEE9E6C1}"/>
              </a:ext>
            </a:extLst>
          </p:cNvPr>
          <p:cNvSpPr>
            <a:spLocks xmlns:a="http://schemas.openxmlformats.org/drawingml/2006/main" noGrp="1"/>
          </p:cNvSpPr>
          <p:nvPr/>
        </p:nvSpPr>
        <p:spPr>
          <a:xfrm xmlns:a="http://schemas.openxmlformats.org/drawingml/2006/main">
            <a:off x="11144250" y="64865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754D35"/>
                </a:solidFill>
                <a:latin typeface="Arial"/>
                <a:ea typeface="Arial"/>
                <a:cs typeface="Arial"/>
              </a:defRPr>
            </a:pPr>
            <a:r>
              <a:rPr sz="900" b="1">
                <a:solidFill>
                  <a:srgbClr val="754D35"/>
                </a:solidFill>
                <a:latin typeface="Arial"/>
                <a:ea typeface="Arial"/>
                <a:cs typeface="Arial"/>
              </a:rPr>
              <a:t>03</a:t>
            </a:r>
          </a:p>
        </p:txBody>
      </p:sp>
    </p:spTree>
    <p:extLst>
      <p:ext uri="{BB962C8B-B14F-4D97-AF65-F5344CB8AC3E}">
        <p14:creationId xmlns:p14="http://schemas.microsoft.com/office/powerpoint/2010/main" val="1896811148"/>
      </p:ext>
    </p:extLst>
  </p:cSld>
</p:sld>
</file>

<file path=ppt/slides/slide4.xml><?xml version="1.0" encoding="utf-8"?>
<p:sld xmlns:p="http://schemas.openxmlformats.org/presentationml/2006/main">
  <p:cSld>
    <p:bg>
      <p:bgPr>
        <a:solidFill xmlns:a="http://schemas.openxmlformats.org/drawingml/2006/main">
          <a:srgbClr val="F8F3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7097A6F-4E5A-4F05-8873-14ED9E846ABF}"/>
              </a:ext>
            </a:extLst>
          </p:cNvPr>
          <p:cNvSpPr>
            <a:spLocks xmlns:a="http://schemas.openxmlformats.org/drawingml/2006/main" noGrp="1"/>
          </p:cNvSpPr>
          <p:nvPr/>
        </p:nvSpPr>
        <p:spPr>
          <a:xfrm xmlns:a="http://schemas.openxmlformats.org/drawingml/2006/main">
            <a:off x="533400" y="228600"/>
            <a:ext cx="552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754D35"/>
                </a:solidFill>
                <a:latin typeface="Arial"/>
                <a:ea typeface="Arial"/>
                <a:cs typeface="Arial"/>
              </a:defRPr>
            </a:pPr>
            <a:r>
              <a:rPr sz="1050" b="1">
                <a:solidFill>
                  <a:srgbClr val="754D35"/>
                </a:solidFill>
                <a:latin typeface="Arial"/>
                <a:ea typeface="Arial"/>
                <a:cs typeface="Arial"/>
              </a:rPr>
              <a:t>FD CULINARY  /  PRESENTASI WEBSITE</a:t>
            </a:r>
          </a:p>
        </p:txBody>
      </p:sp>
      <p:sp>
        <p:nvSpPr>
          <p:cNvPr id="2" name="">
            <a:extLst xmlns:a="http://schemas.openxmlformats.org/drawingml/2006/main">
              <a:ext uri="{FF2B5EF4-FFF2-40B4-BE49-F238E27FC236}">
                <a16:creationId xmlns:a16="http://schemas.microsoft.com/office/drawing/2014/main" id="{B86F5626-7EA7-44AF-9D0F-E42E8FFC28A8}"/>
              </a:ext>
            </a:extLst>
          </p:cNvPr>
          <p:cNvSpPr>
            <a:spLocks xmlns:a="http://schemas.openxmlformats.org/drawingml/2006/main" noGrp="1"/>
          </p:cNvSpPr>
          <p:nvPr/>
        </p:nvSpPr>
        <p:spPr>
          <a:xfrm xmlns:a="http://schemas.openxmlformats.org/drawingml/2006/main">
            <a:off x="533400" y="5524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66744D"/>
                </a:solidFill>
                <a:latin typeface="Arial"/>
                <a:ea typeface="Arial"/>
                <a:cs typeface="Arial"/>
              </a:defRPr>
            </a:pPr>
            <a:r>
              <a:rPr sz="1050" b="1">
                <a:solidFill>
                  <a:srgbClr val="66744D"/>
                </a:solidFill>
                <a:latin typeface="Arial"/>
                <a:ea typeface="Arial"/>
                <a:cs typeface="Arial"/>
              </a:rPr>
              <a:t>MENU KATALOG</a:t>
            </a:r>
          </a:p>
        </p:txBody>
      </p:sp>
      <p:sp>
        <p:nvSpPr>
          <p:cNvPr id="3" name="">
            <a:extLst xmlns:a="http://schemas.openxmlformats.org/drawingml/2006/main">
              <a:ext uri="{FF2B5EF4-FFF2-40B4-BE49-F238E27FC236}">
                <a16:creationId xmlns:a16="http://schemas.microsoft.com/office/drawing/2014/main" id="{F4D72B45-8A18-47B0-B832-AA1B11B0613C}"/>
              </a:ext>
            </a:extLst>
          </p:cNvPr>
          <p:cNvSpPr>
            <a:spLocks xmlns:a="http://schemas.openxmlformats.org/drawingml/2006/main" noGrp="1"/>
          </p:cNvSpPr>
          <p:nvPr/>
        </p:nvSpPr>
        <p:spPr>
          <a:xfrm xmlns:a="http://schemas.openxmlformats.org/drawingml/2006/main">
            <a:off x="533400" y="80010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261D18"/>
                </a:solidFill>
                <a:latin typeface="Arial"/>
                <a:ea typeface="Arial"/>
                <a:cs typeface="Arial"/>
              </a:defRPr>
            </a:pPr>
            <a:r>
              <a:rPr sz="2850" b="1">
                <a:solidFill>
                  <a:srgbClr val="261D18"/>
                </a:solidFill>
                <a:latin typeface="Arial"/>
                <a:ea typeface="Arial"/>
                <a:cs typeface="Arial"/>
              </a:rPr>
              <a:t>Kategori dan pencarian membantu menemukan produk</a:t>
            </a:r>
          </a:p>
        </p:txBody>
      </p:sp>
      <p:sp>
        <p:nvSpPr>
          <p:cNvPr id="4" name="">
            <a:extLst xmlns:a="http://schemas.openxmlformats.org/drawingml/2006/main">
              <a:ext uri="{FF2B5EF4-FFF2-40B4-BE49-F238E27FC236}">
                <a16:creationId xmlns:a16="http://schemas.microsoft.com/office/drawing/2014/main" id="{8CFF8EA9-D04D-4D42-8BD1-EE81171BD019}"/>
              </a:ext>
            </a:extLst>
          </p:cNvPr>
          <p:cNvSpPr>
            <a:spLocks xmlns:a="http://schemas.openxmlformats.org/drawingml/2006/main" noGrp="1"/>
          </p:cNvSpPr>
          <p:nvPr/>
        </p:nvSpPr>
        <p:spPr>
          <a:xfrm xmlns:a="http://schemas.openxmlformats.org/drawingml/2006/main">
            <a:off x="552450" y="1323975"/>
            <a:ext cx="1100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E655E"/>
                </a:solidFill>
                <a:latin typeface="Arial"/>
                <a:ea typeface="Arial"/>
                <a:cs typeface="Arial"/>
              </a:defRPr>
            </a:pPr>
            <a:r>
              <a:rPr sz="1350" b="0">
                <a:solidFill>
                  <a:srgbClr val="6E655E"/>
                </a:solidFill>
                <a:latin typeface="Arial"/>
                <a:ea typeface="Arial"/>
                <a:cs typeface="Arial"/>
              </a:rPr>
              <a:t>Menu memisahkan pilihan Minuman dan Kue; hasil pencarian mengikuti kategori aktif.</a:t>
            </a:r>
          </a:p>
        </p:txBody>
      </p:sp>
      <p:sp>
        <p:nvSpPr>
          <p:cNvPr id="5" name="">
            <a:extLst xmlns:a="http://schemas.openxmlformats.org/drawingml/2006/main">
              <a:ext uri="{FF2B5EF4-FFF2-40B4-BE49-F238E27FC236}">
                <a16:creationId xmlns:a16="http://schemas.microsoft.com/office/drawing/2014/main" id="{4D2254C7-0E19-4DCE-83A6-6F7B6C7080BC}"/>
              </a:ext>
            </a:extLst>
          </p:cNvPr>
          <p:cNvSpPr>
            <a:spLocks xmlns:a="http://schemas.openxmlformats.org/drawingml/2006/main" noGrp="1"/>
          </p:cNvSpPr>
          <p:nvPr/>
        </p:nvSpPr>
        <p:spPr>
          <a:xfrm xmlns:a="http://schemas.openxmlformats.org/drawingml/2006/main">
            <a:off x="533400" y="1685925"/>
            <a:ext cx="11125200" cy="19050"/>
          </a:xfrm>
          <a:prstGeom xmlns:a="http://schemas.openxmlformats.org/drawingml/2006/main" prst="rect">
            <a:avLst/>
          </a:prstGeom>
          <a:solidFill xmlns:a="http://schemas.openxmlformats.org/drawingml/2006/main">
            <a:srgbClr val="D8C9B7"/>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85aaf57688504576"/>
          <a:srcRect xmlns:a="http://schemas.openxmlformats.org/drawingml/2006/main" l="0" t="26296" r="0" b="26296"/>
          <a:stretch xmlns:a="http://schemas.openxmlformats.org/drawingml/2006/main">
            <a:fillRect l="0" t="0" r="0" b="0"/>
          </a:stretch>
        </p:blipFill>
        <p:spPr>
          <a:xfrm xmlns:a="http://schemas.openxmlformats.org/drawingml/2006/main">
            <a:off x="609600" y="2019300"/>
            <a:ext cx="4610100" cy="3886200"/>
          </a:xfrm>
          <a:prstGeom xmlns:a="http://schemas.openxmlformats.org/drawingml/2006/main" prst="roundRect">
            <a:avLst>
              <a:gd name="adj" fmla="val 4412"/>
            </a:avLst>
          </a:prstGeom>
        </p:spPr>
      </p:pic>
      <p:sp>
        <p:nvSpPr>
          <p:cNvPr id="7" name="">
            <a:extLst xmlns:a="http://schemas.openxmlformats.org/drawingml/2006/main">
              <a:ext uri="{FF2B5EF4-FFF2-40B4-BE49-F238E27FC236}">
                <a16:creationId xmlns:a16="http://schemas.microsoft.com/office/drawing/2014/main" id="{4C42DAE1-38D0-4DF5-B071-5FC9DC665381}"/>
              </a:ext>
            </a:extLst>
          </p:cNvPr>
          <p:cNvSpPr>
            <a:spLocks xmlns:a="http://schemas.openxmlformats.org/drawingml/2006/main" noGrp="1"/>
          </p:cNvSpPr>
          <p:nvPr/>
        </p:nvSpPr>
        <p:spPr>
          <a:xfrm xmlns:a="http://schemas.openxmlformats.org/drawingml/2006/main">
            <a:off x="5810250" y="21526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66744D"/>
                </a:solidFill>
                <a:latin typeface="Arial"/>
                <a:ea typeface="Arial"/>
                <a:cs typeface="Arial"/>
              </a:defRPr>
            </a:pPr>
            <a:r>
              <a:rPr sz="1350" b="1">
                <a:solidFill>
                  <a:srgbClr val="66744D"/>
                </a:solidFill>
                <a:latin typeface="Arial"/>
                <a:ea typeface="Arial"/>
                <a:cs typeface="Arial"/>
              </a:rPr>
              <a:t>MINUMAN</a:t>
            </a:r>
          </a:p>
        </p:txBody>
      </p:sp>
      <p:sp>
        <p:nvSpPr>
          <p:cNvPr id="8" name="">
            <a:extLst xmlns:a="http://schemas.openxmlformats.org/drawingml/2006/main">
              <a:ext uri="{FF2B5EF4-FFF2-40B4-BE49-F238E27FC236}">
                <a16:creationId xmlns:a16="http://schemas.microsoft.com/office/drawing/2014/main" id="{5B2B024F-DBDD-43B1-814A-ACFBF6369043}"/>
              </a:ext>
            </a:extLst>
          </p:cNvPr>
          <p:cNvSpPr>
            <a:spLocks xmlns:a="http://schemas.openxmlformats.org/drawingml/2006/main" noGrp="1"/>
          </p:cNvSpPr>
          <p:nvPr/>
        </p:nvSpPr>
        <p:spPr>
          <a:xfrm xmlns:a="http://schemas.openxmlformats.org/drawingml/2006/main">
            <a:off x="5810250" y="2514600"/>
            <a:ext cx="53625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261D18"/>
                </a:solidFill>
                <a:latin typeface="Arial"/>
                <a:ea typeface="Arial"/>
                <a:cs typeface="Arial"/>
              </a:defRPr>
            </a:pPr>
            <a:r>
              <a:rPr sz="1725" b="1">
                <a:solidFill>
                  <a:srgbClr val="261D18"/>
                </a:solidFill>
                <a:latin typeface="Arial"/>
                <a:ea typeface="Arial"/>
                <a:cs typeface="Arial"/>
              </a:rPr>
              <a:t>10 pilihan minuman dengan harga 250 ml dan 1 L.</a:t>
            </a:r>
          </a:p>
        </p:txBody>
      </p:sp>
      <p:sp>
        <p:nvSpPr>
          <p:cNvPr id="9" name="">
            <a:extLst xmlns:a="http://schemas.openxmlformats.org/drawingml/2006/main">
              <a:ext uri="{FF2B5EF4-FFF2-40B4-BE49-F238E27FC236}">
                <a16:creationId xmlns:a16="http://schemas.microsoft.com/office/drawing/2014/main" id="{DBD0ADDC-A90C-45C0-A7E8-6352B4B70EA1}"/>
              </a:ext>
            </a:extLst>
          </p:cNvPr>
          <p:cNvSpPr>
            <a:spLocks xmlns:a="http://schemas.openxmlformats.org/drawingml/2006/main" noGrp="1"/>
          </p:cNvSpPr>
          <p:nvPr/>
        </p:nvSpPr>
        <p:spPr>
          <a:xfrm xmlns:a="http://schemas.openxmlformats.org/drawingml/2006/main">
            <a:off x="5810250" y="3200400"/>
            <a:ext cx="5334000" cy="19050"/>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771ED63-F3A5-473D-905B-E5B4B8040B83}"/>
              </a:ext>
            </a:extLst>
          </p:cNvPr>
          <p:cNvSpPr>
            <a:spLocks xmlns:a="http://schemas.openxmlformats.org/drawingml/2006/main" noGrp="1"/>
          </p:cNvSpPr>
          <p:nvPr/>
        </p:nvSpPr>
        <p:spPr>
          <a:xfrm xmlns:a="http://schemas.openxmlformats.org/drawingml/2006/main">
            <a:off x="5810250" y="343852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66744D"/>
                </a:solidFill>
                <a:latin typeface="Arial"/>
                <a:ea typeface="Arial"/>
                <a:cs typeface="Arial"/>
              </a:defRPr>
            </a:pPr>
            <a:r>
              <a:rPr sz="1350" b="1">
                <a:solidFill>
                  <a:srgbClr val="66744D"/>
                </a:solidFill>
                <a:latin typeface="Arial"/>
                <a:ea typeface="Arial"/>
                <a:cs typeface="Arial"/>
              </a:rPr>
              <a:t>KUE</a:t>
            </a:r>
          </a:p>
        </p:txBody>
      </p:sp>
      <p:sp>
        <p:nvSpPr>
          <p:cNvPr id="11" name="">
            <a:extLst xmlns:a="http://schemas.openxmlformats.org/drawingml/2006/main">
              <a:ext uri="{FF2B5EF4-FFF2-40B4-BE49-F238E27FC236}">
                <a16:creationId xmlns:a16="http://schemas.microsoft.com/office/drawing/2014/main" id="{8DD1E082-FD8A-4829-BF2B-A15A05A5BDF8}"/>
              </a:ext>
            </a:extLst>
          </p:cNvPr>
          <p:cNvSpPr>
            <a:spLocks xmlns:a="http://schemas.openxmlformats.org/drawingml/2006/main" noGrp="1"/>
          </p:cNvSpPr>
          <p:nvPr/>
        </p:nvSpPr>
        <p:spPr>
          <a:xfrm xmlns:a="http://schemas.openxmlformats.org/drawingml/2006/main">
            <a:off x="5810250" y="3790950"/>
            <a:ext cx="53625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261D18"/>
                </a:solidFill>
                <a:latin typeface="Arial"/>
                <a:ea typeface="Arial"/>
                <a:cs typeface="Arial"/>
              </a:defRPr>
            </a:pPr>
            <a:r>
              <a:rPr sz="1725" b="1">
                <a:solidFill>
                  <a:srgbClr val="261D18"/>
                </a:solidFill>
                <a:latin typeface="Arial"/>
                <a:ea typeface="Arial"/>
                <a:cs typeface="Arial"/>
              </a:rPr>
              <a:t>3 pilihan kue dengan harga per slice atau per buah.</a:t>
            </a:r>
          </a:p>
        </p:txBody>
      </p:sp>
      <p:sp>
        <p:nvSpPr>
          <p:cNvPr id="12" name="">
            <a:extLst xmlns:a="http://schemas.openxmlformats.org/drawingml/2006/main">
              <a:ext uri="{FF2B5EF4-FFF2-40B4-BE49-F238E27FC236}">
                <a16:creationId xmlns:a16="http://schemas.microsoft.com/office/drawing/2014/main" id="{F8FAAD6C-635B-4DD2-8979-063D853E691A}"/>
              </a:ext>
            </a:extLst>
          </p:cNvPr>
          <p:cNvSpPr>
            <a:spLocks xmlns:a="http://schemas.openxmlformats.org/drawingml/2006/main" noGrp="1"/>
          </p:cNvSpPr>
          <p:nvPr/>
        </p:nvSpPr>
        <p:spPr>
          <a:xfrm xmlns:a="http://schemas.openxmlformats.org/drawingml/2006/main">
            <a:off x="5810250" y="477202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A6F3493-CA97-4C52-B558-BEC402B022FB}"/>
              </a:ext>
            </a:extLst>
          </p:cNvPr>
          <p:cNvSpPr>
            <a:spLocks xmlns:a="http://schemas.openxmlformats.org/drawingml/2006/main" noGrp="1"/>
          </p:cNvSpPr>
          <p:nvPr/>
        </p:nvSpPr>
        <p:spPr>
          <a:xfrm xmlns:a="http://schemas.openxmlformats.org/drawingml/2006/main">
            <a:off x="6019800" y="4648200"/>
            <a:ext cx="5124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61D18"/>
                </a:solidFill>
                <a:latin typeface="Arial"/>
                <a:ea typeface="Arial"/>
                <a:cs typeface="Arial"/>
              </a:defRPr>
            </a:pPr>
            <a:r>
              <a:rPr sz="1350" b="0">
                <a:solidFill>
                  <a:srgbClr val="261D18"/>
                </a:solidFill>
                <a:latin typeface="Arial"/>
                <a:ea typeface="Arial"/>
                <a:cs typeface="Arial"/>
              </a:rPr>
              <a:t>Pencarian berdasarkan nama, kelompok, dan deskripsi.</a:t>
            </a:r>
          </a:p>
        </p:txBody>
      </p:sp>
      <p:sp>
        <p:nvSpPr>
          <p:cNvPr id="14" name="">
            <a:extLst xmlns:a="http://schemas.openxmlformats.org/drawingml/2006/main">
              <a:ext uri="{FF2B5EF4-FFF2-40B4-BE49-F238E27FC236}">
                <a16:creationId xmlns:a16="http://schemas.microsoft.com/office/drawing/2014/main" id="{DD93E89A-EC72-4958-AA2E-DADE9FBDA218}"/>
              </a:ext>
            </a:extLst>
          </p:cNvPr>
          <p:cNvSpPr>
            <a:spLocks xmlns:a="http://schemas.openxmlformats.org/drawingml/2006/main" noGrp="1"/>
          </p:cNvSpPr>
          <p:nvPr/>
        </p:nvSpPr>
        <p:spPr>
          <a:xfrm xmlns:a="http://schemas.openxmlformats.org/drawingml/2006/main">
            <a:off x="5810250" y="5219700"/>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5372DDC-CF2D-4782-BEC3-D8EF6769BD86}"/>
              </a:ext>
            </a:extLst>
          </p:cNvPr>
          <p:cNvSpPr>
            <a:spLocks xmlns:a="http://schemas.openxmlformats.org/drawingml/2006/main" noGrp="1"/>
          </p:cNvSpPr>
          <p:nvPr/>
        </p:nvSpPr>
        <p:spPr>
          <a:xfrm xmlns:a="http://schemas.openxmlformats.org/drawingml/2006/main">
            <a:off x="6019800" y="5095875"/>
            <a:ext cx="5124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61D18"/>
                </a:solidFill>
                <a:latin typeface="Arial"/>
                <a:ea typeface="Arial"/>
                <a:cs typeface="Arial"/>
              </a:defRPr>
            </a:pPr>
            <a:r>
              <a:rPr sz="1350" b="0">
                <a:solidFill>
                  <a:srgbClr val="261D18"/>
                </a:solidFill>
                <a:latin typeface="Arial"/>
                <a:ea typeface="Arial"/>
                <a:cs typeface="Arial"/>
              </a:rPr>
              <a:t>Poster katalog dapat dibuka dalam tampilan lebih besar.</a:t>
            </a:r>
          </a:p>
        </p:txBody>
      </p:sp>
      <p:sp>
        <p:nvSpPr>
          <p:cNvPr id="16" name="">
            <a:extLst xmlns:a="http://schemas.openxmlformats.org/drawingml/2006/main">
              <a:ext uri="{FF2B5EF4-FFF2-40B4-BE49-F238E27FC236}">
                <a16:creationId xmlns:a16="http://schemas.microsoft.com/office/drawing/2014/main" id="{CCB335A7-3817-4F63-9470-3C22777EF07E}"/>
              </a:ext>
            </a:extLst>
          </p:cNvPr>
          <p:cNvSpPr>
            <a:spLocks xmlns:a="http://schemas.openxmlformats.org/drawingml/2006/main" noGrp="1"/>
          </p:cNvSpPr>
          <p:nvPr/>
        </p:nvSpPr>
        <p:spPr>
          <a:xfrm xmlns:a="http://schemas.openxmlformats.org/drawingml/2006/main">
            <a:off x="5810250" y="566737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64F2677-5F46-40AD-9F4D-9ADF9F331BD2}"/>
              </a:ext>
            </a:extLst>
          </p:cNvPr>
          <p:cNvSpPr>
            <a:spLocks xmlns:a="http://schemas.openxmlformats.org/drawingml/2006/main" noGrp="1"/>
          </p:cNvSpPr>
          <p:nvPr/>
        </p:nvSpPr>
        <p:spPr>
          <a:xfrm xmlns:a="http://schemas.openxmlformats.org/drawingml/2006/main">
            <a:off x="6019800" y="5543550"/>
            <a:ext cx="5124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61D18"/>
                </a:solidFill>
                <a:latin typeface="Arial"/>
                <a:ea typeface="Arial"/>
                <a:cs typeface="Arial"/>
              </a:defRPr>
            </a:pPr>
            <a:r>
              <a:rPr sz="1350" b="0">
                <a:solidFill>
                  <a:srgbClr val="261D18"/>
                </a:solidFill>
                <a:latin typeface="Arial"/>
                <a:ea typeface="Arial"/>
                <a:cs typeface="Arial"/>
              </a:rPr>
              <a:t>Kartu produk menyajikan foto, nama, deskripsi, dan harga.</a:t>
            </a:r>
          </a:p>
        </p:txBody>
      </p:sp>
      <p:sp>
        <p:nvSpPr>
          <p:cNvPr id="18" name="">
            <a:extLst xmlns:a="http://schemas.openxmlformats.org/drawingml/2006/main">
              <a:ext uri="{FF2B5EF4-FFF2-40B4-BE49-F238E27FC236}">
                <a16:creationId xmlns:a16="http://schemas.microsoft.com/office/drawing/2014/main" id="{35115089-EBA6-4435-929E-350F61875AFE}"/>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E754AA4-4DA2-44EE-85CB-43C51C9BA9CD}"/>
              </a:ext>
            </a:extLst>
          </p:cNvPr>
          <p:cNvSpPr>
            <a:spLocks xmlns:a="http://schemas.openxmlformats.org/drawingml/2006/main" noGrp="1"/>
          </p:cNvSpPr>
          <p:nvPr/>
        </p:nvSpPr>
        <p:spPr>
          <a:xfrm xmlns:a="http://schemas.openxmlformats.org/drawingml/2006/main">
            <a:off x="53340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6E655E"/>
                </a:solidFill>
                <a:latin typeface="Arial"/>
                <a:ea typeface="Arial"/>
                <a:cs typeface="Arial"/>
              </a:defRPr>
            </a:pPr>
            <a:r>
              <a:rPr sz="900" b="0">
                <a:solidFill>
                  <a:srgbClr val="6E655E"/>
                </a:solidFill>
                <a:latin typeface="Arial"/>
                <a:ea typeface="Arial"/>
                <a:cs typeface="Arial"/>
              </a:rPr>
              <a:t>FD Culinary  •  Gambaran versi website saat ini</a:t>
            </a:r>
          </a:p>
        </p:txBody>
      </p:sp>
      <p:sp>
        <p:nvSpPr>
          <p:cNvPr id="20" name="">
            <a:extLst xmlns:a="http://schemas.openxmlformats.org/drawingml/2006/main">
              <a:ext uri="{FF2B5EF4-FFF2-40B4-BE49-F238E27FC236}">
                <a16:creationId xmlns:a16="http://schemas.microsoft.com/office/drawing/2014/main" id="{EAC5CDDA-6C37-4339-9A0F-A8AC7C79AB4D}"/>
              </a:ext>
            </a:extLst>
          </p:cNvPr>
          <p:cNvSpPr>
            <a:spLocks xmlns:a="http://schemas.openxmlformats.org/drawingml/2006/main" noGrp="1"/>
          </p:cNvSpPr>
          <p:nvPr/>
        </p:nvSpPr>
        <p:spPr>
          <a:xfrm xmlns:a="http://schemas.openxmlformats.org/drawingml/2006/main">
            <a:off x="11144250" y="64865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754D35"/>
                </a:solidFill>
                <a:latin typeface="Arial"/>
                <a:ea typeface="Arial"/>
                <a:cs typeface="Arial"/>
              </a:defRPr>
            </a:pPr>
            <a:r>
              <a:rPr sz="900" b="1">
                <a:solidFill>
                  <a:srgbClr val="754D35"/>
                </a:solidFill>
                <a:latin typeface="Arial"/>
                <a:ea typeface="Arial"/>
                <a:cs typeface="Arial"/>
              </a:rPr>
              <a:t>04</a:t>
            </a:r>
          </a:p>
        </p:txBody>
      </p:sp>
    </p:spTree>
    <p:extLst>
      <p:ext uri="{BB962C8B-B14F-4D97-AF65-F5344CB8AC3E}">
        <p14:creationId xmlns:p14="http://schemas.microsoft.com/office/powerpoint/2010/main" val="395222008"/>
      </p:ext>
    </p:extLst>
  </p:cSld>
</p:sld>
</file>

<file path=ppt/slides/slide5.xml><?xml version="1.0" encoding="utf-8"?>
<p:sld xmlns:p="http://schemas.openxmlformats.org/presentationml/2006/main">
  <p:cSld>
    <p:bg>
      <p:bgPr>
        <a:solidFill xmlns:a="http://schemas.openxmlformats.org/drawingml/2006/main">
          <a:srgbClr val="F8F3E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6B6C224-8C67-48FD-ABF4-29145B286593}"/>
              </a:ext>
            </a:extLst>
          </p:cNvPr>
          <p:cNvSpPr>
            <a:spLocks xmlns:a="http://schemas.openxmlformats.org/drawingml/2006/main" noGrp="1"/>
          </p:cNvSpPr>
          <p:nvPr/>
        </p:nvSpPr>
        <p:spPr>
          <a:xfrm xmlns:a="http://schemas.openxmlformats.org/drawingml/2006/main">
            <a:off x="533400" y="228600"/>
            <a:ext cx="552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754D35"/>
                </a:solidFill>
                <a:latin typeface="Arial"/>
                <a:ea typeface="Arial"/>
                <a:cs typeface="Arial"/>
              </a:defRPr>
            </a:pPr>
            <a:r>
              <a:rPr sz="1050" b="1">
                <a:solidFill>
                  <a:srgbClr val="754D35"/>
                </a:solidFill>
                <a:latin typeface="Arial"/>
                <a:ea typeface="Arial"/>
                <a:cs typeface="Arial"/>
              </a:rPr>
              <a:t>FD CULINARY  /  PRESENTASI WEBSITE</a:t>
            </a:r>
          </a:p>
        </p:txBody>
      </p:sp>
      <p:sp>
        <p:nvSpPr>
          <p:cNvPr id="2" name="">
            <a:extLst xmlns:a="http://schemas.openxmlformats.org/drawingml/2006/main">
              <a:ext uri="{FF2B5EF4-FFF2-40B4-BE49-F238E27FC236}">
                <a16:creationId xmlns:a16="http://schemas.microsoft.com/office/drawing/2014/main" id="{9FC82F19-EBA2-4467-BFFA-0FC585F57E51}"/>
              </a:ext>
            </a:extLst>
          </p:cNvPr>
          <p:cNvSpPr>
            <a:spLocks xmlns:a="http://schemas.openxmlformats.org/drawingml/2006/main" noGrp="1"/>
          </p:cNvSpPr>
          <p:nvPr/>
        </p:nvSpPr>
        <p:spPr>
          <a:xfrm xmlns:a="http://schemas.openxmlformats.org/drawingml/2006/main">
            <a:off x="533400" y="5524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66744D"/>
                </a:solidFill>
                <a:latin typeface="Arial"/>
                <a:ea typeface="Arial"/>
                <a:cs typeface="Arial"/>
              </a:defRPr>
            </a:pPr>
            <a:r>
              <a:rPr sz="1050" b="1">
                <a:solidFill>
                  <a:srgbClr val="66744D"/>
                </a:solidFill>
                <a:latin typeface="Arial"/>
                <a:ea typeface="Arial"/>
                <a:cs typeface="Arial"/>
              </a:rPr>
              <a:t>UKURAN MINUMAN</a:t>
            </a:r>
          </a:p>
        </p:txBody>
      </p:sp>
      <p:sp>
        <p:nvSpPr>
          <p:cNvPr id="3" name="">
            <a:extLst xmlns:a="http://schemas.openxmlformats.org/drawingml/2006/main">
              <a:ext uri="{FF2B5EF4-FFF2-40B4-BE49-F238E27FC236}">
                <a16:creationId xmlns:a16="http://schemas.microsoft.com/office/drawing/2014/main" id="{BE02A865-61D7-456D-A3AE-C7E999C702F2}"/>
              </a:ext>
            </a:extLst>
          </p:cNvPr>
          <p:cNvSpPr>
            <a:spLocks xmlns:a="http://schemas.openxmlformats.org/drawingml/2006/main" noGrp="1"/>
          </p:cNvSpPr>
          <p:nvPr/>
        </p:nvSpPr>
        <p:spPr>
          <a:xfrm xmlns:a="http://schemas.openxmlformats.org/drawingml/2006/main">
            <a:off x="533400" y="80010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261D18"/>
                </a:solidFill>
                <a:latin typeface="Arial"/>
                <a:ea typeface="Arial"/>
                <a:cs typeface="Arial"/>
              </a:defRPr>
            </a:pPr>
            <a:r>
              <a:rPr sz="2850" b="1">
                <a:solidFill>
                  <a:srgbClr val="261D18"/>
                </a:solidFill>
                <a:latin typeface="Arial"/>
                <a:ea typeface="Arial"/>
                <a:cs typeface="Arial"/>
              </a:rPr>
              <a:t>Ganti 250 ml atau 1 L tanpa memuat ulang katalog</a:t>
            </a:r>
          </a:p>
        </p:txBody>
      </p:sp>
      <p:sp>
        <p:nvSpPr>
          <p:cNvPr id="4" name="">
            <a:extLst xmlns:a="http://schemas.openxmlformats.org/drawingml/2006/main">
              <a:ext uri="{FF2B5EF4-FFF2-40B4-BE49-F238E27FC236}">
                <a16:creationId xmlns:a16="http://schemas.microsoft.com/office/drawing/2014/main" id="{422B606A-27F9-409F-B532-244178773B0F}"/>
              </a:ext>
            </a:extLst>
          </p:cNvPr>
          <p:cNvSpPr>
            <a:spLocks xmlns:a="http://schemas.openxmlformats.org/drawingml/2006/main" noGrp="1"/>
          </p:cNvSpPr>
          <p:nvPr/>
        </p:nvSpPr>
        <p:spPr>
          <a:xfrm xmlns:a="http://schemas.openxmlformats.org/drawingml/2006/main">
            <a:off x="552450" y="1323975"/>
            <a:ext cx="1100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E655E"/>
                </a:solidFill>
                <a:latin typeface="Arial"/>
                <a:ea typeface="Arial"/>
                <a:cs typeface="Arial"/>
              </a:defRPr>
            </a:pPr>
            <a:r>
              <a:rPr sz="1350" b="0">
                <a:solidFill>
                  <a:srgbClr val="6E655E"/>
                </a:solidFill>
                <a:latin typeface="Arial"/>
                <a:ea typeface="Arial"/>
                <a:cs typeface="Arial"/>
              </a:rPr>
              <a:t>Pilihan ukuran memperbarui harga dan tampilan foto pada kartu produk secara langsung.</a:t>
            </a:r>
          </a:p>
        </p:txBody>
      </p:sp>
      <p:sp>
        <p:nvSpPr>
          <p:cNvPr id="5" name="">
            <a:extLst xmlns:a="http://schemas.openxmlformats.org/drawingml/2006/main">
              <a:ext uri="{FF2B5EF4-FFF2-40B4-BE49-F238E27FC236}">
                <a16:creationId xmlns:a16="http://schemas.microsoft.com/office/drawing/2014/main" id="{5853346B-AC5F-4AFA-AD84-E3E2B873CD44}"/>
              </a:ext>
            </a:extLst>
          </p:cNvPr>
          <p:cNvSpPr>
            <a:spLocks xmlns:a="http://schemas.openxmlformats.org/drawingml/2006/main" noGrp="1"/>
          </p:cNvSpPr>
          <p:nvPr/>
        </p:nvSpPr>
        <p:spPr>
          <a:xfrm xmlns:a="http://schemas.openxmlformats.org/drawingml/2006/main">
            <a:off x="533400" y="1685925"/>
            <a:ext cx="11125200" cy="19050"/>
          </a:xfrm>
          <a:prstGeom xmlns:a="http://schemas.openxmlformats.org/drawingml/2006/main" prst="rect">
            <a:avLst/>
          </a:prstGeom>
          <a:solidFill xmlns:a="http://schemas.openxmlformats.org/drawingml/2006/main">
            <a:srgbClr val="D8C9B7"/>
          </a:solidFill>
          <a:ln xmlns:a="http://schemas.openxmlformats.org/drawingml/2006/main" w="0">
            <a:no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22934d70d334c4a"/>
          <a:srcRect xmlns:a="http://schemas.openxmlformats.org/drawingml/2006/main" l="14485" t="0" r="14485" b="0"/>
          <a:stretch xmlns:a="http://schemas.openxmlformats.org/drawingml/2006/main">
            <a:fillRect l="0" t="0" r="0" b="0"/>
          </a:stretch>
        </p:blipFill>
        <p:spPr>
          <a:xfrm xmlns:a="http://schemas.openxmlformats.org/drawingml/2006/main">
            <a:off x="619125" y="2047875"/>
            <a:ext cx="3333750" cy="3143250"/>
          </a:xfrm>
          <a:prstGeom xmlns:a="http://schemas.openxmlformats.org/drawingml/2006/main" prst="roundRect">
            <a:avLst>
              <a:gd name="adj" fmla="val 5455"/>
            </a:avLst>
          </a:prstGeom>
        </p:spPr>
      </p:pic>
      <p:sp>
        <p:nvSpPr>
          <p:cNvPr id="7" name="">
            <a:extLst xmlns:a="http://schemas.openxmlformats.org/drawingml/2006/main">
              <a:ext uri="{FF2B5EF4-FFF2-40B4-BE49-F238E27FC236}">
                <a16:creationId xmlns:a16="http://schemas.microsoft.com/office/drawing/2014/main" id="{F5D6D389-9490-4AD4-8A48-F5509C9B25D0}"/>
              </a:ext>
            </a:extLst>
          </p:cNvPr>
          <p:cNvSpPr>
            <a:spLocks xmlns:a="http://schemas.openxmlformats.org/drawingml/2006/main" noGrp="1"/>
          </p:cNvSpPr>
          <p:nvPr/>
        </p:nvSpPr>
        <p:spPr>
          <a:xfrm xmlns:a="http://schemas.openxmlformats.org/drawingml/2006/main">
            <a:off x="4333875" y="2114550"/>
            <a:ext cx="3086100" cy="2324100"/>
          </a:xfrm>
          <a:prstGeom xmlns:a="http://schemas.openxmlformats.org/drawingml/2006/main" prst="roundRect">
            <a:avLst>
              <a:gd name="adj" fmla="val 6557"/>
            </a:avLst>
          </a:prstGeom>
          <a:solidFill xmlns:a="http://schemas.openxmlformats.org/drawingml/2006/main">
            <a:srgbClr val="FFFDF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D1646F2-E68D-4E64-8654-13581EBB4565}"/>
              </a:ext>
            </a:extLst>
          </p:cNvPr>
          <p:cNvSpPr>
            <a:spLocks xmlns:a="http://schemas.openxmlformats.org/drawingml/2006/main" noGrp="1"/>
          </p:cNvSpPr>
          <p:nvPr/>
        </p:nvSpPr>
        <p:spPr>
          <a:xfrm xmlns:a="http://schemas.openxmlformats.org/drawingml/2006/main">
            <a:off x="7620000" y="2114550"/>
            <a:ext cx="3695700" cy="2324100"/>
          </a:xfrm>
          <a:prstGeom xmlns:a="http://schemas.openxmlformats.org/drawingml/2006/main" prst="roundRect">
            <a:avLst>
              <a:gd name="adj" fmla="val 6557"/>
            </a:avLst>
          </a:prstGeom>
          <a:solidFill xmlns:a="http://schemas.openxmlformats.org/drawingml/2006/main">
            <a:srgbClr val="E9EBD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0BECABB-08D6-421A-85AB-43EF22D1DACD}"/>
              </a:ext>
            </a:extLst>
          </p:cNvPr>
          <p:cNvSpPr>
            <a:spLocks xmlns:a="http://schemas.openxmlformats.org/drawingml/2006/main" noGrp="1"/>
          </p:cNvSpPr>
          <p:nvPr/>
        </p:nvSpPr>
        <p:spPr>
          <a:xfrm xmlns:a="http://schemas.openxmlformats.org/drawingml/2006/main">
            <a:off x="4572000" y="23241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754D35"/>
                </a:solidFill>
                <a:latin typeface="Arial"/>
                <a:ea typeface="Arial"/>
                <a:cs typeface="Arial"/>
              </a:defRPr>
            </a:pPr>
            <a:r>
              <a:rPr sz="1875" b="1">
                <a:solidFill>
                  <a:srgbClr val="754D35"/>
                </a:solidFill>
                <a:latin typeface="Arial"/>
                <a:ea typeface="Arial"/>
                <a:cs typeface="Arial"/>
              </a:rPr>
              <a:t>250 ml</a:t>
            </a:r>
          </a:p>
        </p:txBody>
      </p:sp>
      <p:sp>
        <p:nvSpPr>
          <p:cNvPr id="10" name="">
            <a:extLst xmlns:a="http://schemas.openxmlformats.org/drawingml/2006/main">
              <a:ext uri="{FF2B5EF4-FFF2-40B4-BE49-F238E27FC236}">
                <a16:creationId xmlns:a16="http://schemas.microsoft.com/office/drawing/2014/main" id="{8B70C5E1-FE97-48AB-A83A-7753A6CB96BE}"/>
              </a:ext>
            </a:extLst>
          </p:cNvPr>
          <p:cNvSpPr>
            <a:spLocks xmlns:a="http://schemas.openxmlformats.org/drawingml/2006/main" noGrp="1"/>
          </p:cNvSpPr>
          <p:nvPr/>
        </p:nvSpPr>
        <p:spPr>
          <a:xfrm xmlns:a="http://schemas.openxmlformats.org/drawingml/2006/main">
            <a:off x="4572000" y="2819400"/>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6E655E"/>
                </a:solidFill>
                <a:latin typeface="Arial"/>
                <a:ea typeface="Arial"/>
                <a:cs typeface="Arial"/>
              </a:defRPr>
            </a:pPr>
            <a:r>
              <a:rPr sz="1425" b="0">
                <a:solidFill>
                  <a:srgbClr val="6E655E"/>
                </a:solidFill>
                <a:latin typeface="Arial"/>
                <a:ea typeface="Arial"/>
                <a:cs typeface="Arial"/>
              </a:rPr>
              <a:t>Harga ukuran kecil</a:t>
            </a:r>
          </a:p>
        </p:txBody>
      </p:sp>
      <p:sp>
        <p:nvSpPr>
          <p:cNvPr id="11" name="">
            <a:extLst xmlns:a="http://schemas.openxmlformats.org/drawingml/2006/main">
              <a:ext uri="{FF2B5EF4-FFF2-40B4-BE49-F238E27FC236}">
                <a16:creationId xmlns:a16="http://schemas.microsoft.com/office/drawing/2014/main" id="{97A3A229-56BD-4529-BEB5-DF4F874DE3B1}"/>
              </a:ext>
            </a:extLst>
          </p:cNvPr>
          <p:cNvSpPr>
            <a:spLocks xmlns:a="http://schemas.openxmlformats.org/drawingml/2006/main" noGrp="1"/>
          </p:cNvSpPr>
          <p:nvPr/>
        </p:nvSpPr>
        <p:spPr>
          <a:xfrm xmlns:a="http://schemas.openxmlformats.org/drawingml/2006/main">
            <a:off x="4572000" y="34099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1D18"/>
                </a:solidFill>
                <a:latin typeface="Arial"/>
                <a:ea typeface="Arial"/>
                <a:cs typeface="Arial"/>
              </a:defRPr>
            </a:pPr>
            <a:r>
              <a:rPr sz="1425" b="0">
                <a:solidFill>
                  <a:srgbClr val="261D18"/>
                </a:solidFill>
                <a:latin typeface="Arial"/>
                <a:ea typeface="Arial"/>
                <a:cs typeface="Arial"/>
              </a:rPr>
              <a:t>Foto pada skala kartu</a:t>
            </a:r>
          </a:p>
        </p:txBody>
      </p:sp>
      <p:sp>
        <p:nvSpPr>
          <p:cNvPr id="12" name="">
            <a:extLst xmlns:a="http://schemas.openxmlformats.org/drawingml/2006/main">
              <a:ext uri="{FF2B5EF4-FFF2-40B4-BE49-F238E27FC236}">
                <a16:creationId xmlns:a16="http://schemas.microsoft.com/office/drawing/2014/main" id="{2E299D45-36C2-4AA1-8167-5A82B81C9961}"/>
              </a:ext>
            </a:extLst>
          </p:cNvPr>
          <p:cNvSpPr>
            <a:spLocks xmlns:a="http://schemas.openxmlformats.org/drawingml/2006/main" noGrp="1"/>
          </p:cNvSpPr>
          <p:nvPr/>
        </p:nvSpPr>
        <p:spPr>
          <a:xfrm xmlns:a="http://schemas.openxmlformats.org/drawingml/2006/main">
            <a:off x="7867650" y="23241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66744D"/>
                </a:solidFill>
                <a:latin typeface="Arial"/>
                <a:ea typeface="Arial"/>
                <a:cs typeface="Arial"/>
              </a:defRPr>
            </a:pPr>
            <a:r>
              <a:rPr sz="1875" b="1">
                <a:solidFill>
                  <a:srgbClr val="66744D"/>
                </a:solidFill>
                <a:latin typeface="Arial"/>
                <a:ea typeface="Arial"/>
                <a:cs typeface="Arial"/>
              </a:rPr>
              <a:t>1 L</a:t>
            </a:r>
          </a:p>
        </p:txBody>
      </p:sp>
      <p:sp>
        <p:nvSpPr>
          <p:cNvPr id="13" name="">
            <a:extLst xmlns:a="http://schemas.openxmlformats.org/drawingml/2006/main">
              <a:ext uri="{FF2B5EF4-FFF2-40B4-BE49-F238E27FC236}">
                <a16:creationId xmlns:a16="http://schemas.microsoft.com/office/drawing/2014/main" id="{BF0D9AD5-FA5B-438E-BEA6-420BAB68EE79}"/>
              </a:ext>
            </a:extLst>
          </p:cNvPr>
          <p:cNvSpPr>
            <a:spLocks xmlns:a="http://schemas.openxmlformats.org/drawingml/2006/main" noGrp="1"/>
          </p:cNvSpPr>
          <p:nvPr/>
        </p:nvSpPr>
        <p:spPr>
          <a:xfrm xmlns:a="http://schemas.openxmlformats.org/drawingml/2006/main">
            <a:off x="7867650" y="281940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6E655E"/>
                </a:solidFill>
                <a:latin typeface="Arial"/>
                <a:ea typeface="Arial"/>
                <a:cs typeface="Arial"/>
              </a:defRPr>
            </a:pPr>
            <a:r>
              <a:rPr sz="1425" b="0">
                <a:solidFill>
                  <a:srgbClr val="6E655E"/>
                </a:solidFill>
                <a:latin typeface="Arial"/>
                <a:ea typeface="Arial"/>
                <a:cs typeface="Arial"/>
              </a:rPr>
              <a:t>Harga ukuran 1 L</a:t>
            </a:r>
          </a:p>
        </p:txBody>
      </p:sp>
      <p:sp>
        <p:nvSpPr>
          <p:cNvPr id="14" name="">
            <a:extLst xmlns:a="http://schemas.openxmlformats.org/drawingml/2006/main">
              <a:ext uri="{FF2B5EF4-FFF2-40B4-BE49-F238E27FC236}">
                <a16:creationId xmlns:a16="http://schemas.microsoft.com/office/drawing/2014/main" id="{3B095EC4-FA02-4BE3-B427-C69BA53E3A79}"/>
              </a:ext>
            </a:extLst>
          </p:cNvPr>
          <p:cNvSpPr>
            <a:spLocks xmlns:a="http://schemas.openxmlformats.org/drawingml/2006/main" noGrp="1"/>
          </p:cNvSpPr>
          <p:nvPr/>
        </p:nvSpPr>
        <p:spPr>
          <a:xfrm xmlns:a="http://schemas.openxmlformats.org/drawingml/2006/main">
            <a:off x="7867650" y="34099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1D18"/>
                </a:solidFill>
                <a:latin typeface="Arial"/>
                <a:ea typeface="Arial"/>
                <a:cs typeface="Arial"/>
              </a:defRPr>
            </a:pPr>
            <a:r>
              <a:rPr sz="1425" b="0">
                <a:solidFill>
                  <a:srgbClr val="261D18"/>
                </a:solidFill>
                <a:latin typeface="Arial"/>
                <a:ea typeface="Arial"/>
                <a:cs typeface="Arial"/>
              </a:rPr>
              <a:t>Foto yang sama diperbesar</a:t>
            </a:r>
          </a:p>
        </p:txBody>
      </p:sp>
      <p:sp>
        <p:nvSpPr>
          <p:cNvPr id="15" name="">
            <a:extLst xmlns:a="http://schemas.openxmlformats.org/drawingml/2006/main">
              <a:ext uri="{FF2B5EF4-FFF2-40B4-BE49-F238E27FC236}">
                <a16:creationId xmlns:a16="http://schemas.microsoft.com/office/drawing/2014/main" id="{03B4C56C-9DB4-4BBD-B738-341B6E737A27}"/>
              </a:ext>
            </a:extLst>
          </p:cNvPr>
          <p:cNvSpPr>
            <a:spLocks xmlns:a="http://schemas.openxmlformats.org/drawingml/2006/main" noGrp="1"/>
          </p:cNvSpPr>
          <p:nvPr/>
        </p:nvSpPr>
        <p:spPr>
          <a:xfrm xmlns:a="http://schemas.openxmlformats.org/drawingml/2006/main">
            <a:off x="638175" y="541020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66744D"/>
                </a:solidFill>
                <a:latin typeface="Arial"/>
                <a:ea typeface="Arial"/>
                <a:cs typeface="Arial"/>
              </a:defRPr>
            </a:pPr>
            <a:r>
              <a:rPr sz="1200" b="1">
                <a:solidFill>
                  <a:srgbClr val="66744D"/>
                </a:solidFill>
                <a:latin typeface="Arial"/>
                <a:ea typeface="Arial"/>
                <a:cs typeface="Arial"/>
              </a:rPr>
              <a:t>Catatan foto</a:t>
            </a:r>
          </a:p>
        </p:txBody>
      </p:sp>
      <p:sp>
        <p:nvSpPr>
          <p:cNvPr id="16" name="">
            <a:extLst xmlns:a="http://schemas.openxmlformats.org/drawingml/2006/main">
              <a:ext uri="{FF2B5EF4-FFF2-40B4-BE49-F238E27FC236}">
                <a16:creationId xmlns:a16="http://schemas.microsoft.com/office/drawing/2014/main" id="{46E82355-7AD7-4979-ABC0-4247756A67C8}"/>
              </a:ext>
            </a:extLst>
          </p:cNvPr>
          <p:cNvSpPr>
            <a:spLocks xmlns:a="http://schemas.openxmlformats.org/drawingml/2006/main" noGrp="1"/>
          </p:cNvSpPr>
          <p:nvPr/>
        </p:nvSpPr>
        <p:spPr>
          <a:xfrm xmlns:a="http://schemas.openxmlformats.org/drawingml/2006/main">
            <a:off x="2076450" y="5295900"/>
            <a:ext cx="914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E655E"/>
                </a:solidFill>
                <a:latin typeface="Arial"/>
                <a:ea typeface="Arial"/>
                <a:cs typeface="Arial"/>
              </a:defRPr>
            </a:pPr>
            <a:r>
              <a:rPr sz="1425" b="0">
                <a:solidFill>
                  <a:srgbClr val="6E655E"/>
                </a:solidFill>
                <a:latin typeface="Arial"/>
                <a:ea typeface="Arial"/>
                <a:cs typeface="Arial"/>
              </a:rPr>
              <a:t>Foto botol khusus 1 L belum tersedia; kartu menggunakan foto produk yang sama dengan skala visual lebih besar.</a:t>
            </a:r>
          </a:p>
        </p:txBody>
      </p:sp>
      <p:sp>
        <p:nvSpPr>
          <p:cNvPr id="17" name="">
            <a:extLst xmlns:a="http://schemas.openxmlformats.org/drawingml/2006/main">
              <a:ext uri="{FF2B5EF4-FFF2-40B4-BE49-F238E27FC236}">
                <a16:creationId xmlns:a16="http://schemas.microsoft.com/office/drawing/2014/main" id="{8B39528F-580D-4319-9DA5-78AD0371A0DB}"/>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4316D94-1CEF-4048-BDED-B6DC1F6822EA}"/>
              </a:ext>
            </a:extLst>
          </p:cNvPr>
          <p:cNvSpPr>
            <a:spLocks xmlns:a="http://schemas.openxmlformats.org/drawingml/2006/main" noGrp="1"/>
          </p:cNvSpPr>
          <p:nvPr/>
        </p:nvSpPr>
        <p:spPr>
          <a:xfrm xmlns:a="http://schemas.openxmlformats.org/drawingml/2006/main">
            <a:off x="53340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6E655E"/>
                </a:solidFill>
                <a:latin typeface="Arial"/>
                <a:ea typeface="Arial"/>
                <a:cs typeface="Arial"/>
              </a:defRPr>
            </a:pPr>
            <a:r>
              <a:rPr sz="900" b="0">
                <a:solidFill>
                  <a:srgbClr val="6E655E"/>
                </a:solidFill>
                <a:latin typeface="Arial"/>
                <a:ea typeface="Arial"/>
                <a:cs typeface="Arial"/>
              </a:rPr>
              <a:t>FD Culinary  •  Gambaran versi website saat ini</a:t>
            </a:r>
          </a:p>
        </p:txBody>
      </p:sp>
      <p:sp>
        <p:nvSpPr>
          <p:cNvPr id="19" name="">
            <a:extLst xmlns:a="http://schemas.openxmlformats.org/drawingml/2006/main">
              <a:ext uri="{FF2B5EF4-FFF2-40B4-BE49-F238E27FC236}">
                <a16:creationId xmlns:a16="http://schemas.microsoft.com/office/drawing/2014/main" id="{E22604D8-1603-4044-A1CE-992787D880EF}"/>
              </a:ext>
            </a:extLst>
          </p:cNvPr>
          <p:cNvSpPr>
            <a:spLocks xmlns:a="http://schemas.openxmlformats.org/drawingml/2006/main" noGrp="1"/>
          </p:cNvSpPr>
          <p:nvPr/>
        </p:nvSpPr>
        <p:spPr>
          <a:xfrm xmlns:a="http://schemas.openxmlformats.org/drawingml/2006/main">
            <a:off x="11144250" y="64865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754D35"/>
                </a:solidFill>
                <a:latin typeface="Arial"/>
                <a:ea typeface="Arial"/>
                <a:cs typeface="Arial"/>
              </a:defRPr>
            </a:pPr>
            <a:r>
              <a:rPr sz="900" b="1">
                <a:solidFill>
                  <a:srgbClr val="754D35"/>
                </a:solidFill>
                <a:latin typeface="Arial"/>
                <a:ea typeface="Arial"/>
                <a:cs typeface="Arial"/>
              </a:rPr>
              <a:t>05</a:t>
            </a:r>
          </a:p>
        </p:txBody>
      </p:sp>
    </p:spTree>
    <p:extLst>
      <p:ext uri="{BB962C8B-B14F-4D97-AF65-F5344CB8AC3E}">
        <p14:creationId xmlns:p14="http://schemas.microsoft.com/office/powerpoint/2010/main" val="1870273555"/>
      </p:ext>
    </p:extLst>
  </p:cSld>
</p:sld>
</file>

<file path=ppt/slides/slide6.xml><?xml version="1.0" encoding="utf-8"?>
<p:sld xmlns:p="http://schemas.openxmlformats.org/presentationml/2006/main">
  <p:cSld>
    <p:bg>
      <p:bgPr>
        <a:solidFill xmlns:a="http://schemas.openxmlformats.org/drawingml/2006/main">
          <a:srgbClr val="F8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89E8C48-0354-4E6D-A7CA-0D37FC98C463}"/>
              </a:ext>
            </a:extLst>
          </p:cNvPr>
          <p:cNvSpPr>
            <a:spLocks xmlns:a="http://schemas.openxmlformats.org/drawingml/2006/main" noGrp="1"/>
          </p:cNvSpPr>
          <p:nvPr/>
        </p:nvSpPr>
        <p:spPr>
          <a:xfrm xmlns:a="http://schemas.openxmlformats.org/drawingml/2006/main">
            <a:off x="533400" y="228600"/>
            <a:ext cx="552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754D35"/>
                </a:solidFill>
                <a:latin typeface="Arial"/>
                <a:ea typeface="Arial"/>
                <a:cs typeface="Arial"/>
              </a:defRPr>
            </a:pPr>
            <a:r>
              <a:rPr sz="1050" b="1">
                <a:solidFill>
                  <a:srgbClr val="754D35"/>
                </a:solidFill>
                <a:latin typeface="Arial"/>
                <a:ea typeface="Arial"/>
                <a:cs typeface="Arial"/>
              </a:rPr>
              <a:t>FD CULINARY  /  PRESENTASI WEBSITE</a:t>
            </a:r>
          </a:p>
        </p:txBody>
      </p:sp>
      <p:sp>
        <p:nvSpPr>
          <p:cNvPr id="2" name="">
            <a:extLst xmlns:a="http://schemas.openxmlformats.org/drawingml/2006/main">
              <a:ext uri="{FF2B5EF4-FFF2-40B4-BE49-F238E27FC236}">
                <a16:creationId xmlns:a16="http://schemas.microsoft.com/office/drawing/2014/main" id="{29B7A43C-2C00-4740-B5CA-C8D8B1428483}"/>
              </a:ext>
            </a:extLst>
          </p:cNvPr>
          <p:cNvSpPr>
            <a:spLocks xmlns:a="http://schemas.openxmlformats.org/drawingml/2006/main" noGrp="1"/>
          </p:cNvSpPr>
          <p:nvPr/>
        </p:nvSpPr>
        <p:spPr>
          <a:xfrm xmlns:a="http://schemas.openxmlformats.org/drawingml/2006/main">
            <a:off x="533400" y="5524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66744D"/>
                </a:solidFill>
                <a:latin typeface="Arial"/>
                <a:ea typeface="Arial"/>
                <a:cs typeface="Arial"/>
              </a:defRPr>
            </a:pPr>
            <a:r>
              <a:rPr sz="1050" b="1">
                <a:solidFill>
                  <a:srgbClr val="66744D"/>
                </a:solidFill>
                <a:latin typeface="Arial"/>
                <a:ea typeface="Arial"/>
                <a:cs typeface="Arial"/>
              </a:rPr>
              <a:t>KATALOG MINUMAN</a:t>
            </a:r>
          </a:p>
        </p:txBody>
      </p:sp>
      <p:sp>
        <p:nvSpPr>
          <p:cNvPr id="3" name="">
            <a:extLst xmlns:a="http://schemas.openxmlformats.org/drawingml/2006/main">
              <a:ext uri="{FF2B5EF4-FFF2-40B4-BE49-F238E27FC236}">
                <a16:creationId xmlns:a16="http://schemas.microsoft.com/office/drawing/2014/main" id="{5FB47FC7-8C91-4FE6-82C0-CB78E94541C7}"/>
              </a:ext>
            </a:extLst>
          </p:cNvPr>
          <p:cNvSpPr>
            <a:spLocks xmlns:a="http://schemas.openxmlformats.org/drawingml/2006/main" noGrp="1"/>
          </p:cNvSpPr>
          <p:nvPr/>
        </p:nvSpPr>
        <p:spPr>
          <a:xfrm xmlns:a="http://schemas.openxmlformats.org/drawingml/2006/main">
            <a:off x="533400" y="80010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261D18"/>
                </a:solidFill>
                <a:latin typeface="Arial"/>
                <a:ea typeface="Arial"/>
                <a:cs typeface="Arial"/>
              </a:defRPr>
            </a:pPr>
            <a:r>
              <a:rPr sz="2850" b="1">
                <a:solidFill>
                  <a:srgbClr val="261D18"/>
                </a:solidFill>
                <a:latin typeface="Arial"/>
                <a:ea typeface="Arial"/>
                <a:cs typeface="Arial"/>
              </a:rPr>
              <a:t>Harga ukuran 250 ml dan 1 L</a:t>
            </a:r>
          </a:p>
        </p:txBody>
      </p:sp>
      <p:sp>
        <p:nvSpPr>
          <p:cNvPr id="4" name="">
            <a:extLst xmlns:a="http://schemas.openxmlformats.org/drawingml/2006/main">
              <a:ext uri="{FF2B5EF4-FFF2-40B4-BE49-F238E27FC236}">
                <a16:creationId xmlns:a16="http://schemas.microsoft.com/office/drawing/2014/main" id="{FB12EFDE-0083-49B6-B0E8-A8350117E681}"/>
              </a:ext>
            </a:extLst>
          </p:cNvPr>
          <p:cNvSpPr>
            <a:spLocks xmlns:a="http://schemas.openxmlformats.org/drawingml/2006/main" noGrp="1"/>
          </p:cNvSpPr>
          <p:nvPr/>
        </p:nvSpPr>
        <p:spPr>
          <a:xfrm xmlns:a="http://schemas.openxmlformats.org/drawingml/2006/main">
            <a:off x="552450" y="1323975"/>
            <a:ext cx="1100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E655E"/>
                </a:solidFill>
                <a:latin typeface="Arial"/>
                <a:ea typeface="Arial"/>
                <a:cs typeface="Arial"/>
              </a:defRPr>
            </a:pPr>
            <a:r>
              <a:rPr sz="1350" b="0">
                <a:solidFill>
                  <a:srgbClr val="6E655E"/>
                </a:solidFill>
                <a:latin typeface="Arial"/>
                <a:ea typeface="Arial"/>
                <a:cs typeface="Arial"/>
              </a:rPr>
              <a:t>Harga mengikuti poster menu FD Drinks yang diberikan klien; konfirmasi kembali sebelum publikasi.</a:t>
            </a:r>
          </a:p>
        </p:txBody>
      </p:sp>
      <p:sp>
        <p:nvSpPr>
          <p:cNvPr id="5" name="">
            <a:extLst xmlns:a="http://schemas.openxmlformats.org/drawingml/2006/main">
              <a:ext uri="{FF2B5EF4-FFF2-40B4-BE49-F238E27FC236}">
                <a16:creationId xmlns:a16="http://schemas.microsoft.com/office/drawing/2014/main" id="{9A3DC65B-53C0-4E7A-BA68-A7542D90C1BF}"/>
              </a:ext>
            </a:extLst>
          </p:cNvPr>
          <p:cNvSpPr>
            <a:spLocks xmlns:a="http://schemas.openxmlformats.org/drawingml/2006/main" noGrp="1"/>
          </p:cNvSpPr>
          <p:nvPr/>
        </p:nvSpPr>
        <p:spPr>
          <a:xfrm xmlns:a="http://schemas.openxmlformats.org/drawingml/2006/main">
            <a:off x="533400" y="1685925"/>
            <a:ext cx="11125200" cy="19050"/>
          </a:xfrm>
          <a:prstGeom xmlns:a="http://schemas.openxmlformats.org/drawingml/2006/main" prst="rect">
            <a:avLst/>
          </a:prstGeom>
          <a:solidFill xmlns:a="http://schemas.openxmlformats.org/drawingml/2006/main">
            <a:srgbClr val="D8C9B7"/>
          </a:solidFill>
          <a:ln xmlns:a="http://schemas.openxmlformats.org/drawingml/2006/main" w="0">
            <a:noFill/>
          </a:ln>
        </p:spPr>
      </p:sp>
      <p:graphicFrame>
        <p:nvGraphicFramePr>
          <p:cNvPr id="16" name=""/>
          <p:cNvGraphicFramePr/>
          <p:nvPr/>
        </p:nvGraphicFramePr>
        <p:xfrm>
          <a:off xmlns:a="http://schemas.openxmlformats.org/drawingml/2006/main" x="628650" y="1933575"/>
          <a:ext xmlns:a="http://schemas.openxmlformats.org/drawingml/2006/main" cx="10934700" cy="3943350"/>
        </p:xfrm>
        <a:graphic xmlns:a="http://schemas.openxmlformats.org/drawingml/2006/main">
          <a:graphicData uri="http://schemas.openxmlformats.org/drawingml/2006/table">
            <a:tbl>
              <a:tblPr/>
              <a:tblGrid>
                <a:gridCol w="3644900"/>
                <a:gridCol w="3644900"/>
                <a:gridCol w="3644900"/>
              </a:tblGrid>
              <a:tr h="358486">
                <a:tc>
                  <a:txBody>
                    <a:bodyPr>
                      <a:normAutofit/>
                    </a:bodyPr>
                    <a:lstStyle/>
                    <a:p>
                      <a:pPr algn="l"/>
                      <a:r>
                        <a:rPr sz="1200" b="1">
                          <a:solidFill>
                            <a:srgbClr val="FFFDF9"/>
                          </a:solidFill>
                          <a:latin typeface="Arial"/>
                          <a:ea typeface="Arial"/>
                          <a:cs typeface="Arial"/>
                        </a:rPr>
                        <a:t>Jenis minuman</a:t>
                      </a:r>
                    </a:p>
                  </a:txBody>
                  <a:tcPr marL="91440" marR="91440" marT="45720" marB="45720" anchor="ctr">
                    <a:solidFill>
                      <a:srgbClr val="754D35"/>
                    </a:solidFill>
                  </a:tcPr>
                </a:tc>
                <a:tc>
                  <a:txBody>
                    <a:bodyPr>
                      <a:normAutofit/>
                    </a:bodyPr>
                    <a:lstStyle/>
                    <a:p>
                      <a:pPr algn="ctr"/>
                      <a:r>
                        <a:rPr sz="1200" b="1">
                          <a:solidFill>
                            <a:srgbClr val="FFFDF9"/>
                          </a:solidFill>
                          <a:latin typeface="Arial"/>
                          <a:ea typeface="Arial"/>
                          <a:cs typeface="Arial"/>
                        </a:rPr>
                        <a:t>250 ml</a:t>
                      </a:r>
                    </a:p>
                  </a:txBody>
                  <a:tcPr marL="91440" marR="91440" marT="45720" marB="45720" anchor="ctr">
                    <a:solidFill>
                      <a:srgbClr val="754D35"/>
                    </a:solidFill>
                  </a:tcPr>
                </a:tc>
                <a:tc>
                  <a:txBody>
                    <a:bodyPr>
                      <a:normAutofit/>
                    </a:bodyPr>
                    <a:lstStyle/>
                    <a:p>
                      <a:pPr algn="ctr"/>
                      <a:r>
                        <a:rPr sz="1200" b="1">
                          <a:solidFill>
                            <a:srgbClr val="FFFDF9"/>
                          </a:solidFill>
                          <a:latin typeface="Arial"/>
                          <a:ea typeface="Arial"/>
                          <a:cs typeface="Arial"/>
                        </a:rPr>
                        <a:t>1 L</a:t>
                      </a:r>
                    </a:p>
                  </a:txBody>
                  <a:tcPr marL="91440" marR="91440" marT="45720" marB="45720" anchor="ctr">
                    <a:solidFill>
                      <a:srgbClr val="754D35"/>
                    </a:solidFill>
                  </a:tcPr>
                </a:tc>
              </a:tr>
              <a:tr h="358486">
                <a:tc>
                  <a:txBody>
                    <a:bodyPr>
                      <a:normAutofit/>
                    </a:bodyPr>
                    <a:lstStyle/>
                    <a:p>
                      <a:pPr algn="l"/>
                      <a:r>
                        <a:rPr sz="1275" b="0">
                          <a:solidFill>
                            <a:srgbClr val="261D18"/>
                          </a:solidFill>
                          <a:latin typeface="Arial"/>
                          <a:ea typeface="Arial"/>
                          <a:cs typeface="Arial"/>
                        </a:rPr>
                        <a:t>Roasted Jasmine Milktea</a:t>
                      </a:r>
                    </a:p>
                  </a:txBody>
                  <a:tcPr marL="91440" marR="91440" marT="45720" marB="45720" anchor="ctr">
                    <a:solidFill>
                      <a:srgbClr val="FFFDF9"/>
                    </a:solidFill>
                  </a:tcPr>
                </a:tc>
                <a:tc>
                  <a:txBody>
                    <a:bodyPr>
                      <a:normAutofit/>
                    </a:bodyPr>
                    <a:lstStyle/>
                    <a:p>
                      <a:pPr algn="ctr"/>
                      <a:r>
                        <a:rPr sz="1275" b="0">
                          <a:solidFill>
                            <a:srgbClr val="261D18"/>
                          </a:solidFill>
                          <a:latin typeface="Arial"/>
                          <a:ea typeface="Arial"/>
                          <a:cs typeface="Arial"/>
                        </a:rPr>
                        <a:t>Rp16.000</a:t>
                      </a:r>
                    </a:p>
                  </a:txBody>
                  <a:tcPr marL="91440" marR="91440" marT="45720" marB="45720" anchor="ctr">
                    <a:solidFill>
                      <a:srgbClr val="FFFDF9"/>
                    </a:solidFill>
                  </a:tcPr>
                </a:tc>
                <a:tc>
                  <a:txBody>
                    <a:bodyPr>
                      <a:normAutofit/>
                    </a:bodyPr>
                    <a:lstStyle/>
                    <a:p>
                      <a:pPr algn="ctr"/>
                      <a:r>
                        <a:rPr sz="1275" b="0">
                          <a:solidFill>
                            <a:srgbClr val="261D18"/>
                          </a:solidFill>
                          <a:latin typeface="Arial"/>
                          <a:ea typeface="Arial"/>
                          <a:cs typeface="Arial"/>
                        </a:rPr>
                        <a:t>Rp56.000</a:t>
                      </a:r>
                    </a:p>
                  </a:txBody>
                  <a:tcPr marL="91440" marR="91440" marT="45720" marB="45720" anchor="ctr">
                    <a:solidFill>
                      <a:srgbClr val="FFFDF9"/>
                    </a:solidFill>
                  </a:tcPr>
                </a:tc>
              </a:tr>
              <a:tr h="358486">
                <a:tc>
                  <a:txBody>
                    <a:bodyPr>
                      <a:normAutofit/>
                    </a:bodyPr>
                    <a:lstStyle/>
                    <a:p>
                      <a:pPr algn="l"/>
                      <a:r>
                        <a:rPr sz="1275" b="0">
                          <a:solidFill>
                            <a:srgbClr val="261D18"/>
                          </a:solidFill>
                          <a:latin typeface="Arial"/>
                          <a:ea typeface="Arial"/>
                          <a:cs typeface="Arial"/>
                        </a:rPr>
                        <a:t>Roasted Oolong Milktea</a:t>
                      </a:r>
                    </a:p>
                  </a:txBody>
                  <a:tcPr marL="91440" marR="91440" marT="45720" marB="45720" anchor="ctr">
                    <a:solidFill>
                      <a:srgbClr val="EEE4D6"/>
                    </a:solidFill>
                  </a:tcPr>
                </a:tc>
                <a:tc>
                  <a:txBody>
                    <a:bodyPr>
                      <a:normAutofit/>
                    </a:bodyPr>
                    <a:lstStyle/>
                    <a:p>
                      <a:pPr algn="ctr"/>
                      <a:r>
                        <a:rPr sz="1275" b="0">
                          <a:solidFill>
                            <a:srgbClr val="261D18"/>
                          </a:solidFill>
                          <a:latin typeface="Arial"/>
                          <a:ea typeface="Arial"/>
                          <a:cs typeface="Arial"/>
                        </a:rPr>
                        <a:t>Rp16.000</a:t>
                      </a:r>
                    </a:p>
                  </a:txBody>
                  <a:tcPr marL="91440" marR="91440" marT="45720" marB="45720" anchor="ctr">
                    <a:solidFill>
                      <a:srgbClr val="EEE4D6"/>
                    </a:solidFill>
                  </a:tcPr>
                </a:tc>
                <a:tc>
                  <a:txBody>
                    <a:bodyPr>
                      <a:normAutofit/>
                    </a:bodyPr>
                    <a:lstStyle/>
                    <a:p>
                      <a:pPr algn="ctr"/>
                      <a:r>
                        <a:rPr sz="1275" b="0">
                          <a:solidFill>
                            <a:srgbClr val="261D18"/>
                          </a:solidFill>
                          <a:latin typeface="Arial"/>
                          <a:ea typeface="Arial"/>
                          <a:cs typeface="Arial"/>
                        </a:rPr>
                        <a:t>Rp56.000</a:t>
                      </a:r>
                    </a:p>
                  </a:txBody>
                  <a:tcPr marL="91440" marR="91440" marT="45720" marB="45720" anchor="ctr">
                    <a:solidFill>
                      <a:srgbClr val="EEE4D6"/>
                    </a:solidFill>
                  </a:tcPr>
                </a:tc>
              </a:tr>
              <a:tr h="358486">
                <a:tc>
                  <a:txBody>
                    <a:bodyPr>
                      <a:normAutofit/>
                    </a:bodyPr>
                    <a:lstStyle/>
                    <a:p>
                      <a:pPr algn="l"/>
                      <a:r>
                        <a:rPr sz="1275" b="0">
                          <a:solidFill>
                            <a:srgbClr val="261D18"/>
                          </a:solidFill>
                          <a:latin typeface="Arial"/>
                          <a:ea typeface="Arial"/>
                          <a:cs typeface="Arial"/>
                        </a:rPr>
                        <a:t>Blooming Jasmine</a:t>
                      </a:r>
                    </a:p>
                  </a:txBody>
                  <a:tcPr marL="91440" marR="91440" marT="45720" marB="45720" anchor="ctr">
                    <a:solidFill>
                      <a:srgbClr val="FFFDF9"/>
                    </a:solidFill>
                  </a:tcPr>
                </a:tc>
                <a:tc>
                  <a:txBody>
                    <a:bodyPr>
                      <a:normAutofit/>
                    </a:bodyPr>
                    <a:lstStyle/>
                    <a:p>
                      <a:pPr algn="ctr"/>
                      <a:r>
                        <a:rPr sz="1275" b="0">
                          <a:solidFill>
                            <a:srgbClr val="261D18"/>
                          </a:solidFill>
                          <a:latin typeface="Arial"/>
                          <a:ea typeface="Arial"/>
                          <a:cs typeface="Arial"/>
                        </a:rPr>
                        <a:t>Rp25.000</a:t>
                      </a:r>
                    </a:p>
                  </a:txBody>
                  <a:tcPr marL="91440" marR="91440" marT="45720" marB="45720" anchor="ctr">
                    <a:solidFill>
                      <a:srgbClr val="FFFDF9"/>
                    </a:solidFill>
                  </a:tcPr>
                </a:tc>
                <a:tc>
                  <a:txBody>
                    <a:bodyPr>
                      <a:normAutofit/>
                    </a:bodyPr>
                    <a:lstStyle/>
                    <a:p>
                      <a:pPr algn="ctr"/>
                      <a:r>
                        <a:rPr sz="1275" b="0">
                          <a:solidFill>
                            <a:srgbClr val="261D18"/>
                          </a:solidFill>
                          <a:latin typeface="Arial"/>
                          <a:ea typeface="Arial"/>
                          <a:cs typeface="Arial"/>
                        </a:rPr>
                        <a:t>Rp95.000</a:t>
                      </a:r>
                    </a:p>
                  </a:txBody>
                  <a:tcPr marL="91440" marR="91440" marT="45720" marB="45720" anchor="ctr">
                    <a:solidFill>
                      <a:srgbClr val="FFFDF9"/>
                    </a:solidFill>
                  </a:tcPr>
                </a:tc>
              </a:tr>
              <a:tr h="358486">
                <a:tc>
                  <a:txBody>
                    <a:bodyPr>
                      <a:normAutofit/>
                    </a:bodyPr>
                    <a:lstStyle/>
                    <a:p>
                      <a:pPr algn="l"/>
                      <a:r>
                        <a:rPr sz="1275" b="0">
                          <a:solidFill>
                            <a:srgbClr val="261D18"/>
                          </a:solidFill>
                          <a:latin typeface="Arial"/>
                          <a:ea typeface="Arial"/>
                          <a:cs typeface="Arial"/>
                        </a:rPr>
                        <a:t>Matcha Latte</a:t>
                      </a:r>
                    </a:p>
                  </a:txBody>
                  <a:tcPr marL="91440" marR="91440" marT="45720" marB="45720" anchor="ctr">
                    <a:solidFill>
                      <a:srgbClr val="EEE4D6"/>
                    </a:solidFill>
                  </a:tcPr>
                </a:tc>
                <a:tc>
                  <a:txBody>
                    <a:bodyPr>
                      <a:normAutofit/>
                    </a:bodyPr>
                    <a:lstStyle/>
                    <a:p>
                      <a:pPr algn="ctr"/>
                      <a:r>
                        <a:rPr sz="1275" b="0">
                          <a:solidFill>
                            <a:srgbClr val="261D18"/>
                          </a:solidFill>
                          <a:latin typeface="Arial"/>
                          <a:ea typeface="Arial"/>
                          <a:cs typeface="Arial"/>
                        </a:rPr>
                        <a:t>Rp18.000</a:t>
                      </a:r>
                    </a:p>
                  </a:txBody>
                  <a:tcPr marL="91440" marR="91440" marT="45720" marB="45720" anchor="ctr">
                    <a:solidFill>
                      <a:srgbClr val="EEE4D6"/>
                    </a:solidFill>
                  </a:tcPr>
                </a:tc>
                <a:tc>
                  <a:txBody>
                    <a:bodyPr>
                      <a:normAutofit/>
                    </a:bodyPr>
                    <a:lstStyle/>
                    <a:p>
                      <a:pPr algn="ctr"/>
                      <a:r>
                        <a:rPr sz="1275" b="0">
                          <a:solidFill>
                            <a:srgbClr val="261D18"/>
                          </a:solidFill>
                          <a:latin typeface="Arial"/>
                          <a:ea typeface="Arial"/>
                          <a:cs typeface="Arial"/>
                        </a:rPr>
                        <a:t>Rp68.000</a:t>
                      </a:r>
                    </a:p>
                  </a:txBody>
                  <a:tcPr marL="91440" marR="91440" marT="45720" marB="45720" anchor="ctr">
                    <a:solidFill>
                      <a:srgbClr val="EEE4D6"/>
                    </a:solidFill>
                  </a:tcPr>
                </a:tc>
              </a:tr>
              <a:tr h="358486">
                <a:tc>
                  <a:txBody>
                    <a:bodyPr>
                      <a:normAutofit/>
                    </a:bodyPr>
                    <a:lstStyle/>
                    <a:p>
                      <a:pPr algn="l"/>
                      <a:r>
                        <a:rPr sz="1275" b="0">
                          <a:solidFill>
                            <a:srgbClr val="261D18"/>
                          </a:solidFill>
                          <a:latin typeface="Arial"/>
                          <a:ea typeface="Arial"/>
                          <a:cs typeface="Arial"/>
                        </a:rPr>
                        <a:t>Matcha Oat Latte</a:t>
                      </a:r>
                    </a:p>
                  </a:txBody>
                  <a:tcPr marL="91440" marR="91440" marT="45720" marB="45720" anchor="ctr">
                    <a:solidFill>
                      <a:srgbClr val="FFFDF9"/>
                    </a:solidFill>
                  </a:tcPr>
                </a:tc>
                <a:tc>
                  <a:txBody>
                    <a:bodyPr>
                      <a:normAutofit/>
                    </a:bodyPr>
                    <a:lstStyle/>
                    <a:p>
                      <a:pPr algn="ctr"/>
                      <a:r>
                        <a:rPr sz="1275" b="0">
                          <a:solidFill>
                            <a:srgbClr val="261D18"/>
                          </a:solidFill>
                          <a:latin typeface="Arial"/>
                          <a:ea typeface="Arial"/>
                          <a:cs typeface="Arial"/>
                        </a:rPr>
                        <a:t>Rp24.000</a:t>
                      </a:r>
                    </a:p>
                  </a:txBody>
                  <a:tcPr marL="91440" marR="91440" marT="45720" marB="45720" anchor="ctr">
                    <a:solidFill>
                      <a:srgbClr val="FFFDF9"/>
                    </a:solidFill>
                  </a:tcPr>
                </a:tc>
                <a:tc>
                  <a:txBody>
                    <a:bodyPr>
                      <a:normAutofit/>
                    </a:bodyPr>
                    <a:lstStyle/>
                    <a:p>
                      <a:pPr algn="ctr"/>
                      <a:r>
                        <a:rPr sz="1275" b="0">
                          <a:solidFill>
                            <a:srgbClr val="261D18"/>
                          </a:solidFill>
                          <a:latin typeface="Arial"/>
                          <a:ea typeface="Arial"/>
                          <a:cs typeface="Arial"/>
                        </a:rPr>
                        <a:t>Rp90.000</a:t>
                      </a:r>
                    </a:p>
                  </a:txBody>
                  <a:tcPr marL="91440" marR="91440" marT="45720" marB="45720" anchor="ctr">
                    <a:solidFill>
                      <a:srgbClr val="FFFDF9"/>
                    </a:solidFill>
                  </a:tcPr>
                </a:tc>
              </a:tr>
              <a:tr h="358486">
                <a:tc>
                  <a:txBody>
                    <a:bodyPr>
                      <a:normAutofit/>
                    </a:bodyPr>
                    <a:lstStyle/>
                    <a:p>
                      <a:pPr algn="l"/>
                      <a:r>
                        <a:rPr sz="1275" b="0">
                          <a:solidFill>
                            <a:srgbClr val="261D18"/>
                          </a:solidFill>
                          <a:latin typeface="Arial"/>
                          <a:ea typeface="Arial"/>
                          <a:cs typeface="Arial"/>
                        </a:rPr>
                        <a:t>Choco Hazelnut</a:t>
                      </a:r>
                    </a:p>
                  </a:txBody>
                  <a:tcPr marL="91440" marR="91440" marT="45720" marB="45720" anchor="ctr">
                    <a:solidFill>
                      <a:srgbClr val="EEE4D6"/>
                    </a:solidFill>
                  </a:tcPr>
                </a:tc>
                <a:tc>
                  <a:txBody>
                    <a:bodyPr>
                      <a:normAutofit/>
                    </a:bodyPr>
                    <a:lstStyle/>
                    <a:p>
                      <a:pPr algn="ctr"/>
                      <a:r>
                        <a:rPr sz="1275" b="0">
                          <a:solidFill>
                            <a:srgbClr val="261D18"/>
                          </a:solidFill>
                          <a:latin typeface="Arial"/>
                          <a:ea typeface="Arial"/>
                          <a:cs typeface="Arial"/>
                        </a:rPr>
                        <a:t>Rp18.000</a:t>
                      </a:r>
                    </a:p>
                  </a:txBody>
                  <a:tcPr marL="91440" marR="91440" marT="45720" marB="45720" anchor="ctr">
                    <a:solidFill>
                      <a:srgbClr val="EEE4D6"/>
                    </a:solidFill>
                  </a:tcPr>
                </a:tc>
                <a:tc>
                  <a:txBody>
                    <a:bodyPr>
                      <a:normAutofit/>
                    </a:bodyPr>
                    <a:lstStyle/>
                    <a:p>
                      <a:pPr algn="ctr"/>
                      <a:r>
                        <a:rPr sz="1275" b="0">
                          <a:solidFill>
                            <a:srgbClr val="261D18"/>
                          </a:solidFill>
                          <a:latin typeface="Arial"/>
                          <a:ea typeface="Arial"/>
                          <a:cs typeface="Arial"/>
                        </a:rPr>
                        <a:t>Rp68.000</a:t>
                      </a:r>
                    </a:p>
                  </a:txBody>
                  <a:tcPr marL="91440" marR="91440" marT="45720" marB="45720" anchor="ctr">
                    <a:solidFill>
                      <a:srgbClr val="EEE4D6"/>
                    </a:solidFill>
                  </a:tcPr>
                </a:tc>
              </a:tr>
              <a:tr h="358486">
                <a:tc>
                  <a:txBody>
                    <a:bodyPr>
                      <a:normAutofit/>
                    </a:bodyPr>
                    <a:lstStyle/>
                    <a:p>
                      <a:pPr algn="l"/>
                      <a:r>
                        <a:rPr sz="1275" b="0">
                          <a:solidFill>
                            <a:srgbClr val="261D18"/>
                          </a:solidFill>
                          <a:latin typeface="Arial"/>
                          <a:ea typeface="Arial"/>
                          <a:cs typeface="Arial"/>
                        </a:rPr>
                        <a:t>Palm Sugar Latte</a:t>
                      </a:r>
                    </a:p>
                  </a:txBody>
                  <a:tcPr marL="91440" marR="91440" marT="45720" marB="45720" anchor="ctr">
                    <a:solidFill>
                      <a:srgbClr val="FFFDF9"/>
                    </a:solidFill>
                  </a:tcPr>
                </a:tc>
                <a:tc>
                  <a:txBody>
                    <a:bodyPr>
                      <a:normAutofit/>
                    </a:bodyPr>
                    <a:lstStyle/>
                    <a:p>
                      <a:pPr algn="ctr"/>
                      <a:r>
                        <a:rPr sz="1275" b="0">
                          <a:solidFill>
                            <a:srgbClr val="261D18"/>
                          </a:solidFill>
                          <a:latin typeface="Arial"/>
                          <a:ea typeface="Arial"/>
                          <a:cs typeface="Arial"/>
                        </a:rPr>
                        <a:t>Rp16.000</a:t>
                      </a:r>
                    </a:p>
                  </a:txBody>
                  <a:tcPr marL="91440" marR="91440" marT="45720" marB="45720" anchor="ctr">
                    <a:solidFill>
                      <a:srgbClr val="FFFDF9"/>
                    </a:solidFill>
                  </a:tcPr>
                </a:tc>
                <a:tc>
                  <a:txBody>
                    <a:bodyPr>
                      <a:normAutofit/>
                    </a:bodyPr>
                    <a:lstStyle/>
                    <a:p>
                      <a:pPr algn="ctr"/>
                      <a:r>
                        <a:rPr sz="1275" b="0">
                          <a:solidFill>
                            <a:srgbClr val="261D18"/>
                          </a:solidFill>
                          <a:latin typeface="Arial"/>
                          <a:ea typeface="Arial"/>
                          <a:cs typeface="Arial"/>
                        </a:rPr>
                        <a:t>Rp60.000</a:t>
                      </a:r>
                    </a:p>
                  </a:txBody>
                  <a:tcPr marL="91440" marR="91440" marT="45720" marB="45720" anchor="ctr">
                    <a:solidFill>
                      <a:srgbClr val="FFFDF9"/>
                    </a:solidFill>
                  </a:tcPr>
                </a:tc>
              </a:tr>
              <a:tr h="358486">
                <a:tc>
                  <a:txBody>
                    <a:bodyPr>
                      <a:normAutofit/>
                    </a:bodyPr>
                    <a:lstStyle/>
                    <a:p>
                      <a:pPr algn="l"/>
                      <a:r>
                        <a:rPr sz="1275" b="0">
                          <a:solidFill>
                            <a:srgbClr val="261D18"/>
                          </a:solidFill>
                          <a:latin typeface="Arial"/>
                          <a:ea typeface="Arial"/>
                          <a:cs typeface="Arial"/>
                        </a:rPr>
                        <a:t>Palm Sugar Oat Latte</a:t>
                      </a:r>
                    </a:p>
                  </a:txBody>
                  <a:tcPr marL="91440" marR="91440" marT="45720" marB="45720" anchor="ctr">
                    <a:solidFill>
                      <a:srgbClr val="EEE4D6"/>
                    </a:solidFill>
                  </a:tcPr>
                </a:tc>
                <a:tc>
                  <a:txBody>
                    <a:bodyPr>
                      <a:normAutofit/>
                    </a:bodyPr>
                    <a:lstStyle/>
                    <a:p>
                      <a:pPr algn="ctr"/>
                      <a:r>
                        <a:rPr sz="1275" b="0">
                          <a:solidFill>
                            <a:srgbClr val="261D18"/>
                          </a:solidFill>
                          <a:latin typeface="Arial"/>
                          <a:ea typeface="Arial"/>
                          <a:cs typeface="Arial"/>
                        </a:rPr>
                        <a:t>Rp24.000</a:t>
                      </a:r>
                    </a:p>
                  </a:txBody>
                  <a:tcPr marL="91440" marR="91440" marT="45720" marB="45720" anchor="ctr">
                    <a:solidFill>
                      <a:srgbClr val="EEE4D6"/>
                    </a:solidFill>
                  </a:tcPr>
                </a:tc>
                <a:tc>
                  <a:txBody>
                    <a:bodyPr>
                      <a:normAutofit/>
                    </a:bodyPr>
                    <a:lstStyle/>
                    <a:p>
                      <a:pPr algn="ctr"/>
                      <a:r>
                        <a:rPr sz="1275" b="0">
                          <a:solidFill>
                            <a:srgbClr val="261D18"/>
                          </a:solidFill>
                          <a:latin typeface="Arial"/>
                          <a:ea typeface="Arial"/>
                          <a:cs typeface="Arial"/>
                        </a:rPr>
                        <a:t>Rp80.000</a:t>
                      </a:r>
                    </a:p>
                  </a:txBody>
                  <a:tcPr marL="91440" marR="91440" marT="45720" marB="45720" anchor="ctr">
                    <a:solidFill>
                      <a:srgbClr val="EEE4D6"/>
                    </a:solidFill>
                  </a:tcPr>
                </a:tc>
              </a:tr>
              <a:tr h="358486">
                <a:tc>
                  <a:txBody>
                    <a:bodyPr>
                      <a:normAutofit/>
                    </a:bodyPr>
                    <a:lstStyle/>
                    <a:p>
                      <a:pPr algn="l"/>
                      <a:r>
                        <a:rPr sz="1275" b="0">
                          <a:solidFill>
                            <a:srgbClr val="261D18"/>
                          </a:solidFill>
                          <a:latin typeface="Arial"/>
                          <a:ea typeface="Arial"/>
                          <a:cs typeface="Arial"/>
                        </a:rPr>
                        <a:t>Creamy Butterscotch</a:t>
                      </a:r>
                    </a:p>
                  </a:txBody>
                  <a:tcPr marL="91440" marR="91440" marT="45720" marB="45720" anchor="ctr">
                    <a:solidFill>
                      <a:srgbClr val="FFFDF9"/>
                    </a:solidFill>
                  </a:tcPr>
                </a:tc>
                <a:tc>
                  <a:txBody>
                    <a:bodyPr>
                      <a:normAutofit/>
                    </a:bodyPr>
                    <a:lstStyle/>
                    <a:p>
                      <a:pPr algn="ctr"/>
                      <a:r>
                        <a:rPr sz="1275" b="0">
                          <a:solidFill>
                            <a:srgbClr val="261D18"/>
                          </a:solidFill>
                          <a:latin typeface="Arial"/>
                          <a:ea typeface="Arial"/>
                          <a:cs typeface="Arial"/>
                        </a:rPr>
                        <a:t>Rp16.000</a:t>
                      </a:r>
                    </a:p>
                  </a:txBody>
                  <a:tcPr marL="91440" marR="91440" marT="45720" marB="45720" anchor="ctr">
                    <a:solidFill>
                      <a:srgbClr val="FFFDF9"/>
                    </a:solidFill>
                  </a:tcPr>
                </a:tc>
                <a:tc>
                  <a:txBody>
                    <a:bodyPr>
                      <a:normAutofit/>
                    </a:bodyPr>
                    <a:lstStyle/>
                    <a:p>
                      <a:pPr algn="ctr"/>
                      <a:r>
                        <a:rPr sz="1275" b="0">
                          <a:solidFill>
                            <a:srgbClr val="261D18"/>
                          </a:solidFill>
                          <a:latin typeface="Arial"/>
                          <a:ea typeface="Arial"/>
                          <a:cs typeface="Arial"/>
                        </a:rPr>
                        <a:t>Rp60.000</a:t>
                      </a:r>
                    </a:p>
                  </a:txBody>
                  <a:tcPr marL="91440" marR="91440" marT="45720" marB="45720" anchor="ctr">
                    <a:solidFill>
                      <a:srgbClr val="FFFDF9"/>
                    </a:solidFill>
                  </a:tcPr>
                </a:tc>
              </a:tr>
              <a:tr h="358486">
                <a:tc>
                  <a:txBody>
                    <a:bodyPr>
                      <a:normAutofit/>
                    </a:bodyPr>
                    <a:lstStyle/>
                    <a:p>
                      <a:pPr algn="l"/>
                      <a:r>
                        <a:rPr sz="1275" b="0">
                          <a:solidFill>
                            <a:srgbClr val="261D18"/>
                          </a:solidFill>
                          <a:latin typeface="Arial"/>
                          <a:ea typeface="Arial"/>
                          <a:cs typeface="Arial"/>
                        </a:rPr>
                        <a:t>Creamy Caramel</a:t>
                      </a:r>
                    </a:p>
                  </a:txBody>
                  <a:tcPr marL="91440" marR="91440" marT="45720" marB="45720" anchor="ctr">
                    <a:solidFill>
                      <a:srgbClr val="EEE4D6"/>
                    </a:solidFill>
                  </a:tcPr>
                </a:tc>
                <a:tc>
                  <a:txBody>
                    <a:bodyPr>
                      <a:normAutofit/>
                    </a:bodyPr>
                    <a:lstStyle/>
                    <a:p>
                      <a:pPr algn="ctr"/>
                      <a:r>
                        <a:rPr sz="1275" b="0">
                          <a:solidFill>
                            <a:srgbClr val="261D18"/>
                          </a:solidFill>
                          <a:latin typeface="Arial"/>
                          <a:ea typeface="Arial"/>
                          <a:cs typeface="Arial"/>
                        </a:rPr>
                        <a:t>Rp16.000</a:t>
                      </a:r>
                    </a:p>
                  </a:txBody>
                  <a:tcPr marL="91440" marR="91440" marT="45720" marB="45720" anchor="ctr">
                    <a:solidFill>
                      <a:srgbClr val="EEE4D6"/>
                    </a:solidFill>
                  </a:tcPr>
                </a:tc>
                <a:tc>
                  <a:txBody>
                    <a:bodyPr>
                      <a:normAutofit/>
                    </a:bodyPr>
                    <a:lstStyle/>
                    <a:p>
                      <a:pPr algn="ctr"/>
                      <a:r>
                        <a:rPr sz="1275" b="0">
                          <a:solidFill>
                            <a:srgbClr val="261D18"/>
                          </a:solidFill>
                          <a:latin typeface="Arial"/>
                          <a:ea typeface="Arial"/>
                          <a:cs typeface="Arial"/>
                        </a:rPr>
                        <a:t>Rp60.000</a:t>
                      </a:r>
                    </a:p>
                  </a:txBody>
                  <a:tcPr marL="91440" marR="91440" marT="45720" marB="45720" anchor="ctr">
                    <a:solidFill>
                      <a:srgbClr val="EEE4D6"/>
                    </a:solidFill>
                  </a:tcPr>
                </a:tc>
              </a:tr>
            </a:tbl>
          </a:graphicData>
        </a:graphic>
      </p:graphicFrame>
      <p:sp>
        <p:nvSpPr>
          <p:cNvPr id="7" name="">
            <a:extLst xmlns:a="http://schemas.openxmlformats.org/drawingml/2006/main">
              <a:ext uri="{FF2B5EF4-FFF2-40B4-BE49-F238E27FC236}">
                <a16:creationId xmlns:a16="http://schemas.microsoft.com/office/drawing/2014/main" id="{40724901-C023-4805-957C-E2FC309230CC}"/>
              </a:ext>
            </a:extLst>
          </p:cNvPr>
          <p:cNvSpPr>
            <a:spLocks xmlns:a="http://schemas.openxmlformats.org/drawingml/2006/main" noGrp="1"/>
          </p:cNvSpPr>
          <p:nvPr/>
        </p:nvSpPr>
        <p:spPr>
          <a:xfrm xmlns:a="http://schemas.openxmlformats.org/drawingml/2006/main">
            <a:off x="638175" y="601027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E655E"/>
                </a:solidFill>
                <a:latin typeface="Arial"/>
                <a:ea typeface="Arial"/>
                <a:cs typeface="Arial"/>
              </a:defRPr>
            </a:pPr>
            <a:r>
              <a:rPr sz="1125" b="0">
                <a:solidFill>
                  <a:srgbClr val="6E655E"/>
                </a:solidFill>
                <a:latin typeface="Arial"/>
                <a:ea typeface="Arial"/>
                <a:cs typeface="Arial"/>
              </a:rPr>
              <a:t>Daftar harga operasional. Nilai final dan masa berlaku ditetapkan oleh owner.</a:t>
            </a:r>
          </a:p>
        </p:txBody>
      </p:sp>
      <p:sp>
        <p:nvSpPr>
          <p:cNvPr id="8" name="">
            <a:extLst xmlns:a="http://schemas.openxmlformats.org/drawingml/2006/main">
              <a:ext uri="{FF2B5EF4-FFF2-40B4-BE49-F238E27FC236}">
                <a16:creationId xmlns:a16="http://schemas.microsoft.com/office/drawing/2014/main" id="{42852686-DE1D-4EC5-AE63-2CE7062F0417}"/>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17E605A-8DB2-4321-969D-D67B207735AB}"/>
              </a:ext>
            </a:extLst>
          </p:cNvPr>
          <p:cNvSpPr>
            <a:spLocks xmlns:a="http://schemas.openxmlformats.org/drawingml/2006/main" noGrp="1"/>
          </p:cNvSpPr>
          <p:nvPr/>
        </p:nvSpPr>
        <p:spPr>
          <a:xfrm xmlns:a="http://schemas.openxmlformats.org/drawingml/2006/main">
            <a:off x="53340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6E655E"/>
                </a:solidFill>
                <a:latin typeface="Arial"/>
                <a:ea typeface="Arial"/>
                <a:cs typeface="Arial"/>
              </a:defRPr>
            </a:pPr>
            <a:r>
              <a:rPr sz="900" b="0">
                <a:solidFill>
                  <a:srgbClr val="6E655E"/>
                </a:solidFill>
                <a:latin typeface="Arial"/>
                <a:ea typeface="Arial"/>
                <a:cs typeface="Arial"/>
              </a:rPr>
              <a:t>FD Culinary  •  Gambaran versi website saat ini</a:t>
            </a:r>
          </a:p>
        </p:txBody>
      </p:sp>
      <p:sp>
        <p:nvSpPr>
          <p:cNvPr id="10" name="">
            <a:extLst xmlns:a="http://schemas.openxmlformats.org/drawingml/2006/main">
              <a:ext uri="{FF2B5EF4-FFF2-40B4-BE49-F238E27FC236}">
                <a16:creationId xmlns:a16="http://schemas.microsoft.com/office/drawing/2014/main" id="{5016760E-3E5B-4376-BEDA-C124A454336C}"/>
              </a:ext>
            </a:extLst>
          </p:cNvPr>
          <p:cNvSpPr>
            <a:spLocks xmlns:a="http://schemas.openxmlformats.org/drawingml/2006/main" noGrp="1"/>
          </p:cNvSpPr>
          <p:nvPr/>
        </p:nvSpPr>
        <p:spPr>
          <a:xfrm xmlns:a="http://schemas.openxmlformats.org/drawingml/2006/main">
            <a:off x="11144250" y="64865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754D35"/>
                </a:solidFill>
                <a:latin typeface="Arial"/>
                <a:ea typeface="Arial"/>
                <a:cs typeface="Arial"/>
              </a:defRPr>
            </a:pPr>
            <a:r>
              <a:rPr sz="900" b="1">
                <a:solidFill>
                  <a:srgbClr val="754D35"/>
                </a:solidFill>
                <a:latin typeface="Arial"/>
                <a:ea typeface="Arial"/>
                <a:cs typeface="Arial"/>
              </a:rPr>
              <a:t>06</a:t>
            </a:r>
          </a:p>
        </p:txBody>
      </p:sp>
    </p:spTree>
    <p:extLst>
      <p:ext uri="{BB962C8B-B14F-4D97-AF65-F5344CB8AC3E}">
        <p14:creationId xmlns:p14="http://schemas.microsoft.com/office/powerpoint/2010/main" val="856095895"/>
      </p:ext>
    </p:extLst>
  </p:cSld>
</p:sld>
</file>

<file path=ppt/slides/slide7.xml><?xml version="1.0" encoding="utf-8"?>
<p:sld xmlns:p="http://schemas.openxmlformats.org/presentationml/2006/main">
  <p:cSld>
    <p:bg>
      <p:bgPr>
        <a:solidFill xmlns:a="http://schemas.openxmlformats.org/drawingml/2006/main">
          <a:srgbClr val="F8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EAFB2A-3D3C-4453-8AD0-50B2DF35198E}"/>
              </a:ext>
            </a:extLst>
          </p:cNvPr>
          <p:cNvSpPr>
            <a:spLocks xmlns:a="http://schemas.openxmlformats.org/drawingml/2006/main" noGrp="1"/>
          </p:cNvSpPr>
          <p:nvPr/>
        </p:nvSpPr>
        <p:spPr>
          <a:xfrm xmlns:a="http://schemas.openxmlformats.org/drawingml/2006/main">
            <a:off x="533400" y="228600"/>
            <a:ext cx="552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754D35"/>
                </a:solidFill>
                <a:latin typeface="Arial"/>
                <a:ea typeface="Arial"/>
                <a:cs typeface="Arial"/>
              </a:defRPr>
            </a:pPr>
            <a:r>
              <a:rPr sz="1050" b="1">
                <a:solidFill>
                  <a:srgbClr val="754D35"/>
                </a:solidFill>
                <a:latin typeface="Arial"/>
                <a:ea typeface="Arial"/>
                <a:cs typeface="Arial"/>
              </a:rPr>
              <a:t>FD CULINARY  /  PRESENTASI WEBSITE</a:t>
            </a:r>
          </a:p>
        </p:txBody>
      </p:sp>
      <p:sp>
        <p:nvSpPr>
          <p:cNvPr id="2" name="">
            <a:extLst xmlns:a="http://schemas.openxmlformats.org/drawingml/2006/main">
              <a:ext uri="{FF2B5EF4-FFF2-40B4-BE49-F238E27FC236}">
                <a16:creationId xmlns:a16="http://schemas.microsoft.com/office/drawing/2014/main" id="{6521C2FD-81FE-4E8B-B400-52F4BF1F4E99}"/>
              </a:ext>
            </a:extLst>
          </p:cNvPr>
          <p:cNvSpPr>
            <a:spLocks xmlns:a="http://schemas.openxmlformats.org/drawingml/2006/main" noGrp="1"/>
          </p:cNvSpPr>
          <p:nvPr/>
        </p:nvSpPr>
        <p:spPr>
          <a:xfrm xmlns:a="http://schemas.openxmlformats.org/drawingml/2006/main">
            <a:off x="533400" y="5524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66744D"/>
                </a:solidFill>
                <a:latin typeface="Arial"/>
                <a:ea typeface="Arial"/>
                <a:cs typeface="Arial"/>
              </a:defRPr>
            </a:pPr>
            <a:r>
              <a:rPr sz="1050" b="1">
                <a:solidFill>
                  <a:srgbClr val="66744D"/>
                </a:solidFill>
                <a:latin typeface="Arial"/>
                <a:ea typeface="Arial"/>
                <a:cs typeface="Arial"/>
              </a:rPr>
              <a:t>KATALOG KUE</a:t>
            </a:r>
          </a:p>
        </p:txBody>
      </p:sp>
      <p:sp>
        <p:nvSpPr>
          <p:cNvPr id="3" name="">
            <a:extLst xmlns:a="http://schemas.openxmlformats.org/drawingml/2006/main">
              <a:ext uri="{FF2B5EF4-FFF2-40B4-BE49-F238E27FC236}">
                <a16:creationId xmlns:a16="http://schemas.microsoft.com/office/drawing/2014/main" id="{DD488902-B5BB-4428-AEC6-69394FC7551E}"/>
              </a:ext>
            </a:extLst>
          </p:cNvPr>
          <p:cNvSpPr>
            <a:spLocks xmlns:a="http://schemas.openxmlformats.org/drawingml/2006/main" noGrp="1"/>
          </p:cNvSpPr>
          <p:nvPr/>
        </p:nvSpPr>
        <p:spPr>
          <a:xfrm xmlns:a="http://schemas.openxmlformats.org/drawingml/2006/main">
            <a:off x="533400" y="80010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261D18"/>
                </a:solidFill>
                <a:latin typeface="Arial"/>
                <a:ea typeface="Arial"/>
                <a:cs typeface="Arial"/>
              </a:defRPr>
            </a:pPr>
            <a:r>
              <a:rPr sz="2850" b="1">
                <a:solidFill>
                  <a:srgbClr val="261D18"/>
                </a:solidFill>
                <a:latin typeface="Arial"/>
                <a:ea typeface="Arial"/>
                <a:cs typeface="Arial"/>
              </a:rPr>
              <a:t>Harga kue ditampilkan per satuan</a:t>
            </a:r>
          </a:p>
        </p:txBody>
      </p:sp>
      <p:sp>
        <p:nvSpPr>
          <p:cNvPr id="4" name="">
            <a:extLst xmlns:a="http://schemas.openxmlformats.org/drawingml/2006/main">
              <a:ext uri="{FF2B5EF4-FFF2-40B4-BE49-F238E27FC236}">
                <a16:creationId xmlns:a16="http://schemas.microsoft.com/office/drawing/2014/main" id="{65911E83-0936-4F1E-9757-719B7904A785}"/>
              </a:ext>
            </a:extLst>
          </p:cNvPr>
          <p:cNvSpPr>
            <a:spLocks xmlns:a="http://schemas.openxmlformats.org/drawingml/2006/main" noGrp="1"/>
          </p:cNvSpPr>
          <p:nvPr/>
        </p:nvSpPr>
        <p:spPr>
          <a:xfrm xmlns:a="http://schemas.openxmlformats.org/drawingml/2006/main">
            <a:off x="552450" y="1323975"/>
            <a:ext cx="1100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E655E"/>
                </a:solidFill>
                <a:latin typeface="Arial"/>
                <a:ea typeface="Arial"/>
                <a:cs typeface="Arial"/>
              </a:defRPr>
            </a:pPr>
            <a:r>
              <a:rPr sz="1350" b="0">
                <a:solidFill>
                  <a:srgbClr val="6E655E"/>
                </a:solidFill>
                <a:latin typeface="Arial"/>
                <a:ea typeface="Arial"/>
                <a:cs typeface="Arial"/>
              </a:rPr>
              <a:t>Daftar kue tidak memakai pilihan ukuran 250 ml/1 L.</a:t>
            </a:r>
          </a:p>
        </p:txBody>
      </p:sp>
      <p:sp>
        <p:nvSpPr>
          <p:cNvPr id="5" name="">
            <a:extLst xmlns:a="http://schemas.openxmlformats.org/drawingml/2006/main">
              <a:ext uri="{FF2B5EF4-FFF2-40B4-BE49-F238E27FC236}">
                <a16:creationId xmlns:a16="http://schemas.microsoft.com/office/drawing/2014/main" id="{8B242E72-B39B-4055-B6BA-4DA1B5066348}"/>
              </a:ext>
            </a:extLst>
          </p:cNvPr>
          <p:cNvSpPr>
            <a:spLocks xmlns:a="http://schemas.openxmlformats.org/drawingml/2006/main" noGrp="1"/>
          </p:cNvSpPr>
          <p:nvPr/>
        </p:nvSpPr>
        <p:spPr>
          <a:xfrm xmlns:a="http://schemas.openxmlformats.org/drawingml/2006/main">
            <a:off x="533400" y="1685925"/>
            <a:ext cx="11125200" cy="19050"/>
          </a:xfrm>
          <a:prstGeom xmlns:a="http://schemas.openxmlformats.org/drawingml/2006/main" prst="rect">
            <a:avLst/>
          </a:prstGeom>
          <a:solidFill xmlns:a="http://schemas.openxmlformats.org/drawingml/2006/main">
            <a:srgbClr val="D8C9B7"/>
          </a:solidFill>
          <a:ln xmlns:a="http://schemas.openxmlformats.org/drawingml/2006/main" w="0">
            <a:noFill/>
          </a:ln>
        </p:spPr>
      </p:sp>
      <p:graphicFrame>
        <p:nvGraphicFramePr>
          <p:cNvPr id="16" name=""/>
          <p:cNvGraphicFramePr/>
          <p:nvPr/>
        </p:nvGraphicFramePr>
        <p:xfrm>
          <a:off xmlns:a="http://schemas.openxmlformats.org/drawingml/2006/main" x="628650" y="2238375"/>
          <a:ext xmlns:a="http://schemas.openxmlformats.org/drawingml/2006/main" cx="10934700" cy="2647950"/>
        </p:xfrm>
        <a:graphic xmlns:a="http://schemas.openxmlformats.org/drawingml/2006/main">
          <a:graphicData uri="http://schemas.openxmlformats.org/drawingml/2006/table">
            <a:tbl>
              <a:tblPr/>
              <a:tblGrid>
                <a:gridCol w="5619750"/>
                <a:gridCol w="2476500"/>
                <a:gridCol w="2838450"/>
              </a:tblGrid>
              <a:tr h="661988">
                <a:tc>
                  <a:txBody>
                    <a:bodyPr>
                      <a:normAutofit/>
                    </a:bodyPr>
                    <a:lstStyle/>
                    <a:p>
                      <a:pPr algn="l"/>
                      <a:r>
                        <a:rPr sz="1425" b="1">
                          <a:solidFill>
                            <a:srgbClr val="FFFDF9"/>
                          </a:solidFill>
                          <a:latin typeface="Arial"/>
                          <a:ea typeface="Arial"/>
                          <a:cs typeface="Arial"/>
                        </a:rPr>
                        <a:t>Produk kue</a:t>
                      </a:r>
                    </a:p>
                  </a:txBody>
                  <a:tcPr marL="91440" marR="91440" marT="45720" marB="45720" anchor="ctr">
                    <a:solidFill>
                      <a:srgbClr val="754D35"/>
                    </a:solidFill>
                  </a:tcPr>
                </a:tc>
                <a:tc>
                  <a:txBody>
                    <a:bodyPr>
                      <a:normAutofit/>
                    </a:bodyPr>
                    <a:lstStyle/>
                    <a:p>
                      <a:pPr algn="ctr"/>
                      <a:r>
                        <a:rPr sz="1425" b="1">
                          <a:solidFill>
                            <a:srgbClr val="FFFDF9"/>
                          </a:solidFill>
                          <a:latin typeface="Arial"/>
                          <a:ea typeface="Arial"/>
                          <a:cs typeface="Arial"/>
                        </a:rPr>
                        <a:t>Satuan</a:t>
                      </a:r>
                    </a:p>
                  </a:txBody>
                  <a:tcPr marL="91440" marR="91440" marT="45720" marB="45720" anchor="ctr">
                    <a:solidFill>
                      <a:srgbClr val="754D35"/>
                    </a:solidFill>
                  </a:tcPr>
                </a:tc>
                <a:tc>
                  <a:txBody>
                    <a:bodyPr>
                      <a:normAutofit/>
                    </a:bodyPr>
                    <a:lstStyle/>
                    <a:p>
                      <a:pPr algn="ctr"/>
                      <a:r>
                        <a:rPr sz="1425" b="1">
                          <a:solidFill>
                            <a:srgbClr val="FFFDF9"/>
                          </a:solidFill>
                          <a:latin typeface="Arial"/>
                          <a:ea typeface="Arial"/>
                          <a:cs typeface="Arial"/>
                        </a:rPr>
                        <a:t>Harga</a:t>
                      </a:r>
                    </a:p>
                  </a:txBody>
                  <a:tcPr marL="91440" marR="91440" marT="45720" marB="45720" anchor="ctr">
                    <a:solidFill>
                      <a:srgbClr val="754D35"/>
                    </a:solidFill>
                  </a:tcPr>
                </a:tc>
              </a:tr>
              <a:tr h="661988">
                <a:tc>
                  <a:txBody>
                    <a:bodyPr>
                      <a:normAutofit/>
                    </a:bodyPr>
                    <a:lstStyle/>
                    <a:p>
                      <a:pPr algn="l"/>
                      <a:r>
                        <a:rPr sz="1500" b="0">
                          <a:solidFill>
                            <a:srgbClr val="261D18"/>
                          </a:solidFill>
                          <a:latin typeface="Arial"/>
                          <a:ea typeface="Arial"/>
                          <a:cs typeface="Arial"/>
                        </a:rPr>
                        <a:t>Fudgy Chocolate Brownies</a:t>
                      </a:r>
                    </a:p>
                  </a:txBody>
                  <a:tcPr marL="91440" marR="91440" marT="45720" marB="45720" anchor="ctr">
                    <a:solidFill>
                      <a:srgbClr val="FFFDF9"/>
                    </a:solidFill>
                  </a:tcPr>
                </a:tc>
                <a:tc>
                  <a:txBody>
                    <a:bodyPr>
                      <a:normAutofit/>
                    </a:bodyPr>
                    <a:lstStyle/>
                    <a:p>
                      <a:pPr algn="ctr"/>
                      <a:r>
                        <a:rPr sz="1500" b="0">
                          <a:solidFill>
                            <a:srgbClr val="261D18"/>
                          </a:solidFill>
                          <a:latin typeface="Arial"/>
                          <a:ea typeface="Arial"/>
                          <a:cs typeface="Arial"/>
                        </a:rPr>
                        <a:t>1 slice</a:t>
                      </a:r>
                    </a:p>
                  </a:txBody>
                  <a:tcPr marL="91440" marR="91440" marT="45720" marB="45720" anchor="ctr">
                    <a:solidFill>
                      <a:srgbClr val="FFFDF9"/>
                    </a:solidFill>
                  </a:tcPr>
                </a:tc>
                <a:tc>
                  <a:txBody>
                    <a:bodyPr>
                      <a:normAutofit/>
                    </a:bodyPr>
                    <a:lstStyle/>
                    <a:p>
                      <a:pPr algn="ctr"/>
                      <a:r>
                        <a:rPr sz="1500" b="0">
                          <a:solidFill>
                            <a:srgbClr val="261D18"/>
                          </a:solidFill>
                          <a:latin typeface="Arial"/>
                          <a:ea typeface="Arial"/>
                          <a:cs typeface="Arial"/>
                        </a:rPr>
                        <a:t>Rp18.000</a:t>
                      </a:r>
                    </a:p>
                  </a:txBody>
                  <a:tcPr marL="91440" marR="91440" marT="45720" marB="45720" anchor="ctr">
                    <a:solidFill>
                      <a:srgbClr val="FFFDF9"/>
                    </a:solidFill>
                  </a:tcPr>
                </a:tc>
              </a:tr>
              <a:tr h="661988">
                <a:tc>
                  <a:txBody>
                    <a:bodyPr>
                      <a:normAutofit/>
                    </a:bodyPr>
                    <a:lstStyle/>
                    <a:p>
                      <a:pPr algn="l"/>
                      <a:r>
                        <a:rPr sz="1500" b="0">
                          <a:solidFill>
                            <a:srgbClr val="261D18"/>
                          </a:solidFill>
                          <a:latin typeface="Arial"/>
                          <a:ea typeface="Arial"/>
                          <a:cs typeface="Arial"/>
                        </a:rPr>
                        <a:t>Basque Cheesecake</a:t>
                      </a:r>
                    </a:p>
                  </a:txBody>
                  <a:tcPr marL="91440" marR="91440" marT="45720" marB="45720" anchor="ctr">
                    <a:solidFill>
                      <a:srgbClr val="EEE4D6"/>
                    </a:solidFill>
                  </a:tcPr>
                </a:tc>
                <a:tc>
                  <a:txBody>
                    <a:bodyPr>
                      <a:normAutofit/>
                    </a:bodyPr>
                    <a:lstStyle/>
                    <a:p>
                      <a:pPr algn="ctr"/>
                      <a:r>
                        <a:rPr sz="1500" b="0">
                          <a:solidFill>
                            <a:srgbClr val="261D18"/>
                          </a:solidFill>
                          <a:latin typeface="Arial"/>
                          <a:ea typeface="Arial"/>
                          <a:cs typeface="Arial"/>
                        </a:rPr>
                        <a:t>1 slice</a:t>
                      </a:r>
                    </a:p>
                  </a:txBody>
                  <a:tcPr marL="91440" marR="91440" marT="45720" marB="45720" anchor="ctr">
                    <a:solidFill>
                      <a:srgbClr val="EEE4D6"/>
                    </a:solidFill>
                  </a:tcPr>
                </a:tc>
                <a:tc>
                  <a:txBody>
                    <a:bodyPr>
                      <a:normAutofit/>
                    </a:bodyPr>
                    <a:lstStyle/>
                    <a:p>
                      <a:pPr algn="ctr"/>
                      <a:r>
                        <a:rPr sz="1500" b="0">
                          <a:solidFill>
                            <a:srgbClr val="261D18"/>
                          </a:solidFill>
                          <a:latin typeface="Arial"/>
                          <a:ea typeface="Arial"/>
                          <a:cs typeface="Arial"/>
                        </a:rPr>
                        <a:t>Rp22.000</a:t>
                      </a:r>
                    </a:p>
                  </a:txBody>
                  <a:tcPr marL="91440" marR="91440" marT="45720" marB="45720" anchor="ctr">
                    <a:solidFill>
                      <a:srgbClr val="EEE4D6"/>
                    </a:solidFill>
                  </a:tcPr>
                </a:tc>
              </a:tr>
              <a:tr h="661988">
                <a:tc>
                  <a:txBody>
                    <a:bodyPr>
                      <a:normAutofit/>
                    </a:bodyPr>
                    <a:lstStyle/>
                    <a:p>
                      <a:pPr algn="l"/>
                      <a:r>
                        <a:rPr sz="1500" b="0">
                          <a:solidFill>
                            <a:srgbClr val="261D18"/>
                          </a:solidFill>
                          <a:latin typeface="Arial"/>
                          <a:ea typeface="Arial"/>
                          <a:cs typeface="Arial"/>
                        </a:rPr>
                        <a:t>Butter Croissant</a:t>
                      </a:r>
                    </a:p>
                  </a:txBody>
                  <a:tcPr marL="91440" marR="91440" marT="45720" marB="45720" anchor="ctr">
                    <a:solidFill>
                      <a:srgbClr val="FFFDF9"/>
                    </a:solidFill>
                  </a:tcPr>
                </a:tc>
                <a:tc>
                  <a:txBody>
                    <a:bodyPr>
                      <a:normAutofit/>
                    </a:bodyPr>
                    <a:lstStyle/>
                    <a:p>
                      <a:pPr algn="ctr"/>
                      <a:r>
                        <a:rPr sz="1500" b="0">
                          <a:solidFill>
                            <a:srgbClr val="261D18"/>
                          </a:solidFill>
                          <a:latin typeface="Arial"/>
                          <a:ea typeface="Arial"/>
                          <a:cs typeface="Arial"/>
                        </a:rPr>
                        <a:t>1 pcs</a:t>
                      </a:r>
                    </a:p>
                  </a:txBody>
                  <a:tcPr marL="91440" marR="91440" marT="45720" marB="45720" anchor="ctr">
                    <a:solidFill>
                      <a:srgbClr val="FFFDF9"/>
                    </a:solidFill>
                  </a:tcPr>
                </a:tc>
                <a:tc>
                  <a:txBody>
                    <a:bodyPr>
                      <a:normAutofit/>
                    </a:bodyPr>
                    <a:lstStyle/>
                    <a:p>
                      <a:pPr algn="ctr"/>
                      <a:r>
                        <a:rPr sz="1500" b="0">
                          <a:solidFill>
                            <a:srgbClr val="261D18"/>
                          </a:solidFill>
                          <a:latin typeface="Arial"/>
                          <a:ea typeface="Arial"/>
                          <a:cs typeface="Arial"/>
                        </a:rPr>
                        <a:t>Rp16.000</a:t>
                      </a:r>
                    </a:p>
                  </a:txBody>
                  <a:tcPr marL="91440" marR="91440" marT="45720" marB="45720" anchor="ctr">
                    <a:solidFill>
                      <a:srgbClr val="FFFDF9"/>
                    </a:solidFill>
                  </a:tcPr>
                </a:tc>
              </a:tr>
            </a:tbl>
          </a:graphicData>
        </a:graphic>
      </p:graphicFrame>
      <p:sp>
        <p:nvSpPr>
          <p:cNvPr id="7" name="">
            <a:extLst xmlns:a="http://schemas.openxmlformats.org/drawingml/2006/main">
              <a:ext uri="{FF2B5EF4-FFF2-40B4-BE49-F238E27FC236}">
                <a16:creationId xmlns:a16="http://schemas.microsoft.com/office/drawing/2014/main" id="{8C2862C3-5D31-484E-8518-9290A7CC8863}"/>
              </a:ext>
            </a:extLst>
          </p:cNvPr>
          <p:cNvSpPr>
            <a:spLocks xmlns:a="http://schemas.openxmlformats.org/drawingml/2006/main" noGrp="1"/>
          </p:cNvSpPr>
          <p:nvPr/>
        </p:nvSpPr>
        <p:spPr>
          <a:xfrm xmlns:a="http://schemas.openxmlformats.org/drawingml/2006/main">
            <a:off x="647700" y="528637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6E655E"/>
                </a:solidFill>
                <a:latin typeface="Arial"/>
                <a:ea typeface="Arial"/>
                <a:cs typeface="Arial"/>
              </a:defRPr>
            </a:pPr>
            <a:r>
              <a:rPr sz="1500" b="0">
                <a:solidFill>
                  <a:srgbClr val="6E655E"/>
                </a:solidFill>
                <a:latin typeface="Arial"/>
                <a:ea typeface="Arial"/>
                <a:cs typeface="Arial"/>
              </a:rPr>
              <a:t>Satuan saat ini: slice untuk brownies dan cheesecake; pcs untuk croissant.</a:t>
            </a:r>
          </a:p>
        </p:txBody>
      </p:sp>
      <p:sp>
        <p:nvSpPr>
          <p:cNvPr id="8" name="">
            <a:extLst xmlns:a="http://schemas.openxmlformats.org/drawingml/2006/main">
              <a:ext uri="{FF2B5EF4-FFF2-40B4-BE49-F238E27FC236}">
                <a16:creationId xmlns:a16="http://schemas.microsoft.com/office/drawing/2014/main" id="{38E76ABA-ACB8-408D-B32A-6BFF733AA906}"/>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7B21F86-CD2B-4ECF-B86B-42CBE2B150FD}"/>
              </a:ext>
            </a:extLst>
          </p:cNvPr>
          <p:cNvSpPr>
            <a:spLocks xmlns:a="http://schemas.openxmlformats.org/drawingml/2006/main" noGrp="1"/>
          </p:cNvSpPr>
          <p:nvPr/>
        </p:nvSpPr>
        <p:spPr>
          <a:xfrm xmlns:a="http://schemas.openxmlformats.org/drawingml/2006/main">
            <a:off x="53340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6E655E"/>
                </a:solidFill>
                <a:latin typeface="Arial"/>
                <a:ea typeface="Arial"/>
                <a:cs typeface="Arial"/>
              </a:defRPr>
            </a:pPr>
            <a:r>
              <a:rPr sz="900" b="0">
                <a:solidFill>
                  <a:srgbClr val="6E655E"/>
                </a:solidFill>
                <a:latin typeface="Arial"/>
                <a:ea typeface="Arial"/>
                <a:cs typeface="Arial"/>
              </a:rPr>
              <a:t>FD Culinary  •  Gambaran versi website saat ini</a:t>
            </a:r>
          </a:p>
        </p:txBody>
      </p:sp>
      <p:sp>
        <p:nvSpPr>
          <p:cNvPr id="10" name="">
            <a:extLst xmlns:a="http://schemas.openxmlformats.org/drawingml/2006/main">
              <a:ext uri="{FF2B5EF4-FFF2-40B4-BE49-F238E27FC236}">
                <a16:creationId xmlns:a16="http://schemas.microsoft.com/office/drawing/2014/main" id="{55C46944-B4C1-4864-912D-BFCFD6BD8F62}"/>
              </a:ext>
            </a:extLst>
          </p:cNvPr>
          <p:cNvSpPr>
            <a:spLocks xmlns:a="http://schemas.openxmlformats.org/drawingml/2006/main" noGrp="1"/>
          </p:cNvSpPr>
          <p:nvPr/>
        </p:nvSpPr>
        <p:spPr>
          <a:xfrm xmlns:a="http://schemas.openxmlformats.org/drawingml/2006/main">
            <a:off x="11144250" y="64865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754D35"/>
                </a:solidFill>
                <a:latin typeface="Arial"/>
                <a:ea typeface="Arial"/>
                <a:cs typeface="Arial"/>
              </a:defRPr>
            </a:pPr>
            <a:r>
              <a:rPr sz="900" b="1">
                <a:solidFill>
                  <a:srgbClr val="754D35"/>
                </a:solidFill>
                <a:latin typeface="Arial"/>
                <a:ea typeface="Arial"/>
                <a:cs typeface="Arial"/>
              </a:rPr>
              <a:t>07</a:t>
            </a:r>
          </a:p>
        </p:txBody>
      </p:sp>
    </p:spTree>
    <p:extLst>
      <p:ext uri="{BB962C8B-B14F-4D97-AF65-F5344CB8AC3E}">
        <p14:creationId xmlns:p14="http://schemas.microsoft.com/office/powerpoint/2010/main" val="126313911"/>
      </p:ext>
    </p:extLst>
  </p:cSld>
</p:sld>
</file>

<file path=ppt/slides/slide8.xml><?xml version="1.0" encoding="utf-8"?>
<p:sld xmlns:p="http://schemas.openxmlformats.org/presentationml/2006/main">
  <p:cSld>
    <p:bg>
      <p:bgPr>
        <a:solidFill xmlns:a="http://schemas.openxmlformats.org/drawingml/2006/main">
          <a:srgbClr val="F8F3E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6C8A3D1-2C00-4FBC-819A-38CC256B2A9E}"/>
              </a:ext>
            </a:extLst>
          </p:cNvPr>
          <p:cNvSpPr>
            <a:spLocks xmlns:a="http://schemas.openxmlformats.org/drawingml/2006/main" noGrp="1"/>
          </p:cNvSpPr>
          <p:nvPr/>
        </p:nvSpPr>
        <p:spPr>
          <a:xfrm xmlns:a="http://schemas.openxmlformats.org/drawingml/2006/main">
            <a:off x="533400" y="228600"/>
            <a:ext cx="552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754D35"/>
                </a:solidFill>
                <a:latin typeface="Arial"/>
                <a:ea typeface="Arial"/>
                <a:cs typeface="Arial"/>
              </a:defRPr>
            </a:pPr>
            <a:r>
              <a:rPr sz="1050" b="1">
                <a:solidFill>
                  <a:srgbClr val="754D35"/>
                </a:solidFill>
                <a:latin typeface="Arial"/>
                <a:ea typeface="Arial"/>
                <a:cs typeface="Arial"/>
              </a:rPr>
              <a:t>FD CULINARY  /  PRESENTASI WEBSITE</a:t>
            </a:r>
          </a:p>
        </p:txBody>
      </p:sp>
      <p:sp>
        <p:nvSpPr>
          <p:cNvPr id="2" name="">
            <a:extLst xmlns:a="http://schemas.openxmlformats.org/drawingml/2006/main">
              <a:ext uri="{FF2B5EF4-FFF2-40B4-BE49-F238E27FC236}">
                <a16:creationId xmlns:a16="http://schemas.microsoft.com/office/drawing/2014/main" id="{3C204757-87B9-4135-AA1A-C9C354E98848}"/>
              </a:ext>
            </a:extLst>
          </p:cNvPr>
          <p:cNvSpPr>
            <a:spLocks xmlns:a="http://schemas.openxmlformats.org/drawingml/2006/main" noGrp="1"/>
          </p:cNvSpPr>
          <p:nvPr/>
        </p:nvSpPr>
        <p:spPr>
          <a:xfrm xmlns:a="http://schemas.openxmlformats.org/drawingml/2006/main">
            <a:off x="533400" y="5524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66744D"/>
                </a:solidFill>
                <a:latin typeface="Arial"/>
                <a:ea typeface="Arial"/>
                <a:cs typeface="Arial"/>
              </a:defRPr>
            </a:pPr>
            <a:r>
              <a:rPr sz="1050" b="1">
                <a:solidFill>
                  <a:srgbClr val="66744D"/>
                </a:solidFill>
                <a:latin typeface="Arial"/>
                <a:ea typeface="Arial"/>
                <a:cs typeface="Arial"/>
              </a:rPr>
              <a:t>PEMESANAN</a:t>
            </a:r>
          </a:p>
        </p:txBody>
      </p:sp>
      <p:sp>
        <p:nvSpPr>
          <p:cNvPr id="3" name="">
            <a:extLst xmlns:a="http://schemas.openxmlformats.org/drawingml/2006/main">
              <a:ext uri="{FF2B5EF4-FFF2-40B4-BE49-F238E27FC236}">
                <a16:creationId xmlns:a16="http://schemas.microsoft.com/office/drawing/2014/main" id="{4FC6EFBF-33F4-4977-949F-F3986EEBCE9F}"/>
              </a:ext>
            </a:extLst>
          </p:cNvPr>
          <p:cNvSpPr>
            <a:spLocks xmlns:a="http://schemas.openxmlformats.org/drawingml/2006/main" noGrp="1"/>
          </p:cNvSpPr>
          <p:nvPr/>
        </p:nvSpPr>
        <p:spPr>
          <a:xfrm xmlns:a="http://schemas.openxmlformats.org/drawingml/2006/main">
            <a:off x="533400" y="80010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261D18"/>
                </a:solidFill>
                <a:latin typeface="Arial"/>
                <a:ea typeface="Arial"/>
                <a:cs typeface="Arial"/>
              </a:defRPr>
            </a:pPr>
            <a:r>
              <a:rPr sz="2850" b="1">
                <a:solidFill>
                  <a:srgbClr val="261D18"/>
                </a:solidFill>
                <a:latin typeface="Arial"/>
                <a:ea typeface="Arial"/>
                <a:cs typeface="Arial"/>
              </a:rPr>
              <a:t>WhatsApp menerima daftar katalog, bukan checkout</a:t>
            </a:r>
          </a:p>
        </p:txBody>
      </p:sp>
      <p:sp>
        <p:nvSpPr>
          <p:cNvPr id="4" name="">
            <a:extLst xmlns:a="http://schemas.openxmlformats.org/drawingml/2006/main">
              <a:ext uri="{FF2B5EF4-FFF2-40B4-BE49-F238E27FC236}">
                <a16:creationId xmlns:a16="http://schemas.microsoft.com/office/drawing/2014/main" id="{DF0D8FC2-E263-4B27-ABEC-6C70979C0398}"/>
              </a:ext>
            </a:extLst>
          </p:cNvPr>
          <p:cNvSpPr>
            <a:spLocks xmlns:a="http://schemas.openxmlformats.org/drawingml/2006/main" noGrp="1"/>
          </p:cNvSpPr>
          <p:nvPr/>
        </p:nvSpPr>
        <p:spPr>
          <a:xfrm xmlns:a="http://schemas.openxmlformats.org/drawingml/2006/main">
            <a:off x="552450" y="1323975"/>
            <a:ext cx="1100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E655E"/>
                </a:solidFill>
                <a:latin typeface="Arial"/>
                <a:ea typeface="Arial"/>
                <a:cs typeface="Arial"/>
              </a:defRPr>
            </a:pPr>
            <a:r>
              <a:rPr sz="1350" b="0">
                <a:solidFill>
                  <a:srgbClr val="6E655E"/>
                </a:solidFill>
                <a:latin typeface="Arial"/>
                <a:ea typeface="Arial"/>
                <a:cs typeface="Arial"/>
              </a:rPr>
              <a:t>Jenis katalog aktif menentukan daftar yang disiapkan pada pesan WhatsApp.</a:t>
            </a:r>
          </a:p>
        </p:txBody>
      </p:sp>
      <p:sp>
        <p:nvSpPr>
          <p:cNvPr id="5" name="">
            <a:extLst xmlns:a="http://schemas.openxmlformats.org/drawingml/2006/main">
              <a:ext uri="{FF2B5EF4-FFF2-40B4-BE49-F238E27FC236}">
                <a16:creationId xmlns:a16="http://schemas.microsoft.com/office/drawing/2014/main" id="{03D667F5-2750-4DC3-B074-6F3D192DDC51}"/>
              </a:ext>
            </a:extLst>
          </p:cNvPr>
          <p:cNvSpPr>
            <a:spLocks xmlns:a="http://schemas.openxmlformats.org/drawingml/2006/main" noGrp="1"/>
          </p:cNvSpPr>
          <p:nvPr/>
        </p:nvSpPr>
        <p:spPr>
          <a:xfrm xmlns:a="http://schemas.openxmlformats.org/drawingml/2006/main">
            <a:off x="533400" y="1685925"/>
            <a:ext cx="11125200" cy="19050"/>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BDDAD74-8EED-48AA-A04F-22A9BA69EAFF}"/>
              </a:ext>
            </a:extLst>
          </p:cNvPr>
          <p:cNvSpPr>
            <a:spLocks xmlns:a="http://schemas.openxmlformats.org/drawingml/2006/main" noGrp="1"/>
          </p:cNvSpPr>
          <p:nvPr/>
        </p:nvSpPr>
        <p:spPr>
          <a:xfrm xmlns:a="http://schemas.openxmlformats.org/drawingml/2006/main">
            <a:off x="628650" y="2057400"/>
            <a:ext cx="3333750" cy="1028700"/>
          </a:xfrm>
          <a:prstGeom xmlns:a="http://schemas.openxmlformats.org/drawingml/2006/main" prst="roundRect">
            <a:avLst>
              <a:gd name="adj" fmla="val 14815"/>
            </a:avLst>
          </a:prstGeom>
          <a:solidFill xmlns:a="http://schemas.openxmlformats.org/drawingml/2006/main">
            <a:srgbClr val="FFFDF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92C1699-E9C6-4F3A-A3FB-C63044749E39}"/>
              </a:ext>
            </a:extLst>
          </p:cNvPr>
          <p:cNvSpPr>
            <a:spLocks xmlns:a="http://schemas.openxmlformats.org/drawingml/2006/main" noGrp="1"/>
          </p:cNvSpPr>
          <p:nvPr/>
        </p:nvSpPr>
        <p:spPr>
          <a:xfrm xmlns:a="http://schemas.openxmlformats.org/drawingml/2006/main">
            <a:off x="819150" y="22002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261D18"/>
                </a:solidFill>
                <a:latin typeface="Arial"/>
                <a:ea typeface="Arial"/>
                <a:cs typeface="Arial"/>
              </a:defRPr>
            </a:pPr>
            <a:r>
              <a:rPr sz="1575" b="1">
                <a:solidFill>
                  <a:srgbClr val="261D18"/>
                </a:solidFill>
                <a:latin typeface="Arial"/>
                <a:ea typeface="Arial"/>
                <a:cs typeface="Arial"/>
              </a:rPr>
              <a:t>Kategori Minuman</a:t>
            </a:r>
          </a:p>
        </p:txBody>
      </p:sp>
      <p:sp>
        <p:nvSpPr>
          <p:cNvPr id="8" name="">
            <a:extLst xmlns:a="http://schemas.openxmlformats.org/drawingml/2006/main">
              <a:ext uri="{FF2B5EF4-FFF2-40B4-BE49-F238E27FC236}">
                <a16:creationId xmlns:a16="http://schemas.microsoft.com/office/drawing/2014/main" id="{5595B129-BED2-4DAB-94A4-2988FA1263E9}"/>
              </a:ext>
            </a:extLst>
          </p:cNvPr>
          <p:cNvSpPr>
            <a:spLocks xmlns:a="http://schemas.openxmlformats.org/drawingml/2006/main" noGrp="1"/>
          </p:cNvSpPr>
          <p:nvPr/>
        </p:nvSpPr>
        <p:spPr>
          <a:xfrm xmlns:a="http://schemas.openxmlformats.org/drawingml/2006/main">
            <a:off x="819150" y="26003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0">
                <a:solidFill>
                  <a:srgbClr val="6E655E"/>
                </a:solidFill>
                <a:latin typeface="Arial"/>
                <a:ea typeface="Arial"/>
                <a:cs typeface="Arial"/>
              </a:defRPr>
            </a:pPr>
            <a:r>
              <a:rPr sz="1275" b="0">
                <a:solidFill>
                  <a:srgbClr val="6E655E"/>
                </a:solidFill>
                <a:latin typeface="Arial"/>
                <a:ea typeface="Arial"/>
                <a:cs typeface="Arial"/>
              </a:rPr>
              <a:t>10 jenis; ukuran aktif dan harga</a:t>
            </a:r>
          </a:p>
        </p:txBody>
      </p:sp>
      <p:sp>
        <p:nvSpPr>
          <p:cNvPr id="9" name="">
            <a:extLst xmlns:a="http://schemas.openxmlformats.org/drawingml/2006/main">
              <a:ext uri="{FF2B5EF4-FFF2-40B4-BE49-F238E27FC236}">
                <a16:creationId xmlns:a16="http://schemas.microsoft.com/office/drawing/2014/main" id="{E2713F91-418C-4448-A074-29247C3DE63C}"/>
              </a:ext>
            </a:extLst>
          </p:cNvPr>
          <p:cNvSpPr>
            <a:spLocks xmlns:a="http://schemas.openxmlformats.org/drawingml/2006/main" noGrp="1"/>
          </p:cNvSpPr>
          <p:nvPr/>
        </p:nvSpPr>
        <p:spPr>
          <a:xfrm xmlns:a="http://schemas.openxmlformats.org/drawingml/2006/main">
            <a:off x="3962400" y="2371725"/>
            <a:ext cx="314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a:solidFill>
                  <a:srgbClr val="C39A6A"/>
                </a:solidFill>
                <a:latin typeface="Arial"/>
                <a:ea typeface="Arial"/>
                <a:cs typeface="Arial"/>
              </a:defRPr>
            </a:pPr>
            <a:r>
              <a:rPr sz="1875" b="1">
                <a:solidFill>
                  <a:srgbClr val="C39A6A"/>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3A4C498C-9848-42A9-94F3-BFC4303A8E81}"/>
              </a:ext>
            </a:extLst>
          </p:cNvPr>
          <p:cNvSpPr>
            <a:spLocks xmlns:a="http://schemas.openxmlformats.org/drawingml/2006/main" noGrp="1"/>
          </p:cNvSpPr>
          <p:nvPr/>
        </p:nvSpPr>
        <p:spPr>
          <a:xfrm xmlns:a="http://schemas.openxmlformats.org/drawingml/2006/main">
            <a:off x="4276725" y="2057400"/>
            <a:ext cx="3333750" cy="1028700"/>
          </a:xfrm>
          <a:prstGeom xmlns:a="http://schemas.openxmlformats.org/drawingml/2006/main" prst="roundRect">
            <a:avLst>
              <a:gd name="adj" fmla="val 14815"/>
            </a:avLst>
          </a:prstGeom>
          <a:solidFill xmlns:a="http://schemas.openxmlformats.org/drawingml/2006/main">
            <a:srgbClr val="E9EBD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037DAD9-C8CE-4074-A0DB-41CEA32D85C9}"/>
              </a:ext>
            </a:extLst>
          </p:cNvPr>
          <p:cNvSpPr>
            <a:spLocks xmlns:a="http://schemas.openxmlformats.org/drawingml/2006/main" noGrp="1"/>
          </p:cNvSpPr>
          <p:nvPr/>
        </p:nvSpPr>
        <p:spPr>
          <a:xfrm xmlns:a="http://schemas.openxmlformats.org/drawingml/2006/main">
            <a:off x="4467225" y="22002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261D18"/>
                </a:solidFill>
                <a:latin typeface="Arial"/>
                <a:ea typeface="Arial"/>
                <a:cs typeface="Arial"/>
              </a:defRPr>
            </a:pPr>
            <a:r>
              <a:rPr sz="1575" b="1">
                <a:solidFill>
                  <a:srgbClr val="261D18"/>
                </a:solidFill>
                <a:latin typeface="Arial"/>
                <a:ea typeface="Arial"/>
                <a:cs typeface="Arial"/>
              </a:rPr>
              <a:t>Kategori Kue</a:t>
            </a:r>
          </a:p>
        </p:txBody>
      </p:sp>
      <p:sp>
        <p:nvSpPr>
          <p:cNvPr id="12" name="">
            <a:extLst xmlns:a="http://schemas.openxmlformats.org/drawingml/2006/main">
              <a:ext uri="{FF2B5EF4-FFF2-40B4-BE49-F238E27FC236}">
                <a16:creationId xmlns:a16="http://schemas.microsoft.com/office/drawing/2014/main" id="{814F42A4-A6AE-467A-BC0B-546D8A9A4BB4}"/>
              </a:ext>
            </a:extLst>
          </p:cNvPr>
          <p:cNvSpPr>
            <a:spLocks xmlns:a="http://schemas.openxmlformats.org/drawingml/2006/main" noGrp="1"/>
          </p:cNvSpPr>
          <p:nvPr/>
        </p:nvSpPr>
        <p:spPr>
          <a:xfrm xmlns:a="http://schemas.openxmlformats.org/drawingml/2006/main">
            <a:off x="4467225" y="26003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0">
                <a:solidFill>
                  <a:srgbClr val="6E655E"/>
                </a:solidFill>
                <a:latin typeface="Arial"/>
                <a:ea typeface="Arial"/>
                <a:cs typeface="Arial"/>
              </a:defRPr>
            </a:pPr>
            <a:r>
              <a:rPr sz="1275" b="0">
                <a:solidFill>
                  <a:srgbClr val="6E655E"/>
                </a:solidFill>
                <a:latin typeface="Arial"/>
                <a:ea typeface="Arial"/>
                <a:cs typeface="Arial"/>
              </a:rPr>
              <a:t>3 jenis; satuan dan harga</a:t>
            </a:r>
          </a:p>
        </p:txBody>
      </p:sp>
      <p:sp>
        <p:nvSpPr>
          <p:cNvPr id="13" name="">
            <a:extLst xmlns:a="http://schemas.openxmlformats.org/drawingml/2006/main">
              <a:ext uri="{FF2B5EF4-FFF2-40B4-BE49-F238E27FC236}">
                <a16:creationId xmlns:a16="http://schemas.microsoft.com/office/drawing/2014/main" id="{B2C4108C-5099-4CB9-B344-FFF566B2700C}"/>
              </a:ext>
            </a:extLst>
          </p:cNvPr>
          <p:cNvSpPr>
            <a:spLocks xmlns:a="http://schemas.openxmlformats.org/drawingml/2006/main" noGrp="1"/>
          </p:cNvSpPr>
          <p:nvPr/>
        </p:nvSpPr>
        <p:spPr>
          <a:xfrm xmlns:a="http://schemas.openxmlformats.org/drawingml/2006/main">
            <a:off x="7610475" y="2371725"/>
            <a:ext cx="314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a:solidFill>
                  <a:srgbClr val="C39A6A"/>
                </a:solidFill>
                <a:latin typeface="Arial"/>
                <a:ea typeface="Arial"/>
                <a:cs typeface="Arial"/>
              </a:defRPr>
            </a:pPr>
            <a:r>
              <a:rPr sz="1875" b="1">
                <a:solidFill>
                  <a:srgbClr val="C39A6A"/>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1D4C3104-F518-4CD7-81A1-D29C1FDD16A3}"/>
              </a:ext>
            </a:extLst>
          </p:cNvPr>
          <p:cNvSpPr>
            <a:spLocks xmlns:a="http://schemas.openxmlformats.org/drawingml/2006/main" noGrp="1"/>
          </p:cNvSpPr>
          <p:nvPr/>
        </p:nvSpPr>
        <p:spPr>
          <a:xfrm xmlns:a="http://schemas.openxmlformats.org/drawingml/2006/main">
            <a:off x="7924800" y="2057400"/>
            <a:ext cx="3333750" cy="1028700"/>
          </a:xfrm>
          <a:prstGeom xmlns:a="http://schemas.openxmlformats.org/drawingml/2006/main" prst="roundRect">
            <a:avLst>
              <a:gd name="adj" fmla="val 14815"/>
            </a:avLst>
          </a:prstGeom>
          <a:solidFill xmlns:a="http://schemas.openxmlformats.org/drawingml/2006/main">
            <a:srgbClr val="FFFDF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7EBA27A-AD2B-4183-8F59-6FF4EB34F866}"/>
              </a:ext>
            </a:extLst>
          </p:cNvPr>
          <p:cNvSpPr>
            <a:spLocks xmlns:a="http://schemas.openxmlformats.org/drawingml/2006/main" noGrp="1"/>
          </p:cNvSpPr>
          <p:nvPr/>
        </p:nvSpPr>
        <p:spPr>
          <a:xfrm xmlns:a="http://schemas.openxmlformats.org/drawingml/2006/main">
            <a:off x="8115300" y="22002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261D18"/>
                </a:solidFill>
                <a:latin typeface="Arial"/>
                <a:ea typeface="Arial"/>
                <a:cs typeface="Arial"/>
              </a:defRPr>
            </a:pPr>
            <a:r>
              <a:rPr sz="1575" b="1">
                <a:solidFill>
                  <a:srgbClr val="261D18"/>
                </a:solidFill>
                <a:latin typeface="Arial"/>
                <a:ea typeface="Arial"/>
                <a:cs typeface="Arial"/>
              </a:rPr>
              <a:t>Pesan WhatsApp</a:t>
            </a:r>
          </a:p>
        </p:txBody>
      </p:sp>
      <p:sp>
        <p:nvSpPr>
          <p:cNvPr id="16" name="">
            <a:extLst xmlns:a="http://schemas.openxmlformats.org/drawingml/2006/main">
              <a:ext uri="{FF2B5EF4-FFF2-40B4-BE49-F238E27FC236}">
                <a16:creationId xmlns:a16="http://schemas.microsoft.com/office/drawing/2014/main" id="{30FEA532-774A-4039-ADA2-7EC2A3952918}"/>
              </a:ext>
            </a:extLst>
          </p:cNvPr>
          <p:cNvSpPr>
            <a:spLocks xmlns:a="http://schemas.openxmlformats.org/drawingml/2006/main" noGrp="1"/>
          </p:cNvSpPr>
          <p:nvPr/>
        </p:nvSpPr>
        <p:spPr>
          <a:xfrm xmlns:a="http://schemas.openxmlformats.org/drawingml/2006/main">
            <a:off x="8115300" y="26003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0">
                <a:solidFill>
                  <a:srgbClr val="6E655E"/>
                </a:solidFill>
                <a:latin typeface="Arial"/>
                <a:ea typeface="Arial"/>
                <a:cs typeface="Arial"/>
              </a:defRPr>
            </a:pPr>
            <a:r>
              <a:rPr sz="1275" b="0">
                <a:solidFill>
                  <a:srgbClr val="6E655E"/>
                </a:solidFill>
                <a:latin typeface="Arial"/>
                <a:ea typeface="Arial"/>
                <a:cs typeface="Arial"/>
              </a:rPr>
              <a:t>Owner mengonfirmasi pilihan akhir</a:t>
            </a:r>
          </a:p>
        </p:txBody>
      </p:sp>
      <p:sp>
        <p:nvSpPr>
          <p:cNvPr id="17" name="">
            <a:extLst xmlns:a="http://schemas.openxmlformats.org/drawingml/2006/main">
              <a:ext uri="{FF2B5EF4-FFF2-40B4-BE49-F238E27FC236}">
                <a16:creationId xmlns:a16="http://schemas.microsoft.com/office/drawing/2014/main" id="{343B798E-609A-4A48-ADC8-06BCD1E7A21C}"/>
              </a:ext>
            </a:extLst>
          </p:cNvPr>
          <p:cNvSpPr>
            <a:spLocks xmlns:a="http://schemas.openxmlformats.org/drawingml/2006/main" noGrp="1"/>
          </p:cNvSpPr>
          <p:nvPr/>
        </p:nvSpPr>
        <p:spPr>
          <a:xfrm xmlns:a="http://schemas.openxmlformats.org/drawingml/2006/main">
            <a:off x="628650" y="3400425"/>
            <a:ext cx="10744200" cy="2038350"/>
          </a:xfrm>
          <a:prstGeom xmlns:a="http://schemas.openxmlformats.org/drawingml/2006/main" prst="roundRect">
            <a:avLst>
              <a:gd name="adj" fmla="val 8411"/>
            </a:avLst>
          </a:prstGeom>
          <a:solidFill xmlns:a="http://schemas.openxmlformats.org/drawingml/2006/main">
            <a:srgbClr val="EEE4D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23A28D6-1A1E-43C1-8B44-2EBAFC98192B}"/>
              </a:ext>
            </a:extLst>
          </p:cNvPr>
          <p:cNvSpPr>
            <a:spLocks xmlns:a="http://schemas.openxmlformats.org/drawingml/2006/main" noGrp="1"/>
          </p:cNvSpPr>
          <p:nvPr/>
        </p:nvSpPr>
        <p:spPr>
          <a:xfrm xmlns:a="http://schemas.openxmlformats.org/drawingml/2006/main">
            <a:off x="838200" y="360997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a:solidFill>
                  <a:srgbClr val="66744D"/>
                </a:solidFill>
                <a:latin typeface="Arial"/>
                <a:ea typeface="Arial"/>
                <a:cs typeface="Arial"/>
              </a:defRPr>
            </a:pPr>
            <a:r>
              <a:rPr sz="1125" b="1">
                <a:solidFill>
                  <a:srgbClr val="66744D"/>
                </a:solidFill>
                <a:latin typeface="Arial"/>
                <a:ea typeface="Arial"/>
                <a:cs typeface="Arial"/>
              </a:rPr>
              <a:t>TEMPLATE PESAN</a:t>
            </a:r>
          </a:p>
        </p:txBody>
      </p:sp>
      <p:sp>
        <p:nvSpPr>
          <p:cNvPr id="19" name="">
            <a:extLst xmlns:a="http://schemas.openxmlformats.org/drawingml/2006/main">
              <a:ext uri="{FF2B5EF4-FFF2-40B4-BE49-F238E27FC236}">
                <a16:creationId xmlns:a16="http://schemas.microsoft.com/office/drawing/2014/main" id="{DD37A176-8282-4D24-A134-8EDB38B0A081}"/>
              </a:ext>
            </a:extLst>
          </p:cNvPr>
          <p:cNvSpPr>
            <a:spLocks xmlns:a="http://schemas.openxmlformats.org/drawingml/2006/main" noGrp="1"/>
          </p:cNvSpPr>
          <p:nvPr/>
        </p:nvSpPr>
        <p:spPr>
          <a:xfrm xmlns:a="http://schemas.openxmlformats.org/drawingml/2006/main">
            <a:off x="838200" y="396240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261D18"/>
                </a:solidFill>
                <a:latin typeface="Arial"/>
                <a:ea typeface="Arial"/>
                <a:cs typeface="Arial"/>
              </a:defRPr>
            </a:pPr>
            <a:r>
              <a:rPr sz="1725" b="1">
                <a:solidFill>
                  <a:srgbClr val="261D18"/>
                </a:solidFill>
                <a:latin typeface="Arial"/>
                <a:ea typeface="Arial"/>
                <a:cs typeface="Arial"/>
              </a:rPr>
              <a:t>Hay Kak, aku ingin melakukan order di FD Kulinary untuk jenis minuman:</a:t>
            </a:r>
          </a:p>
          <a:p xmlns:a="http://schemas.openxmlformats.org/drawingml/2006/main">
            <a:pPr algn="l">
              <a:defRPr sz="1725" b="1">
                <a:solidFill>
                  <a:srgbClr val="261D18"/>
                </a:solidFill>
                <a:latin typeface="Arial"/>
                <a:ea typeface="Arial"/>
                <a:cs typeface="Arial"/>
              </a:defRPr>
            </a:pPr>
            <a:r>
              <a:rPr sz="1725" b="1">
                <a:solidFill>
                  <a:srgbClr val="261D18"/>
                </a:solidFill>
                <a:latin typeface="Arial"/>
                <a:ea typeface="Arial"/>
                <a:cs typeface="Arial"/>
              </a:rPr>
              <a:t>Jenis minuman | Ukuran | Harga</a:t>
            </a:r>
          </a:p>
        </p:txBody>
      </p:sp>
      <p:sp>
        <p:nvSpPr>
          <p:cNvPr id="20" name="">
            <a:extLst xmlns:a="http://schemas.openxmlformats.org/drawingml/2006/main">
              <a:ext uri="{FF2B5EF4-FFF2-40B4-BE49-F238E27FC236}">
                <a16:creationId xmlns:a16="http://schemas.microsoft.com/office/drawing/2014/main" id="{489D0DBA-8A03-43D6-BD52-C7AEA72455F7}"/>
              </a:ext>
            </a:extLst>
          </p:cNvPr>
          <p:cNvSpPr>
            <a:spLocks xmlns:a="http://schemas.openxmlformats.org/drawingml/2006/main" noGrp="1"/>
          </p:cNvSpPr>
          <p:nvPr/>
        </p:nvSpPr>
        <p:spPr>
          <a:xfrm xmlns:a="http://schemas.openxmlformats.org/drawingml/2006/main">
            <a:off x="838200" y="4981575"/>
            <a:ext cx="9953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74"/>
          </a:bodyPr>
          <a:lstStyle xmlns:a="http://schemas.openxmlformats.org/drawingml/2006/main"/>
          <a:p xmlns:a="http://schemas.openxmlformats.org/drawingml/2006/main">
            <a:pPr algn="l">
              <a:defRPr sz="1275" b="0">
                <a:solidFill>
                  <a:srgbClr val="6E655E"/>
                </a:solidFill>
                <a:latin typeface="Arial"/>
                <a:ea typeface="Arial"/>
                <a:cs typeface="Arial"/>
              </a:defRPr>
            </a:pPr>
            <a:r>
              <a:rPr sz="1275" b="0">
                <a:solidFill>
                  <a:srgbClr val="6E655E"/>
                </a:solidFill>
                <a:latin typeface="Arial"/>
                <a:ea typeface="Arial"/>
                <a:cs typeface="Arial"/>
              </a:rPr>
              <a:t>Untuk katalog Kue, daftar dan format mengikuti kategori Kue. Owner membahas jumlah, stok, pembayaran, dan pengiriman melalui WhatsApp.</a:t>
            </a:r>
          </a:p>
        </p:txBody>
      </p:sp>
      <p:sp>
        <p:nvSpPr>
          <p:cNvPr id="21" name="">
            <a:extLst xmlns:a="http://schemas.openxmlformats.org/drawingml/2006/main">
              <a:ext uri="{FF2B5EF4-FFF2-40B4-BE49-F238E27FC236}">
                <a16:creationId xmlns:a16="http://schemas.microsoft.com/office/drawing/2014/main" id="{65BAFC3D-674B-44FD-A438-1D200B215584}"/>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869EE0F-C3EE-458B-A5E0-22E0052CE0ED}"/>
              </a:ext>
            </a:extLst>
          </p:cNvPr>
          <p:cNvSpPr>
            <a:spLocks xmlns:a="http://schemas.openxmlformats.org/drawingml/2006/main" noGrp="1"/>
          </p:cNvSpPr>
          <p:nvPr/>
        </p:nvSpPr>
        <p:spPr>
          <a:xfrm xmlns:a="http://schemas.openxmlformats.org/drawingml/2006/main">
            <a:off x="53340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6E655E"/>
                </a:solidFill>
                <a:latin typeface="Arial"/>
                <a:ea typeface="Arial"/>
                <a:cs typeface="Arial"/>
              </a:defRPr>
            </a:pPr>
            <a:r>
              <a:rPr sz="900" b="0">
                <a:solidFill>
                  <a:srgbClr val="6E655E"/>
                </a:solidFill>
                <a:latin typeface="Arial"/>
                <a:ea typeface="Arial"/>
                <a:cs typeface="Arial"/>
              </a:rPr>
              <a:t>FD Culinary  •  Gambaran versi website saat ini</a:t>
            </a:r>
          </a:p>
        </p:txBody>
      </p:sp>
      <p:sp>
        <p:nvSpPr>
          <p:cNvPr id="23" name="">
            <a:extLst xmlns:a="http://schemas.openxmlformats.org/drawingml/2006/main">
              <a:ext uri="{FF2B5EF4-FFF2-40B4-BE49-F238E27FC236}">
                <a16:creationId xmlns:a16="http://schemas.microsoft.com/office/drawing/2014/main" id="{92C1A95A-7372-487D-B3A9-591FBCEC431E}"/>
              </a:ext>
            </a:extLst>
          </p:cNvPr>
          <p:cNvSpPr>
            <a:spLocks xmlns:a="http://schemas.openxmlformats.org/drawingml/2006/main" noGrp="1"/>
          </p:cNvSpPr>
          <p:nvPr/>
        </p:nvSpPr>
        <p:spPr>
          <a:xfrm xmlns:a="http://schemas.openxmlformats.org/drawingml/2006/main">
            <a:off x="11144250" y="64865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754D35"/>
                </a:solidFill>
                <a:latin typeface="Arial"/>
                <a:ea typeface="Arial"/>
                <a:cs typeface="Arial"/>
              </a:defRPr>
            </a:pPr>
            <a:r>
              <a:rPr sz="900" b="1">
                <a:solidFill>
                  <a:srgbClr val="754D35"/>
                </a:solidFill>
                <a:latin typeface="Arial"/>
                <a:ea typeface="Arial"/>
                <a:cs typeface="Arial"/>
              </a:rPr>
              <a:t>08</a:t>
            </a:r>
          </a:p>
        </p:txBody>
      </p:sp>
    </p:spTree>
    <p:extLst>
      <p:ext uri="{BB962C8B-B14F-4D97-AF65-F5344CB8AC3E}">
        <p14:creationId xmlns:p14="http://schemas.microsoft.com/office/powerpoint/2010/main" val="2002205574"/>
      </p:ext>
    </p:extLst>
  </p:cSld>
</p:sld>
</file>

<file path=ppt/slides/slide9.xml><?xml version="1.0" encoding="utf-8"?>
<p:sld xmlns:p="http://schemas.openxmlformats.org/presentationml/2006/main">
  <p:cSld>
    <p:bg>
      <p:bgPr>
        <a:solidFill xmlns:a="http://schemas.openxmlformats.org/drawingml/2006/main">
          <a:srgbClr val="F8F3E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530B0D6-7783-457C-8912-486790ECF80E}"/>
              </a:ext>
            </a:extLst>
          </p:cNvPr>
          <p:cNvSpPr>
            <a:spLocks xmlns:a="http://schemas.openxmlformats.org/drawingml/2006/main" noGrp="1"/>
          </p:cNvSpPr>
          <p:nvPr/>
        </p:nvSpPr>
        <p:spPr>
          <a:xfrm xmlns:a="http://schemas.openxmlformats.org/drawingml/2006/main">
            <a:off x="533400" y="228600"/>
            <a:ext cx="552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754D35"/>
                </a:solidFill>
                <a:latin typeface="Arial"/>
                <a:ea typeface="Arial"/>
                <a:cs typeface="Arial"/>
              </a:defRPr>
            </a:pPr>
            <a:r>
              <a:rPr sz="1050" b="1">
                <a:solidFill>
                  <a:srgbClr val="754D35"/>
                </a:solidFill>
                <a:latin typeface="Arial"/>
                <a:ea typeface="Arial"/>
                <a:cs typeface="Arial"/>
              </a:rPr>
              <a:t>FD CULINARY  /  PRESENTASI WEBSITE</a:t>
            </a:r>
          </a:p>
        </p:txBody>
      </p:sp>
      <p:sp>
        <p:nvSpPr>
          <p:cNvPr id="2" name="">
            <a:extLst xmlns:a="http://schemas.openxmlformats.org/drawingml/2006/main">
              <a:ext uri="{FF2B5EF4-FFF2-40B4-BE49-F238E27FC236}">
                <a16:creationId xmlns:a16="http://schemas.microsoft.com/office/drawing/2014/main" id="{4CF5D3CB-3986-46C9-BE17-694A70502554}"/>
              </a:ext>
            </a:extLst>
          </p:cNvPr>
          <p:cNvSpPr>
            <a:spLocks xmlns:a="http://schemas.openxmlformats.org/drawingml/2006/main" noGrp="1"/>
          </p:cNvSpPr>
          <p:nvPr/>
        </p:nvSpPr>
        <p:spPr>
          <a:xfrm xmlns:a="http://schemas.openxmlformats.org/drawingml/2006/main">
            <a:off x="533400" y="5524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66744D"/>
                </a:solidFill>
                <a:latin typeface="Arial"/>
                <a:ea typeface="Arial"/>
                <a:cs typeface="Arial"/>
              </a:defRPr>
            </a:pPr>
            <a:r>
              <a:rPr sz="1050" b="1">
                <a:solidFill>
                  <a:srgbClr val="66744D"/>
                </a:solidFill>
                <a:latin typeface="Arial"/>
                <a:ea typeface="Arial"/>
                <a:cs typeface="Arial"/>
              </a:rPr>
              <a:t>CERITA KAMI</a:t>
            </a:r>
          </a:p>
        </p:txBody>
      </p:sp>
      <p:sp>
        <p:nvSpPr>
          <p:cNvPr id="3" name="">
            <a:extLst xmlns:a="http://schemas.openxmlformats.org/drawingml/2006/main">
              <a:ext uri="{FF2B5EF4-FFF2-40B4-BE49-F238E27FC236}">
                <a16:creationId xmlns:a16="http://schemas.microsoft.com/office/drawing/2014/main" id="{C52F6C75-0F61-415B-B22C-0AB20F58C18D}"/>
              </a:ext>
            </a:extLst>
          </p:cNvPr>
          <p:cNvSpPr>
            <a:spLocks xmlns:a="http://schemas.openxmlformats.org/drawingml/2006/main" noGrp="1"/>
          </p:cNvSpPr>
          <p:nvPr/>
        </p:nvSpPr>
        <p:spPr>
          <a:xfrm xmlns:a="http://schemas.openxmlformats.org/drawingml/2006/main">
            <a:off x="533400" y="80010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261D18"/>
                </a:solidFill>
                <a:latin typeface="Arial"/>
                <a:ea typeface="Arial"/>
                <a:cs typeface="Arial"/>
              </a:defRPr>
            </a:pPr>
            <a:r>
              <a:rPr sz="2850" b="1">
                <a:solidFill>
                  <a:srgbClr val="261D18"/>
                </a:solidFill>
                <a:latin typeface="Arial"/>
                <a:ea typeface="Arial"/>
                <a:cs typeface="Arial"/>
              </a:rPr>
              <a:t>Profil bisnis membangun konteks dan identitas</a:t>
            </a:r>
          </a:p>
        </p:txBody>
      </p:sp>
      <p:sp>
        <p:nvSpPr>
          <p:cNvPr id="4" name="">
            <a:extLst xmlns:a="http://schemas.openxmlformats.org/drawingml/2006/main">
              <a:ext uri="{FF2B5EF4-FFF2-40B4-BE49-F238E27FC236}">
                <a16:creationId xmlns:a16="http://schemas.microsoft.com/office/drawing/2014/main" id="{4C118A04-1EFE-469A-A6D9-6D7DD48D0DFB}"/>
              </a:ext>
            </a:extLst>
          </p:cNvPr>
          <p:cNvSpPr>
            <a:spLocks xmlns:a="http://schemas.openxmlformats.org/drawingml/2006/main" noGrp="1"/>
          </p:cNvSpPr>
          <p:nvPr/>
        </p:nvSpPr>
        <p:spPr>
          <a:xfrm xmlns:a="http://schemas.openxmlformats.org/drawingml/2006/main">
            <a:off x="552450" y="1323975"/>
            <a:ext cx="1100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E655E"/>
                </a:solidFill>
                <a:latin typeface="Arial"/>
                <a:ea typeface="Arial"/>
                <a:cs typeface="Arial"/>
              </a:defRPr>
            </a:pPr>
            <a:r>
              <a:rPr sz="1350" b="0">
                <a:solidFill>
                  <a:srgbClr val="6E655E"/>
                </a:solidFill>
                <a:latin typeface="Arial"/>
                <a:ea typeface="Arial"/>
                <a:cs typeface="Arial"/>
              </a:rPr>
              <a:t>Bagian Cerita Kami berisi narasi brand singkat yang telah ditulis pada website.</a:t>
            </a:r>
          </a:p>
        </p:txBody>
      </p:sp>
      <p:sp>
        <p:nvSpPr>
          <p:cNvPr id="5" name="">
            <a:extLst xmlns:a="http://schemas.openxmlformats.org/drawingml/2006/main">
              <a:ext uri="{FF2B5EF4-FFF2-40B4-BE49-F238E27FC236}">
                <a16:creationId xmlns:a16="http://schemas.microsoft.com/office/drawing/2014/main" id="{AE179F6D-55F8-46BE-8D4E-8CD51A50C6E8}"/>
              </a:ext>
            </a:extLst>
          </p:cNvPr>
          <p:cNvSpPr>
            <a:spLocks xmlns:a="http://schemas.openxmlformats.org/drawingml/2006/main" noGrp="1"/>
          </p:cNvSpPr>
          <p:nvPr/>
        </p:nvSpPr>
        <p:spPr>
          <a:xfrm xmlns:a="http://schemas.openxmlformats.org/drawingml/2006/main">
            <a:off x="533400" y="1685925"/>
            <a:ext cx="11125200" cy="19050"/>
          </a:xfrm>
          <a:prstGeom xmlns:a="http://schemas.openxmlformats.org/drawingml/2006/main" prst="rect">
            <a:avLst/>
          </a:prstGeom>
          <a:solidFill xmlns:a="http://schemas.openxmlformats.org/drawingml/2006/main">
            <a:srgbClr val="D8C9B7"/>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b451e08af474345"/>
          <a:stretch xmlns:a="http://schemas.openxmlformats.org/drawingml/2006/main"/>
        </p:blipFill>
        <p:spPr>
          <a:xfrm xmlns:a="http://schemas.openxmlformats.org/drawingml/2006/main">
            <a:off x="742950" y="2209800"/>
            <a:ext cx="2857500" cy="2857500"/>
          </a:xfrm>
          <a:prstGeom xmlns:a="http://schemas.openxmlformats.org/drawingml/2006/main" prst="roundRect">
            <a:avLst>
              <a:gd name="adj" fmla="val 6000"/>
            </a:avLst>
          </a:prstGeom>
        </p:spPr>
      </p:pic>
      <p:sp>
        <p:nvSpPr>
          <p:cNvPr id="7" name="">
            <a:extLst xmlns:a="http://schemas.openxmlformats.org/drawingml/2006/main">
              <a:ext uri="{FF2B5EF4-FFF2-40B4-BE49-F238E27FC236}">
                <a16:creationId xmlns:a16="http://schemas.microsoft.com/office/drawing/2014/main" id="{4CD9D678-1F53-49BC-82C7-238A92378C86}"/>
              </a:ext>
            </a:extLst>
          </p:cNvPr>
          <p:cNvSpPr>
            <a:spLocks xmlns:a="http://schemas.openxmlformats.org/drawingml/2006/main" noGrp="1"/>
          </p:cNvSpPr>
          <p:nvPr/>
        </p:nvSpPr>
        <p:spPr>
          <a:xfrm xmlns:a="http://schemas.openxmlformats.org/drawingml/2006/main">
            <a:off x="4095750" y="2152650"/>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66744D"/>
                </a:solidFill>
                <a:latin typeface="Arial"/>
                <a:ea typeface="Arial"/>
                <a:cs typeface="Arial"/>
              </a:defRPr>
            </a:pPr>
            <a:r>
              <a:rPr sz="1500" b="1">
                <a:solidFill>
                  <a:srgbClr val="66744D"/>
                </a:solidFill>
                <a:latin typeface="Arial"/>
                <a:ea typeface="Arial"/>
                <a:cs typeface="Arial"/>
              </a:rPr>
              <a:t>Yang ditampilkan</a:t>
            </a:r>
          </a:p>
        </p:txBody>
      </p:sp>
      <p:sp>
        <p:nvSpPr>
          <p:cNvPr id="8" name="">
            <a:extLst xmlns:a="http://schemas.openxmlformats.org/drawingml/2006/main">
              <a:ext uri="{FF2B5EF4-FFF2-40B4-BE49-F238E27FC236}">
                <a16:creationId xmlns:a16="http://schemas.microsoft.com/office/drawing/2014/main" id="{47D5ADEF-5773-41F6-AC71-A953AA4764F0}"/>
              </a:ext>
            </a:extLst>
          </p:cNvPr>
          <p:cNvSpPr>
            <a:spLocks xmlns:a="http://schemas.openxmlformats.org/drawingml/2006/main" noGrp="1"/>
          </p:cNvSpPr>
          <p:nvPr/>
        </p:nvSpPr>
        <p:spPr>
          <a:xfrm xmlns:a="http://schemas.openxmlformats.org/drawingml/2006/main">
            <a:off x="4095750" y="2762250"/>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3F28287-7128-4E2A-85B4-57D2CA1A537B}"/>
              </a:ext>
            </a:extLst>
          </p:cNvPr>
          <p:cNvSpPr>
            <a:spLocks xmlns:a="http://schemas.openxmlformats.org/drawingml/2006/main" noGrp="1"/>
          </p:cNvSpPr>
          <p:nvPr/>
        </p:nvSpPr>
        <p:spPr>
          <a:xfrm xmlns:a="http://schemas.openxmlformats.org/drawingml/2006/main">
            <a:off x="4305300" y="2638425"/>
            <a:ext cx="66960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61D18"/>
                </a:solidFill>
                <a:latin typeface="Arial"/>
                <a:ea typeface="Arial"/>
                <a:cs typeface="Arial"/>
              </a:defRPr>
            </a:pPr>
            <a:r>
              <a:rPr sz="1500" b="0">
                <a:solidFill>
                  <a:srgbClr val="261D18"/>
                </a:solidFill>
                <a:latin typeface="Arial"/>
                <a:ea typeface="Arial"/>
                <a:cs typeface="Arial"/>
              </a:rPr>
              <a:t>Identitas FD Culinary / FD Drinks.</a:t>
            </a:r>
          </a:p>
        </p:txBody>
      </p:sp>
      <p:sp>
        <p:nvSpPr>
          <p:cNvPr id="10" name="">
            <a:extLst xmlns:a="http://schemas.openxmlformats.org/drawingml/2006/main">
              <a:ext uri="{FF2B5EF4-FFF2-40B4-BE49-F238E27FC236}">
                <a16:creationId xmlns:a16="http://schemas.microsoft.com/office/drawing/2014/main" id="{FF66C22E-7047-436A-89FC-6854394C5DBA}"/>
              </a:ext>
            </a:extLst>
          </p:cNvPr>
          <p:cNvSpPr>
            <a:spLocks xmlns:a="http://schemas.openxmlformats.org/drawingml/2006/main" noGrp="1"/>
          </p:cNvSpPr>
          <p:nvPr/>
        </p:nvSpPr>
        <p:spPr>
          <a:xfrm xmlns:a="http://schemas.openxmlformats.org/drawingml/2006/main">
            <a:off x="4095750" y="3295650"/>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CB1F1EF-831B-4801-B137-1FA6959AE693}"/>
              </a:ext>
            </a:extLst>
          </p:cNvPr>
          <p:cNvSpPr>
            <a:spLocks xmlns:a="http://schemas.openxmlformats.org/drawingml/2006/main" noGrp="1"/>
          </p:cNvSpPr>
          <p:nvPr/>
        </p:nvSpPr>
        <p:spPr>
          <a:xfrm xmlns:a="http://schemas.openxmlformats.org/drawingml/2006/main">
            <a:off x="4305300" y="3171825"/>
            <a:ext cx="66960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61D18"/>
                </a:solidFill>
                <a:latin typeface="Arial"/>
                <a:ea typeface="Arial"/>
                <a:cs typeface="Arial"/>
              </a:defRPr>
            </a:pPr>
            <a:r>
              <a:rPr sz="1500" b="0">
                <a:solidFill>
                  <a:srgbClr val="261D18"/>
                </a:solidFill>
                <a:latin typeface="Arial"/>
                <a:ea typeface="Arial"/>
                <a:cs typeface="Arial"/>
              </a:rPr>
              <a:t>Narasi singkat tentang usaha dan produk.</a:t>
            </a:r>
          </a:p>
        </p:txBody>
      </p:sp>
      <p:sp>
        <p:nvSpPr>
          <p:cNvPr id="12" name="">
            <a:extLst xmlns:a="http://schemas.openxmlformats.org/drawingml/2006/main">
              <a:ext uri="{FF2B5EF4-FFF2-40B4-BE49-F238E27FC236}">
                <a16:creationId xmlns:a16="http://schemas.microsoft.com/office/drawing/2014/main" id="{687D8314-9569-4727-9BDC-63447E155372}"/>
              </a:ext>
            </a:extLst>
          </p:cNvPr>
          <p:cNvSpPr>
            <a:spLocks xmlns:a="http://schemas.openxmlformats.org/drawingml/2006/main" noGrp="1"/>
          </p:cNvSpPr>
          <p:nvPr/>
        </p:nvSpPr>
        <p:spPr>
          <a:xfrm xmlns:a="http://schemas.openxmlformats.org/drawingml/2006/main">
            <a:off x="4095750" y="3829050"/>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71FA139-D345-4C32-A7DE-A7874848A66B}"/>
              </a:ext>
            </a:extLst>
          </p:cNvPr>
          <p:cNvSpPr>
            <a:spLocks xmlns:a="http://schemas.openxmlformats.org/drawingml/2006/main" noGrp="1"/>
          </p:cNvSpPr>
          <p:nvPr/>
        </p:nvSpPr>
        <p:spPr>
          <a:xfrm xmlns:a="http://schemas.openxmlformats.org/drawingml/2006/main">
            <a:off x="4305300" y="3705225"/>
            <a:ext cx="66960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61D18"/>
                </a:solidFill>
                <a:latin typeface="Arial"/>
                <a:ea typeface="Arial"/>
                <a:cs typeface="Arial"/>
              </a:defRPr>
            </a:pPr>
            <a:r>
              <a:rPr sz="1500" b="0">
                <a:solidFill>
                  <a:srgbClr val="261D18"/>
                </a:solidFill>
                <a:latin typeface="Arial"/>
                <a:ea typeface="Arial"/>
                <a:cs typeface="Arial"/>
              </a:rPr>
              <a:t>Tautan menu dan review pada footer.</a:t>
            </a:r>
          </a:p>
        </p:txBody>
      </p:sp>
      <p:sp>
        <p:nvSpPr>
          <p:cNvPr id="14" name="">
            <a:extLst xmlns:a="http://schemas.openxmlformats.org/drawingml/2006/main">
              <a:ext uri="{FF2B5EF4-FFF2-40B4-BE49-F238E27FC236}">
                <a16:creationId xmlns:a16="http://schemas.microsoft.com/office/drawing/2014/main" id="{8454EA70-EBE3-49C4-9226-D7282B6ABF92}"/>
              </a:ext>
            </a:extLst>
          </p:cNvPr>
          <p:cNvSpPr>
            <a:spLocks xmlns:a="http://schemas.openxmlformats.org/drawingml/2006/main" noGrp="1"/>
          </p:cNvSpPr>
          <p:nvPr/>
        </p:nvSpPr>
        <p:spPr>
          <a:xfrm xmlns:a="http://schemas.openxmlformats.org/drawingml/2006/main">
            <a:off x="4095750" y="4362450"/>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4CE1A5D-FF86-46EF-86BA-28B3E6433E5C}"/>
              </a:ext>
            </a:extLst>
          </p:cNvPr>
          <p:cNvSpPr>
            <a:spLocks xmlns:a="http://schemas.openxmlformats.org/drawingml/2006/main" noGrp="1"/>
          </p:cNvSpPr>
          <p:nvPr/>
        </p:nvSpPr>
        <p:spPr>
          <a:xfrm xmlns:a="http://schemas.openxmlformats.org/drawingml/2006/main">
            <a:off x="4305300" y="4238625"/>
            <a:ext cx="66960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61D18"/>
                </a:solidFill>
                <a:latin typeface="Arial"/>
                <a:ea typeface="Arial"/>
                <a:cs typeface="Arial"/>
              </a:defRPr>
            </a:pPr>
            <a:r>
              <a:rPr sz="1500" b="0">
                <a:solidFill>
                  <a:srgbClr val="261D18"/>
                </a:solidFill>
                <a:latin typeface="Arial"/>
                <a:ea typeface="Arial"/>
                <a:cs typeface="Arial"/>
              </a:rPr>
              <a:t>Poster katalog versi lengkap yang dapat diperbesar.</a:t>
            </a:r>
          </a:p>
        </p:txBody>
      </p:sp>
      <p:sp>
        <p:nvSpPr>
          <p:cNvPr id="16" name="">
            <a:extLst xmlns:a="http://schemas.openxmlformats.org/drawingml/2006/main">
              <a:ext uri="{FF2B5EF4-FFF2-40B4-BE49-F238E27FC236}">
                <a16:creationId xmlns:a16="http://schemas.microsoft.com/office/drawing/2014/main" id="{BF0FD624-FA4A-43D3-A218-D4E3FAD1197F}"/>
              </a:ext>
            </a:extLst>
          </p:cNvPr>
          <p:cNvSpPr>
            <a:spLocks xmlns:a="http://schemas.openxmlformats.org/drawingml/2006/main" noGrp="1"/>
          </p:cNvSpPr>
          <p:nvPr/>
        </p:nvSpPr>
        <p:spPr>
          <a:xfrm xmlns:a="http://schemas.openxmlformats.org/drawingml/2006/main">
            <a:off x="4095750" y="5029200"/>
            <a:ext cx="6905625" cy="704850"/>
          </a:xfrm>
          <a:prstGeom xmlns:a="http://schemas.openxmlformats.org/drawingml/2006/main" prst="roundRect">
            <a:avLst>
              <a:gd name="adj" fmla="val 16216"/>
            </a:avLst>
          </a:prstGeom>
          <a:solidFill xmlns:a="http://schemas.openxmlformats.org/drawingml/2006/main">
            <a:srgbClr val="F1E4D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75DA943-580A-4186-84D7-C386D9411576}"/>
              </a:ext>
            </a:extLst>
          </p:cNvPr>
          <p:cNvSpPr>
            <a:spLocks xmlns:a="http://schemas.openxmlformats.org/drawingml/2006/main" noGrp="1"/>
          </p:cNvSpPr>
          <p:nvPr/>
        </p:nvSpPr>
        <p:spPr>
          <a:xfrm xmlns:a="http://schemas.openxmlformats.org/drawingml/2006/main">
            <a:off x="4295775" y="5133975"/>
            <a:ext cx="647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754D35"/>
                </a:solidFill>
                <a:latin typeface="Arial"/>
                <a:ea typeface="Arial"/>
                <a:cs typeface="Arial"/>
              </a:defRPr>
            </a:pPr>
            <a:r>
              <a:rPr sz="1350" b="1">
                <a:solidFill>
                  <a:srgbClr val="754D35"/>
                </a:solidFill>
                <a:latin typeface="Arial"/>
                <a:ea typeface="Arial"/>
                <a:cs typeface="Arial"/>
              </a:rPr>
              <a:t>Profil usaha masih perlu dilengkapi owner</a:t>
            </a:r>
          </a:p>
        </p:txBody>
      </p:sp>
      <p:sp>
        <p:nvSpPr>
          <p:cNvPr id="18" name="">
            <a:extLst xmlns:a="http://schemas.openxmlformats.org/drawingml/2006/main">
              <a:ext uri="{FF2B5EF4-FFF2-40B4-BE49-F238E27FC236}">
                <a16:creationId xmlns:a16="http://schemas.microsoft.com/office/drawing/2014/main" id="{773CD4E4-70E4-46B6-82DD-A64631447ED6}"/>
              </a:ext>
            </a:extLst>
          </p:cNvPr>
          <p:cNvSpPr>
            <a:spLocks xmlns:a="http://schemas.openxmlformats.org/drawingml/2006/main" noGrp="1"/>
          </p:cNvSpPr>
          <p:nvPr/>
        </p:nvSpPr>
        <p:spPr>
          <a:xfrm xmlns:a="http://schemas.openxmlformats.org/drawingml/2006/main">
            <a:off x="4295775" y="5400675"/>
            <a:ext cx="647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6E655E"/>
                </a:solidFill>
                <a:latin typeface="Arial"/>
                <a:ea typeface="Arial"/>
                <a:cs typeface="Arial"/>
              </a:defRPr>
            </a:pPr>
            <a:r>
              <a:rPr sz="1200" b="0">
                <a:solidFill>
                  <a:srgbClr val="6E655E"/>
                </a:solidFill>
                <a:latin typeface="Arial"/>
                <a:ea typeface="Arial"/>
                <a:cs typeface="Arial"/>
              </a:rPr>
              <a:t>Alamat • jam buka • area layanan • tautan sosial media</a:t>
            </a:r>
          </a:p>
        </p:txBody>
      </p:sp>
      <p:sp>
        <p:nvSpPr>
          <p:cNvPr id="19" name="">
            <a:extLst xmlns:a="http://schemas.openxmlformats.org/drawingml/2006/main">
              <a:ext uri="{FF2B5EF4-FFF2-40B4-BE49-F238E27FC236}">
                <a16:creationId xmlns:a16="http://schemas.microsoft.com/office/drawing/2014/main" id="{DE9EA618-9F07-4A43-945D-E903207C1C13}"/>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D988CBF-95A2-4136-AD52-8EE91C82150C}"/>
              </a:ext>
            </a:extLst>
          </p:cNvPr>
          <p:cNvSpPr>
            <a:spLocks xmlns:a="http://schemas.openxmlformats.org/drawingml/2006/main" noGrp="1"/>
          </p:cNvSpPr>
          <p:nvPr/>
        </p:nvSpPr>
        <p:spPr>
          <a:xfrm xmlns:a="http://schemas.openxmlformats.org/drawingml/2006/main">
            <a:off x="53340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6E655E"/>
                </a:solidFill>
                <a:latin typeface="Arial"/>
                <a:ea typeface="Arial"/>
                <a:cs typeface="Arial"/>
              </a:defRPr>
            </a:pPr>
            <a:r>
              <a:rPr sz="900" b="0">
                <a:solidFill>
                  <a:srgbClr val="6E655E"/>
                </a:solidFill>
                <a:latin typeface="Arial"/>
                <a:ea typeface="Arial"/>
                <a:cs typeface="Arial"/>
              </a:rPr>
              <a:t>FD Culinary  •  Gambaran versi website saat ini</a:t>
            </a:r>
          </a:p>
        </p:txBody>
      </p:sp>
      <p:sp>
        <p:nvSpPr>
          <p:cNvPr id="21" name="">
            <a:extLst xmlns:a="http://schemas.openxmlformats.org/drawingml/2006/main">
              <a:ext uri="{FF2B5EF4-FFF2-40B4-BE49-F238E27FC236}">
                <a16:creationId xmlns:a16="http://schemas.microsoft.com/office/drawing/2014/main" id="{783FE6C4-7040-49FC-A4E4-79654F5A2080}"/>
              </a:ext>
            </a:extLst>
          </p:cNvPr>
          <p:cNvSpPr>
            <a:spLocks xmlns:a="http://schemas.openxmlformats.org/drawingml/2006/main" noGrp="1"/>
          </p:cNvSpPr>
          <p:nvPr/>
        </p:nvSpPr>
        <p:spPr>
          <a:xfrm xmlns:a="http://schemas.openxmlformats.org/drawingml/2006/main">
            <a:off x="11144250" y="64865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754D35"/>
                </a:solidFill>
                <a:latin typeface="Arial"/>
                <a:ea typeface="Arial"/>
                <a:cs typeface="Arial"/>
              </a:defRPr>
            </a:pPr>
            <a:r>
              <a:rPr sz="900" b="1">
                <a:solidFill>
                  <a:srgbClr val="754D35"/>
                </a:solidFill>
                <a:latin typeface="Arial"/>
                <a:ea typeface="Arial"/>
                <a:cs typeface="Arial"/>
              </a:rPr>
              <a:t>09</a:t>
            </a:r>
          </a:p>
        </p:txBody>
      </p:sp>
    </p:spTree>
    <p:extLst>
      <p:ext uri="{BB962C8B-B14F-4D97-AF65-F5344CB8AC3E}">
        <p14:creationId xmlns:p14="http://schemas.microsoft.com/office/powerpoint/2010/main" val="772006845"/>
      </p:ext>
    </p:extLst>
  </p:cSld>
</p:sld>
</file>

<file path=ppt/slides/slide10.xml><?xml version="1.0" encoding="utf-8"?>
<p:sld xmlns:p="http://schemas.openxmlformats.org/presentationml/2006/main">
  <p:cSld>
    <p:bg>
      <p:bgPr>
        <a:solidFill xmlns:a="http://schemas.openxmlformats.org/drawingml/2006/main">
          <a:srgbClr val="F8F3E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8D0827C-86B3-43AA-8191-0D1F030F7FE7}"/>
              </a:ext>
            </a:extLst>
          </p:cNvPr>
          <p:cNvSpPr>
            <a:spLocks xmlns:a="http://schemas.openxmlformats.org/drawingml/2006/main" noGrp="1"/>
          </p:cNvSpPr>
          <p:nvPr/>
        </p:nvSpPr>
        <p:spPr>
          <a:xfrm xmlns:a="http://schemas.openxmlformats.org/drawingml/2006/main">
            <a:off x="533400" y="228600"/>
            <a:ext cx="552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754D35"/>
                </a:solidFill>
                <a:latin typeface="Arial"/>
                <a:ea typeface="Arial"/>
                <a:cs typeface="Arial"/>
              </a:defRPr>
            </a:pPr>
            <a:r>
              <a:rPr sz="1050" b="1">
                <a:solidFill>
                  <a:srgbClr val="754D35"/>
                </a:solidFill>
                <a:latin typeface="Arial"/>
                <a:ea typeface="Arial"/>
                <a:cs typeface="Arial"/>
              </a:rPr>
              <a:t>FD CULINARY  /  PRESENTASI WEBSITE</a:t>
            </a:r>
          </a:p>
        </p:txBody>
      </p:sp>
      <p:sp>
        <p:nvSpPr>
          <p:cNvPr id="2" name="">
            <a:extLst xmlns:a="http://schemas.openxmlformats.org/drawingml/2006/main">
              <a:ext uri="{FF2B5EF4-FFF2-40B4-BE49-F238E27FC236}">
                <a16:creationId xmlns:a16="http://schemas.microsoft.com/office/drawing/2014/main" id="{987DB27C-C0C4-4FEB-AF3E-A45222E87357}"/>
              </a:ext>
            </a:extLst>
          </p:cNvPr>
          <p:cNvSpPr>
            <a:spLocks xmlns:a="http://schemas.openxmlformats.org/drawingml/2006/main" noGrp="1"/>
          </p:cNvSpPr>
          <p:nvPr/>
        </p:nvSpPr>
        <p:spPr>
          <a:xfrm xmlns:a="http://schemas.openxmlformats.org/drawingml/2006/main">
            <a:off x="533400" y="5524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66744D"/>
                </a:solidFill>
                <a:latin typeface="Arial"/>
                <a:ea typeface="Arial"/>
                <a:cs typeface="Arial"/>
              </a:defRPr>
            </a:pPr>
            <a:r>
              <a:rPr sz="1050" b="1">
                <a:solidFill>
                  <a:srgbClr val="66744D"/>
                </a:solidFill>
                <a:latin typeface="Arial"/>
                <a:ea typeface="Arial"/>
                <a:cs typeface="Arial"/>
              </a:rPr>
              <a:t>REVIEW</a:t>
            </a:r>
          </a:p>
        </p:txBody>
      </p:sp>
      <p:sp>
        <p:nvSpPr>
          <p:cNvPr id="3" name="">
            <a:extLst xmlns:a="http://schemas.openxmlformats.org/drawingml/2006/main">
              <a:ext uri="{FF2B5EF4-FFF2-40B4-BE49-F238E27FC236}">
                <a16:creationId xmlns:a16="http://schemas.microsoft.com/office/drawing/2014/main" id="{8963CDC7-95AB-4E43-B89F-BA23BDC26CA6}"/>
              </a:ext>
            </a:extLst>
          </p:cNvPr>
          <p:cNvSpPr>
            <a:spLocks xmlns:a="http://schemas.openxmlformats.org/drawingml/2006/main" noGrp="1"/>
          </p:cNvSpPr>
          <p:nvPr/>
        </p:nvSpPr>
        <p:spPr>
          <a:xfrm xmlns:a="http://schemas.openxmlformats.org/drawingml/2006/main">
            <a:off x="533400" y="80010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261D18"/>
                </a:solidFill>
                <a:latin typeface="Arial"/>
                <a:ea typeface="Arial"/>
                <a:cs typeface="Arial"/>
              </a:defRPr>
            </a:pPr>
            <a:r>
              <a:rPr sz="2850" b="1">
                <a:solidFill>
                  <a:srgbClr val="261D18"/>
                </a:solidFill>
                <a:latin typeface="Arial"/>
                <a:ea typeface="Arial"/>
                <a:cs typeface="Arial"/>
              </a:rPr>
              <a:t>Ulasan berubah mengikuti kategori yang dilihat</a:t>
            </a:r>
          </a:p>
        </p:txBody>
      </p:sp>
      <p:sp>
        <p:nvSpPr>
          <p:cNvPr id="4" name="">
            <a:extLst xmlns:a="http://schemas.openxmlformats.org/drawingml/2006/main">
              <a:ext uri="{FF2B5EF4-FFF2-40B4-BE49-F238E27FC236}">
                <a16:creationId xmlns:a16="http://schemas.microsoft.com/office/drawing/2014/main" id="{6F2D3F06-E7B3-4239-8858-B2059A39EB72}"/>
              </a:ext>
            </a:extLst>
          </p:cNvPr>
          <p:cNvSpPr>
            <a:spLocks xmlns:a="http://schemas.openxmlformats.org/drawingml/2006/main" noGrp="1"/>
          </p:cNvSpPr>
          <p:nvPr/>
        </p:nvSpPr>
        <p:spPr>
          <a:xfrm xmlns:a="http://schemas.openxmlformats.org/drawingml/2006/main">
            <a:off x="552450" y="1323975"/>
            <a:ext cx="1100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E655E"/>
                </a:solidFill>
                <a:latin typeface="Arial"/>
                <a:ea typeface="Arial"/>
                <a:cs typeface="Arial"/>
              </a:defRPr>
            </a:pPr>
            <a:r>
              <a:rPr sz="1350" b="0">
                <a:solidFill>
                  <a:srgbClr val="6E655E"/>
                </a:solidFill>
                <a:latin typeface="Arial"/>
                <a:ea typeface="Arial"/>
                <a:cs typeface="Arial"/>
              </a:rPr>
              <a:t>Bagian review tidak mencampur ulasan Minuman dan Kue.</a:t>
            </a:r>
          </a:p>
        </p:txBody>
      </p:sp>
      <p:sp>
        <p:nvSpPr>
          <p:cNvPr id="5" name="">
            <a:extLst xmlns:a="http://schemas.openxmlformats.org/drawingml/2006/main">
              <a:ext uri="{FF2B5EF4-FFF2-40B4-BE49-F238E27FC236}">
                <a16:creationId xmlns:a16="http://schemas.microsoft.com/office/drawing/2014/main" id="{03701D7B-2BF5-4D36-8F0A-A701A92D440A}"/>
              </a:ext>
            </a:extLst>
          </p:cNvPr>
          <p:cNvSpPr>
            <a:spLocks xmlns:a="http://schemas.openxmlformats.org/drawingml/2006/main" noGrp="1"/>
          </p:cNvSpPr>
          <p:nvPr/>
        </p:nvSpPr>
        <p:spPr>
          <a:xfrm xmlns:a="http://schemas.openxmlformats.org/drawingml/2006/main">
            <a:off x="533400" y="1685925"/>
            <a:ext cx="11125200" cy="19050"/>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2A9029-D56A-436B-90D9-C1536F7B458C}"/>
              </a:ext>
            </a:extLst>
          </p:cNvPr>
          <p:cNvSpPr>
            <a:spLocks xmlns:a="http://schemas.openxmlformats.org/drawingml/2006/main" noGrp="1"/>
          </p:cNvSpPr>
          <p:nvPr/>
        </p:nvSpPr>
        <p:spPr>
          <a:xfrm xmlns:a="http://schemas.openxmlformats.org/drawingml/2006/main">
            <a:off x="628650" y="2152650"/>
            <a:ext cx="5067300" cy="2952750"/>
          </a:xfrm>
          <a:prstGeom xmlns:a="http://schemas.openxmlformats.org/drawingml/2006/main" prst="roundRect">
            <a:avLst>
              <a:gd name="adj" fmla="val 5806"/>
            </a:avLst>
          </a:prstGeom>
          <a:solidFill xmlns:a="http://schemas.openxmlformats.org/drawingml/2006/main">
            <a:srgbClr val="FFFDF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3EDBDFB-7C5B-43AD-A5D8-ECF100A89C5D}"/>
              </a:ext>
            </a:extLst>
          </p:cNvPr>
          <p:cNvSpPr>
            <a:spLocks xmlns:a="http://schemas.openxmlformats.org/drawingml/2006/main" noGrp="1"/>
          </p:cNvSpPr>
          <p:nvPr/>
        </p:nvSpPr>
        <p:spPr>
          <a:xfrm xmlns:a="http://schemas.openxmlformats.org/drawingml/2006/main">
            <a:off x="5953125" y="2152650"/>
            <a:ext cx="5610225" cy="2952750"/>
          </a:xfrm>
          <a:prstGeom xmlns:a="http://schemas.openxmlformats.org/drawingml/2006/main" prst="roundRect">
            <a:avLst>
              <a:gd name="adj" fmla="val 5806"/>
            </a:avLst>
          </a:prstGeom>
          <a:solidFill xmlns:a="http://schemas.openxmlformats.org/drawingml/2006/main">
            <a:srgbClr val="E9EBD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6BDF2AF-25F1-4F54-AB79-0644BCD48D6F}"/>
              </a:ext>
            </a:extLst>
          </p:cNvPr>
          <p:cNvSpPr>
            <a:spLocks xmlns:a="http://schemas.openxmlformats.org/drawingml/2006/main" noGrp="1"/>
          </p:cNvSpPr>
          <p:nvPr/>
        </p:nvSpPr>
        <p:spPr>
          <a:xfrm xmlns:a="http://schemas.openxmlformats.org/drawingml/2006/main">
            <a:off x="895350" y="24098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66744D"/>
                </a:solidFill>
                <a:latin typeface="Arial"/>
                <a:ea typeface="Arial"/>
                <a:cs typeface="Arial"/>
              </a:defRPr>
            </a:pPr>
            <a:r>
              <a:rPr sz="1200" b="1">
                <a:solidFill>
                  <a:srgbClr val="66744D"/>
                </a:solidFill>
                <a:latin typeface="Arial"/>
                <a:ea typeface="Arial"/>
                <a:cs typeface="Arial"/>
              </a:rPr>
              <a:t>MINUMAN</a:t>
            </a:r>
          </a:p>
        </p:txBody>
      </p:sp>
      <p:sp>
        <p:nvSpPr>
          <p:cNvPr id="9" name="">
            <a:extLst xmlns:a="http://schemas.openxmlformats.org/drawingml/2006/main">
              <a:ext uri="{FF2B5EF4-FFF2-40B4-BE49-F238E27FC236}">
                <a16:creationId xmlns:a16="http://schemas.microsoft.com/office/drawing/2014/main" id="{101F646F-3024-40B2-8512-593891C9F160}"/>
              </a:ext>
            </a:extLst>
          </p:cNvPr>
          <p:cNvSpPr>
            <a:spLocks xmlns:a="http://schemas.openxmlformats.org/drawingml/2006/main" noGrp="1"/>
          </p:cNvSpPr>
          <p:nvPr/>
        </p:nvSpPr>
        <p:spPr>
          <a:xfrm xmlns:a="http://schemas.openxmlformats.org/drawingml/2006/main">
            <a:off x="895350" y="2828925"/>
            <a:ext cx="433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325" b="1">
                <a:solidFill>
                  <a:srgbClr val="261D18"/>
                </a:solidFill>
                <a:latin typeface="Arial"/>
                <a:ea typeface="Arial"/>
                <a:cs typeface="Arial"/>
              </a:defRPr>
            </a:pPr>
            <a:r>
              <a:rPr sz="2325" b="1">
                <a:solidFill>
                  <a:srgbClr val="261D18"/>
                </a:solidFill>
                <a:latin typeface="Arial"/>
                <a:ea typeface="Arial"/>
                <a:cs typeface="Arial"/>
              </a:rPr>
              <a:t>3 ulasan tersedia</a:t>
            </a:r>
          </a:p>
        </p:txBody>
      </p:sp>
      <p:sp>
        <p:nvSpPr>
          <p:cNvPr id="10" name="">
            <a:extLst xmlns:a="http://schemas.openxmlformats.org/drawingml/2006/main">
              <a:ext uri="{FF2B5EF4-FFF2-40B4-BE49-F238E27FC236}">
                <a16:creationId xmlns:a16="http://schemas.microsoft.com/office/drawing/2014/main" id="{FE4A2574-D675-4000-96DD-60D1D50F9E40}"/>
              </a:ext>
            </a:extLst>
          </p:cNvPr>
          <p:cNvSpPr>
            <a:spLocks xmlns:a="http://schemas.openxmlformats.org/drawingml/2006/main" noGrp="1"/>
          </p:cNvSpPr>
          <p:nvPr/>
        </p:nvSpPr>
        <p:spPr>
          <a:xfrm xmlns:a="http://schemas.openxmlformats.org/drawingml/2006/main">
            <a:off x="895350" y="3581400"/>
            <a:ext cx="4238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E655E"/>
                </a:solidFill>
                <a:latin typeface="Arial"/>
                <a:ea typeface="Arial"/>
                <a:cs typeface="Arial"/>
              </a:defRPr>
            </a:pPr>
            <a:r>
              <a:rPr sz="1575" b="0">
                <a:solidFill>
                  <a:srgbClr val="6E655E"/>
                </a:solidFill>
                <a:latin typeface="Arial"/>
                <a:ea typeface="Arial"/>
                <a:cs typeface="Arial"/>
              </a:rPr>
              <a:t>Carousel ulasan dan video review minuman.</a:t>
            </a:r>
          </a:p>
        </p:txBody>
      </p:sp>
      <p:sp>
        <p:nvSpPr>
          <p:cNvPr id="11" name="">
            <a:extLst xmlns:a="http://schemas.openxmlformats.org/drawingml/2006/main">
              <a:ext uri="{FF2B5EF4-FFF2-40B4-BE49-F238E27FC236}">
                <a16:creationId xmlns:a16="http://schemas.microsoft.com/office/drawing/2014/main" id="{B4236064-D86B-4A6F-89AF-9B7524A164CF}"/>
              </a:ext>
            </a:extLst>
          </p:cNvPr>
          <p:cNvSpPr>
            <a:spLocks xmlns:a="http://schemas.openxmlformats.org/drawingml/2006/main" noGrp="1"/>
          </p:cNvSpPr>
          <p:nvPr/>
        </p:nvSpPr>
        <p:spPr>
          <a:xfrm xmlns:a="http://schemas.openxmlformats.org/drawingml/2006/main">
            <a:off x="6238875" y="24098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66744D"/>
                </a:solidFill>
                <a:latin typeface="Arial"/>
                <a:ea typeface="Arial"/>
                <a:cs typeface="Arial"/>
              </a:defRPr>
            </a:pPr>
            <a:r>
              <a:rPr sz="1200" b="1">
                <a:solidFill>
                  <a:srgbClr val="66744D"/>
                </a:solidFill>
                <a:latin typeface="Arial"/>
                <a:ea typeface="Arial"/>
                <a:cs typeface="Arial"/>
              </a:rPr>
              <a:t>KUE</a:t>
            </a:r>
          </a:p>
        </p:txBody>
      </p:sp>
      <p:sp>
        <p:nvSpPr>
          <p:cNvPr id="12" name="">
            <a:extLst xmlns:a="http://schemas.openxmlformats.org/drawingml/2006/main">
              <a:ext uri="{FF2B5EF4-FFF2-40B4-BE49-F238E27FC236}">
                <a16:creationId xmlns:a16="http://schemas.microsoft.com/office/drawing/2014/main" id="{66262539-4236-4966-A5D6-F2F5D3CA875C}"/>
              </a:ext>
            </a:extLst>
          </p:cNvPr>
          <p:cNvSpPr>
            <a:spLocks xmlns:a="http://schemas.openxmlformats.org/drawingml/2006/main" noGrp="1"/>
          </p:cNvSpPr>
          <p:nvPr/>
        </p:nvSpPr>
        <p:spPr>
          <a:xfrm xmlns:a="http://schemas.openxmlformats.org/drawingml/2006/main">
            <a:off x="6238875" y="2828925"/>
            <a:ext cx="4695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100" b="1">
                <a:solidFill>
                  <a:srgbClr val="261D18"/>
                </a:solidFill>
                <a:latin typeface="Arial"/>
                <a:ea typeface="Arial"/>
                <a:cs typeface="Arial"/>
              </a:defRPr>
            </a:pPr>
            <a:r>
              <a:rPr sz="2100" b="1">
                <a:solidFill>
                  <a:srgbClr val="261D18"/>
                </a:solidFill>
                <a:latin typeface="Arial"/>
                <a:ea typeface="Arial"/>
                <a:cs typeface="Arial"/>
              </a:rPr>
              <a:t>Ulasan belum tersedia</a:t>
            </a:r>
          </a:p>
        </p:txBody>
      </p:sp>
      <p:sp>
        <p:nvSpPr>
          <p:cNvPr id="13" name="">
            <a:extLst xmlns:a="http://schemas.openxmlformats.org/drawingml/2006/main">
              <a:ext uri="{FF2B5EF4-FFF2-40B4-BE49-F238E27FC236}">
                <a16:creationId xmlns:a16="http://schemas.microsoft.com/office/drawing/2014/main" id="{806935C9-B056-4BD8-B39B-CB069D5704A2}"/>
              </a:ext>
            </a:extLst>
          </p:cNvPr>
          <p:cNvSpPr>
            <a:spLocks xmlns:a="http://schemas.openxmlformats.org/drawingml/2006/main" noGrp="1"/>
          </p:cNvSpPr>
          <p:nvPr/>
        </p:nvSpPr>
        <p:spPr>
          <a:xfrm xmlns:a="http://schemas.openxmlformats.org/drawingml/2006/main">
            <a:off x="6238875" y="3581400"/>
            <a:ext cx="4619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6E655E"/>
                </a:solidFill>
                <a:latin typeface="Arial"/>
                <a:ea typeface="Arial"/>
                <a:cs typeface="Arial"/>
              </a:defRPr>
            </a:pPr>
            <a:r>
              <a:rPr sz="1500" b="0">
                <a:solidFill>
                  <a:srgbClr val="6E655E"/>
                </a:solidFill>
                <a:latin typeface="Arial"/>
                <a:ea typeface="Arial"/>
                <a:cs typeface="Arial"/>
              </a:rPr>
              <a:t>Website menampilkan kondisi kosong tanpa meminjam review dari kategori Minuman.</a:t>
            </a:r>
          </a:p>
        </p:txBody>
      </p:sp>
      <p:sp>
        <p:nvSpPr>
          <p:cNvPr id="14" name="">
            <a:extLst xmlns:a="http://schemas.openxmlformats.org/drawingml/2006/main">
              <a:ext uri="{FF2B5EF4-FFF2-40B4-BE49-F238E27FC236}">
                <a16:creationId xmlns:a16="http://schemas.microsoft.com/office/drawing/2014/main" id="{D844B5EF-62CB-4829-9A23-027CBF8F4D6A}"/>
              </a:ext>
            </a:extLst>
          </p:cNvPr>
          <p:cNvSpPr>
            <a:spLocks xmlns:a="http://schemas.openxmlformats.org/drawingml/2006/main" noGrp="1"/>
          </p:cNvSpPr>
          <p:nvPr/>
        </p:nvSpPr>
        <p:spPr>
          <a:xfrm xmlns:a="http://schemas.openxmlformats.org/drawingml/2006/main">
            <a:off x="628650" y="5438775"/>
            <a:ext cx="10934700" cy="19050"/>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4F2EDF4-6B82-49AE-89C2-47F933F8616C}"/>
              </a:ext>
            </a:extLst>
          </p:cNvPr>
          <p:cNvSpPr>
            <a:spLocks xmlns:a="http://schemas.openxmlformats.org/drawingml/2006/main" noGrp="1"/>
          </p:cNvSpPr>
          <p:nvPr/>
        </p:nvSpPr>
        <p:spPr>
          <a:xfrm xmlns:a="http://schemas.openxmlformats.org/drawingml/2006/main">
            <a:off x="638175" y="56388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754D35"/>
                </a:solidFill>
                <a:latin typeface="Arial"/>
                <a:ea typeface="Arial"/>
                <a:cs typeface="Arial"/>
              </a:defRPr>
            </a:pPr>
            <a:r>
              <a:rPr sz="1425" b="1">
                <a:solidFill>
                  <a:srgbClr val="754D35"/>
                </a:solidFill>
                <a:latin typeface="Arial"/>
                <a:ea typeface="Arial"/>
                <a:cs typeface="Arial"/>
              </a:rPr>
              <a:t>Video review saat ini hanya ditampilkan pada kategori Minuman.</a:t>
            </a:r>
          </a:p>
        </p:txBody>
      </p:sp>
      <p:sp>
        <p:nvSpPr>
          <p:cNvPr id="16" name="">
            <a:extLst xmlns:a="http://schemas.openxmlformats.org/drawingml/2006/main">
              <a:ext uri="{FF2B5EF4-FFF2-40B4-BE49-F238E27FC236}">
                <a16:creationId xmlns:a16="http://schemas.microsoft.com/office/drawing/2014/main" id="{CBF58CDB-CC08-4122-8CDC-07EB81C02D45}"/>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23048C2-171F-4D57-8E46-583350AF24CC}"/>
              </a:ext>
            </a:extLst>
          </p:cNvPr>
          <p:cNvSpPr>
            <a:spLocks xmlns:a="http://schemas.openxmlformats.org/drawingml/2006/main" noGrp="1"/>
          </p:cNvSpPr>
          <p:nvPr/>
        </p:nvSpPr>
        <p:spPr>
          <a:xfrm xmlns:a="http://schemas.openxmlformats.org/drawingml/2006/main">
            <a:off x="53340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6E655E"/>
                </a:solidFill>
                <a:latin typeface="Arial"/>
                <a:ea typeface="Arial"/>
                <a:cs typeface="Arial"/>
              </a:defRPr>
            </a:pPr>
            <a:r>
              <a:rPr sz="900" b="0">
                <a:solidFill>
                  <a:srgbClr val="6E655E"/>
                </a:solidFill>
                <a:latin typeface="Arial"/>
                <a:ea typeface="Arial"/>
                <a:cs typeface="Arial"/>
              </a:rPr>
              <a:t>FD Culinary  •  Gambaran versi website saat ini</a:t>
            </a:r>
          </a:p>
        </p:txBody>
      </p:sp>
      <p:sp>
        <p:nvSpPr>
          <p:cNvPr id="18" name="">
            <a:extLst xmlns:a="http://schemas.openxmlformats.org/drawingml/2006/main">
              <a:ext uri="{FF2B5EF4-FFF2-40B4-BE49-F238E27FC236}">
                <a16:creationId xmlns:a16="http://schemas.microsoft.com/office/drawing/2014/main" id="{A61E736F-CD2A-4BF7-B1A8-B8ECE27F6BE2}"/>
              </a:ext>
            </a:extLst>
          </p:cNvPr>
          <p:cNvSpPr>
            <a:spLocks xmlns:a="http://schemas.openxmlformats.org/drawingml/2006/main" noGrp="1"/>
          </p:cNvSpPr>
          <p:nvPr/>
        </p:nvSpPr>
        <p:spPr>
          <a:xfrm xmlns:a="http://schemas.openxmlformats.org/drawingml/2006/main">
            <a:off x="11144250" y="64865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754D35"/>
                </a:solidFill>
                <a:latin typeface="Arial"/>
                <a:ea typeface="Arial"/>
                <a:cs typeface="Arial"/>
              </a:defRPr>
            </a:pPr>
            <a:r>
              <a:rPr sz="900" b="1">
                <a:solidFill>
                  <a:srgbClr val="754D35"/>
                </a:solidFill>
                <a:latin typeface="Arial"/>
                <a:ea typeface="Arial"/>
                <a:cs typeface="Arial"/>
              </a:rPr>
              <a:t>10</a:t>
            </a:r>
          </a:p>
        </p:txBody>
      </p:sp>
    </p:spTree>
    <p:extLst>
      <p:ext uri="{BB962C8B-B14F-4D97-AF65-F5344CB8AC3E}">
        <p14:creationId xmlns:p14="http://schemas.microsoft.com/office/powerpoint/2010/main" val="1580045070"/>
      </p:ext>
    </p:extLst>
  </p:cSld>
</p:sld>
</file>

<file path=ppt/slides/slide11.xml><?xml version="1.0" encoding="utf-8"?>
<p:sld xmlns:p="http://schemas.openxmlformats.org/presentationml/2006/main">
  <p:cSld>
    <p:bg>
      <p:bgPr>
        <a:solidFill xmlns:a="http://schemas.openxmlformats.org/drawingml/2006/main">
          <a:srgbClr val="F8F3E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D5D9649-9B47-4944-A659-99BB4B5468BA}"/>
              </a:ext>
            </a:extLst>
          </p:cNvPr>
          <p:cNvSpPr>
            <a:spLocks xmlns:a="http://schemas.openxmlformats.org/drawingml/2006/main" noGrp="1"/>
          </p:cNvSpPr>
          <p:nvPr/>
        </p:nvSpPr>
        <p:spPr>
          <a:xfrm xmlns:a="http://schemas.openxmlformats.org/drawingml/2006/main">
            <a:off x="533400" y="228600"/>
            <a:ext cx="552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754D35"/>
                </a:solidFill>
                <a:latin typeface="Arial"/>
                <a:ea typeface="Arial"/>
                <a:cs typeface="Arial"/>
              </a:defRPr>
            </a:pPr>
            <a:r>
              <a:rPr sz="1050" b="1">
                <a:solidFill>
                  <a:srgbClr val="754D35"/>
                </a:solidFill>
                <a:latin typeface="Arial"/>
                <a:ea typeface="Arial"/>
                <a:cs typeface="Arial"/>
              </a:rPr>
              <a:t>FD CULINARY  /  PRESENTASI WEBSITE</a:t>
            </a:r>
          </a:p>
        </p:txBody>
      </p:sp>
      <p:sp>
        <p:nvSpPr>
          <p:cNvPr id="2" name="">
            <a:extLst xmlns:a="http://schemas.openxmlformats.org/drawingml/2006/main">
              <a:ext uri="{FF2B5EF4-FFF2-40B4-BE49-F238E27FC236}">
                <a16:creationId xmlns:a16="http://schemas.microsoft.com/office/drawing/2014/main" id="{3B99F759-99EB-4B52-B295-2A55FDB81796}"/>
              </a:ext>
            </a:extLst>
          </p:cNvPr>
          <p:cNvSpPr>
            <a:spLocks xmlns:a="http://schemas.openxmlformats.org/drawingml/2006/main" noGrp="1"/>
          </p:cNvSpPr>
          <p:nvPr/>
        </p:nvSpPr>
        <p:spPr>
          <a:xfrm xmlns:a="http://schemas.openxmlformats.org/drawingml/2006/main">
            <a:off x="533400" y="5524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66744D"/>
                </a:solidFill>
                <a:latin typeface="Arial"/>
                <a:ea typeface="Arial"/>
                <a:cs typeface="Arial"/>
              </a:defRPr>
            </a:pPr>
            <a:r>
              <a:rPr sz="1050" b="1">
                <a:solidFill>
                  <a:srgbClr val="66744D"/>
                </a:solidFill>
                <a:latin typeface="Arial"/>
                <a:ea typeface="Arial"/>
                <a:cs typeface="Arial"/>
              </a:rPr>
              <a:t>NAVIGASI DAN PERANGKAT</a:t>
            </a:r>
          </a:p>
        </p:txBody>
      </p:sp>
      <p:sp>
        <p:nvSpPr>
          <p:cNvPr id="3" name="">
            <a:extLst xmlns:a="http://schemas.openxmlformats.org/drawingml/2006/main">
              <a:ext uri="{FF2B5EF4-FFF2-40B4-BE49-F238E27FC236}">
                <a16:creationId xmlns:a16="http://schemas.microsoft.com/office/drawing/2014/main" id="{19000BFD-E5C0-49DE-9255-6C2D9B8CA070}"/>
              </a:ext>
            </a:extLst>
          </p:cNvPr>
          <p:cNvSpPr>
            <a:spLocks xmlns:a="http://schemas.openxmlformats.org/drawingml/2006/main" noGrp="1"/>
          </p:cNvSpPr>
          <p:nvPr/>
        </p:nvSpPr>
        <p:spPr>
          <a:xfrm xmlns:a="http://schemas.openxmlformats.org/drawingml/2006/main">
            <a:off x="533400" y="80010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261D18"/>
                </a:solidFill>
                <a:latin typeface="Arial"/>
                <a:ea typeface="Arial"/>
                <a:cs typeface="Arial"/>
              </a:defRPr>
            </a:pPr>
            <a:r>
              <a:rPr sz="2850" b="1">
                <a:solidFill>
                  <a:srgbClr val="261D18"/>
                </a:solidFill>
                <a:latin typeface="Arial"/>
                <a:ea typeface="Arial"/>
                <a:cs typeface="Arial"/>
              </a:rPr>
              <a:t>Fungsi katalog tetap tersedia di layar kecil</a:t>
            </a:r>
          </a:p>
        </p:txBody>
      </p:sp>
      <p:sp>
        <p:nvSpPr>
          <p:cNvPr id="4" name="">
            <a:extLst xmlns:a="http://schemas.openxmlformats.org/drawingml/2006/main">
              <a:ext uri="{FF2B5EF4-FFF2-40B4-BE49-F238E27FC236}">
                <a16:creationId xmlns:a16="http://schemas.microsoft.com/office/drawing/2014/main" id="{4A13E9E1-57BE-463F-93F9-C8F25D04F6D6}"/>
              </a:ext>
            </a:extLst>
          </p:cNvPr>
          <p:cNvSpPr>
            <a:spLocks xmlns:a="http://schemas.openxmlformats.org/drawingml/2006/main" noGrp="1"/>
          </p:cNvSpPr>
          <p:nvPr/>
        </p:nvSpPr>
        <p:spPr>
          <a:xfrm xmlns:a="http://schemas.openxmlformats.org/drawingml/2006/main">
            <a:off x="552450" y="1323975"/>
            <a:ext cx="1100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E655E"/>
                </a:solidFill>
                <a:latin typeface="Arial"/>
                <a:ea typeface="Arial"/>
                <a:cs typeface="Arial"/>
              </a:defRPr>
            </a:pPr>
            <a:r>
              <a:rPr sz="1350" b="0">
                <a:solidFill>
                  <a:srgbClr val="6E655E"/>
                </a:solidFill>
                <a:latin typeface="Arial"/>
                <a:ea typeface="Arial"/>
                <a:cs typeface="Arial"/>
              </a:rPr>
              <a:t>Tata letak menyesuaikan desktop, tablet, dan ponsel.</a:t>
            </a:r>
          </a:p>
        </p:txBody>
      </p:sp>
      <p:sp>
        <p:nvSpPr>
          <p:cNvPr id="5" name="">
            <a:extLst xmlns:a="http://schemas.openxmlformats.org/drawingml/2006/main">
              <a:ext uri="{FF2B5EF4-FFF2-40B4-BE49-F238E27FC236}">
                <a16:creationId xmlns:a16="http://schemas.microsoft.com/office/drawing/2014/main" id="{29B2B604-DCE4-4DC9-ABF6-3E9F93B17257}"/>
              </a:ext>
            </a:extLst>
          </p:cNvPr>
          <p:cNvSpPr>
            <a:spLocks xmlns:a="http://schemas.openxmlformats.org/drawingml/2006/main" noGrp="1"/>
          </p:cNvSpPr>
          <p:nvPr/>
        </p:nvSpPr>
        <p:spPr>
          <a:xfrm xmlns:a="http://schemas.openxmlformats.org/drawingml/2006/main">
            <a:off x="533400" y="1685925"/>
            <a:ext cx="11125200" cy="19050"/>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3CE684D-66FD-4853-B7EC-F66BF6BD6344}"/>
              </a:ext>
            </a:extLst>
          </p:cNvPr>
          <p:cNvSpPr>
            <a:spLocks xmlns:a="http://schemas.openxmlformats.org/drawingml/2006/main" noGrp="1"/>
          </p:cNvSpPr>
          <p:nvPr/>
        </p:nvSpPr>
        <p:spPr>
          <a:xfrm xmlns:a="http://schemas.openxmlformats.org/drawingml/2006/main">
            <a:off x="857250" y="2143125"/>
            <a:ext cx="2571750" cy="3429000"/>
          </a:xfrm>
          <a:prstGeom xmlns:a="http://schemas.openxmlformats.org/drawingml/2006/main" prst="roundRect">
            <a:avLst>
              <a:gd name="adj" fmla="val 8889"/>
            </a:avLst>
          </a:prstGeom>
          <a:solidFill xmlns:a="http://schemas.openxmlformats.org/drawingml/2006/main">
            <a:srgbClr val="FFFDF9"/>
          </a:solidFill>
          <a:ln xmlns:a="http://schemas.openxmlformats.org/drawingml/2006/main" w="9525">
            <a:solidFill>
              <a:srgbClr val="D8C9B7"/>
            </a:solidFill>
          </a:ln>
        </p:spPr>
      </p:sp>
      <p:sp>
        <p:nvSpPr>
          <p:cNvPr id="7" name="">
            <a:extLst xmlns:a="http://schemas.openxmlformats.org/drawingml/2006/main">
              <a:ext uri="{FF2B5EF4-FFF2-40B4-BE49-F238E27FC236}">
                <a16:creationId xmlns:a16="http://schemas.microsoft.com/office/drawing/2014/main" id="{DEC37C9B-19E4-4E99-99F7-7210D0594D66}"/>
              </a:ext>
            </a:extLst>
          </p:cNvPr>
          <p:cNvSpPr>
            <a:spLocks xmlns:a="http://schemas.openxmlformats.org/drawingml/2006/main" noGrp="1"/>
          </p:cNvSpPr>
          <p:nvPr/>
        </p:nvSpPr>
        <p:spPr>
          <a:xfrm xmlns:a="http://schemas.openxmlformats.org/drawingml/2006/main">
            <a:off x="971550" y="2314575"/>
            <a:ext cx="2343150" cy="3086100"/>
          </a:xfrm>
          <a:prstGeom xmlns:a="http://schemas.openxmlformats.org/drawingml/2006/main" prst="roundRect">
            <a:avLst>
              <a:gd name="adj" fmla="val 7317"/>
            </a:avLst>
          </a:prstGeom>
          <a:solidFill xmlns:a="http://schemas.openxmlformats.org/drawingml/2006/main">
            <a:srgbClr val="F8F3E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F590F47-09EC-49CA-82BB-F530E0492E92}"/>
              </a:ext>
            </a:extLst>
          </p:cNvPr>
          <p:cNvSpPr>
            <a:spLocks xmlns:a="http://schemas.openxmlformats.org/drawingml/2006/main" noGrp="1"/>
          </p:cNvSpPr>
          <p:nvPr/>
        </p:nvSpPr>
        <p:spPr>
          <a:xfrm xmlns:a="http://schemas.openxmlformats.org/drawingml/2006/main">
            <a:off x="1743075" y="2200275"/>
            <a:ext cx="781050" cy="133350"/>
          </a:xfrm>
          <a:prstGeom xmlns:a="http://schemas.openxmlformats.org/drawingml/2006/main" prst="roundRect">
            <a:avLst>
              <a:gd name="adj" fmla="val 50000"/>
            </a:avLst>
          </a:prstGeom>
          <a:solidFill xmlns:a="http://schemas.openxmlformats.org/drawingml/2006/main">
            <a:srgbClr val="D8C9B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66022E6-368E-42AD-91D2-C1A48D7AF33A}"/>
              </a:ext>
            </a:extLst>
          </p:cNvPr>
          <p:cNvSpPr>
            <a:spLocks xmlns:a="http://schemas.openxmlformats.org/drawingml/2006/main" noGrp="1"/>
          </p:cNvSpPr>
          <p:nvPr/>
        </p:nvSpPr>
        <p:spPr>
          <a:xfrm xmlns:a="http://schemas.openxmlformats.org/drawingml/2006/main">
            <a:off x="1123950" y="26003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754D35"/>
                </a:solidFill>
                <a:latin typeface="Arial"/>
                <a:ea typeface="Arial"/>
                <a:cs typeface="Arial"/>
              </a:defRPr>
            </a:pPr>
            <a:r>
              <a:rPr sz="1425" b="1">
                <a:solidFill>
                  <a:srgbClr val="754D35"/>
                </a:solidFill>
                <a:latin typeface="Arial"/>
                <a:ea typeface="Arial"/>
                <a:cs typeface="Arial"/>
              </a:rPr>
              <a:t>FD  ☰</a:t>
            </a:r>
          </a:p>
        </p:txBody>
      </p:sp>
      <p:sp>
        <p:nvSpPr>
          <p:cNvPr id="10" name="">
            <a:extLst xmlns:a="http://schemas.openxmlformats.org/drawingml/2006/main">
              <a:ext uri="{FF2B5EF4-FFF2-40B4-BE49-F238E27FC236}">
                <a16:creationId xmlns:a16="http://schemas.microsoft.com/office/drawing/2014/main" id="{544E3C01-6F7A-4CF8-9406-F208F928DABB}"/>
              </a:ext>
            </a:extLst>
          </p:cNvPr>
          <p:cNvSpPr>
            <a:spLocks xmlns:a="http://schemas.openxmlformats.org/drawingml/2006/main" noGrp="1"/>
          </p:cNvSpPr>
          <p:nvPr/>
        </p:nvSpPr>
        <p:spPr>
          <a:xfrm xmlns:a="http://schemas.openxmlformats.org/drawingml/2006/main">
            <a:off x="1104900" y="3067050"/>
            <a:ext cx="1828800" cy="800100"/>
          </a:xfrm>
          <a:prstGeom xmlns:a="http://schemas.openxmlformats.org/drawingml/2006/main" prst="roundRect">
            <a:avLst>
              <a:gd name="adj" fmla="val 11905"/>
            </a:avLst>
          </a:prstGeom>
          <a:solidFill xmlns:a="http://schemas.openxmlformats.org/drawingml/2006/main">
            <a:srgbClr val="EEE4D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73D36C6-BD17-4F82-B704-ABDB6E91F65D}"/>
              </a:ext>
            </a:extLst>
          </p:cNvPr>
          <p:cNvSpPr>
            <a:spLocks xmlns:a="http://schemas.openxmlformats.org/drawingml/2006/main" noGrp="1"/>
          </p:cNvSpPr>
          <p:nvPr/>
        </p:nvSpPr>
        <p:spPr>
          <a:xfrm xmlns:a="http://schemas.openxmlformats.org/drawingml/2006/main">
            <a:off x="1190625" y="3228975"/>
            <a:ext cx="1666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261D18"/>
                </a:solidFill>
                <a:latin typeface="Arial"/>
                <a:ea typeface="Arial"/>
                <a:cs typeface="Arial"/>
              </a:defRPr>
            </a:pPr>
            <a:r>
              <a:rPr sz="1200" b="1">
                <a:solidFill>
                  <a:srgbClr val="261D18"/>
                </a:solidFill>
                <a:latin typeface="Arial"/>
                <a:ea typeface="Arial"/>
                <a:cs typeface="Arial"/>
              </a:rPr>
              <a:t>Beranda</a:t>
            </a:r>
          </a:p>
        </p:txBody>
      </p:sp>
      <p:sp>
        <p:nvSpPr>
          <p:cNvPr id="12" name="">
            <a:extLst xmlns:a="http://schemas.openxmlformats.org/drawingml/2006/main">
              <a:ext uri="{FF2B5EF4-FFF2-40B4-BE49-F238E27FC236}">
                <a16:creationId xmlns:a16="http://schemas.microsoft.com/office/drawing/2014/main" id="{51239C52-EAEA-4D3F-9CB1-71218D004BAD}"/>
              </a:ext>
            </a:extLst>
          </p:cNvPr>
          <p:cNvSpPr>
            <a:spLocks xmlns:a="http://schemas.openxmlformats.org/drawingml/2006/main" noGrp="1"/>
          </p:cNvSpPr>
          <p:nvPr/>
        </p:nvSpPr>
        <p:spPr>
          <a:xfrm xmlns:a="http://schemas.openxmlformats.org/drawingml/2006/main">
            <a:off x="1104900" y="4000500"/>
            <a:ext cx="1828800" cy="457200"/>
          </a:xfrm>
          <a:prstGeom xmlns:a="http://schemas.openxmlformats.org/drawingml/2006/main" prst="roundRect">
            <a:avLst>
              <a:gd name="adj" fmla="val 16667"/>
            </a:avLst>
          </a:prstGeom>
          <a:solidFill xmlns:a="http://schemas.openxmlformats.org/drawingml/2006/main">
            <a:srgbClr val="FFFD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12700B5-25D1-4C67-9D61-7A2C4AD9D53B}"/>
              </a:ext>
            </a:extLst>
          </p:cNvPr>
          <p:cNvSpPr>
            <a:spLocks xmlns:a="http://schemas.openxmlformats.org/drawingml/2006/main" noGrp="1"/>
          </p:cNvSpPr>
          <p:nvPr/>
        </p:nvSpPr>
        <p:spPr>
          <a:xfrm xmlns:a="http://schemas.openxmlformats.org/drawingml/2006/main">
            <a:off x="1190625" y="4095750"/>
            <a:ext cx="1666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E655E"/>
                </a:solidFill>
                <a:latin typeface="Arial"/>
                <a:ea typeface="Arial"/>
                <a:cs typeface="Arial"/>
              </a:defRPr>
            </a:pPr>
            <a:r>
              <a:rPr sz="1125" b="0">
                <a:solidFill>
                  <a:srgbClr val="6E655E"/>
                </a:solidFill>
                <a:latin typeface="Arial"/>
                <a:ea typeface="Arial"/>
                <a:cs typeface="Arial"/>
              </a:rPr>
              <a:t>Minuman  |  Kue</a:t>
            </a:r>
          </a:p>
        </p:txBody>
      </p:sp>
      <p:sp>
        <p:nvSpPr>
          <p:cNvPr id="14" name="">
            <a:extLst xmlns:a="http://schemas.openxmlformats.org/drawingml/2006/main">
              <a:ext uri="{FF2B5EF4-FFF2-40B4-BE49-F238E27FC236}">
                <a16:creationId xmlns:a16="http://schemas.microsoft.com/office/drawing/2014/main" id="{DDD7753F-A68A-4674-9F58-CDB8A6517A1D}"/>
              </a:ext>
            </a:extLst>
          </p:cNvPr>
          <p:cNvSpPr>
            <a:spLocks xmlns:a="http://schemas.openxmlformats.org/drawingml/2006/main" noGrp="1"/>
          </p:cNvSpPr>
          <p:nvPr/>
        </p:nvSpPr>
        <p:spPr>
          <a:xfrm xmlns:a="http://schemas.openxmlformats.org/drawingml/2006/main">
            <a:off x="1104900" y="4562475"/>
            <a:ext cx="1828800" cy="590550"/>
          </a:xfrm>
          <a:prstGeom xmlns:a="http://schemas.openxmlformats.org/drawingml/2006/main" prst="roundRect">
            <a:avLst>
              <a:gd name="adj" fmla="val 12903"/>
            </a:avLst>
          </a:prstGeom>
          <a:solidFill xmlns:a="http://schemas.openxmlformats.org/drawingml/2006/main">
            <a:srgbClr val="E9EBD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8C3925F-F485-44D3-B834-DB1091670B68}"/>
              </a:ext>
            </a:extLst>
          </p:cNvPr>
          <p:cNvSpPr>
            <a:spLocks xmlns:a="http://schemas.openxmlformats.org/drawingml/2006/main" noGrp="1"/>
          </p:cNvSpPr>
          <p:nvPr/>
        </p:nvSpPr>
        <p:spPr>
          <a:xfrm xmlns:a="http://schemas.openxmlformats.org/drawingml/2006/main">
            <a:off x="1190625" y="4676775"/>
            <a:ext cx="166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261D18"/>
                </a:solidFill>
                <a:latin typeface="Arial"/>
                <a:ea typeface="Arial"/>
                <a:cs typeface="Arial"/>
              </a:defRPr>
            </a:pPr>
            <a:r>
              <a:rPr sz="1050" b="0">
                <a:solidFill>
                  <a:srgbClr val="261D18"/>
                </a:solidFill>
                <a:latin typeface="Arial"/>
                <a:ea typeface="Arial"/>
                <a:cs typeface="Arial"/>
              </a:rPr>
              <a:t>Kartu produk + harga</a:t>
            </a:r>
          </a:p>
        </p:txBody>
      </p:sp>
      <p:sp>
        <p:nvSpPr>
          <p:cNvPr id="16" name="">
            <a:extLst xmlns:a="http://schemas.openxmlformats.org/drawingml/2006/main">
              <a:ext uri="{FF2B5EF4-FFF2-40B4-BE49-F238E27FC236}">
                <a16:creationId xmlns:a16="http://schemas.microsoft.com/office/drawing/2014/main" id="{ED41D186-4869-4684-8142-0B74AC6D562C}"/>
              </a:ext>
            </a:extLst>
          </p:cNvPr>
          <p:cNvSpPr>
            <a:spLocks xmlns:a="http://schemas.openxmlformats.org/drawingml/2006/main" noGrp="1"/>
          </p:cNvSpPr>
          <p:nvPr/>
        </p:nvSpPr>
        <p:spPr>
          <a:xfrm xmlns:a="http://schemas.openxmlformats.org/drawingml/2006/main">
            <a:off x="4171950" y="244792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B5598BE-97F9-4B5D-A7A5-A100183FD997}"/>
              </a:ext>
            </a:extLst>
          </p:cNvPr>
          <p:cNvSpPr>
            <a:spLocks xmlns:a="http://schemas.openxmlformats.org/drawingml/2006/main" noGrp="1"/>
          </p:cNvSpPr>
          <p:nvPr/>
        </p:nvSpPr>
        <p:spPr>
          <a:xfrm xmlns:a="http://schemas.openxmlformats.org/drawingml/2006/main">
            <a:off x="4381500" y="2324100"/>
            <a:ext cx="6838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61D18"/>
                </a:solidFill>
                <a:latin typeface="Arial"/>
                <a:ea typeface="Arial"/>
                <a:cs typeface="Arial"/>
              </a:defRPr>
            </a:pPr>
            <a:r>
              <a:rPr sz="1500" b="0">
                <a:solidFill>
                  <a:srgbClr val="261D18"/>
                </a:solidFill>
                <a:latin typeface="Arial"/>
                <a:ea typeface="Arial"/>
                <a:cs typeface="Arial"/>
              </a:rPr>
              <a:t>Menu ringkas dapat dibuka di ponsel.</a:t>
            </a:r>
          </a:p>
        </p:txBody>
      </p:sp>
      <p:sp>
        <p:nvSpPr>
          <p:cNvPr id="18" name="">
            <a:extLst xmlns:a="http://schemas.openxmlformats.org/drawingml/2006/main">
              <a:ext uri="{FF2B5EF4-FFF2-40B4-BE49-F238E27FC236}">
                <a16:creationId xmlns:a16="http://schemas.microsoft.com/office/drawing/2014/main" id="{D477942F-E384-467B-9071-612DEB7B6B67}"/>
              </a:ext>
            </a:extLst>
          </p:cNvPr>
          <p:cNvSpPr>
            <a:spLocks xmlns:a="http://schemas.openxmlformats.org/drawingml/2006/main" noGrp="1"/>
          </p:cNvSpPr>
          <p:nvPr/>
        </p:nvSpPr>
        <p:spPr>
          <a:xfrm xmlns:a="http://schemas.openxmlformats.org/drawingml/2006/main">
            <a:off x="4171950" y="309562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9D1760F-F59A-4F89-8F5F-F996B85D52F3}"/>
              </a:ext>
            </a:extLst>
          </p:cNvPr>
          <p:cNvSpPr>
            <a:spLocks xmlns:a="http://schemas.openxmlformats.org/drawingml/2006/main" noGrp="1"/>
          </p:cNvSpPr>
          <p:nvPr/>
        </p:nvSpPr>
        <p:spPr>
          <a:xfrm xmlns:a="http://schemas.openxmlformats.org/drawingml/2006/main">
            <a:off x="4381500" y="2971800"/>
            <a:ext cx="6838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61D18"/>
                </a:solidFill>
                <a:latin typeface="Arial"/>
                <a:ea typeface="Arial"/>
                <a:cs typeface="Arial"/>
              </a:defRPr>
            </a:pPr>
            <a:r>
              <a:rPr sz="1500" b="0">
                <a:solidFill>
                  <a:srgbClr val="261D18"/>
                </a:solidFill>
                <a:latin typeface="Arial"/>
                <a:ea typeface="Arial"/>
                <a:cs typeface="Arial"/>
              </a:rPr>
              <a:t>Kategori, pencarian, dan pilihan ukuran tetap berfungsi.</a:t>
            </a:r>
          </a:p>
        </p:txBody>
      </p:sp>
      <p:sp>
        <p:nvSpPr>
          <p:cNvPr id="20" name="">
            <a:extLst xmlns:a="http://schemas.openxmlformats.org/drawingml/2006/main">
              <a:ext uri="{FF2B5EF4-FFF2-40B4-BE49-F238E27FC236}">
                <a16:creationId xmlns:a16="http://schemas.microsoft.com/office/drawing/2014/main" id="{7C07CB97-1353-43CA-9B6D-BBC9DB5C2A22}"/>
              </a:ext>
            </a:extLst>
          </p:cNvPr>
          <p:cNvSpPr>
            <a:spLocks xmlns:a="http://schemas.openxmlformats.org/drawingml/2006/main" noGrp="1"/>
          </p:cNvSpPr>
          <p:nvPr/>
        </p:nvSpPr>
        <p:spPr>
          <a:xfrm xmlns:a="http://schemas.openxmlformats.org/drawingml/2006/main">
            <a:off x="4171950" y="374332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DAAB705-AEA7-4A12-B92E-B60FB0223978}"/>
              </a:ext>
            </a:extLst>
          </p:cNvPr>
          <p:cNvSpPr>
            <a:spLocks xmlns:a="http://schemas.openxmlformats.org/drawingml/2006/main" noGrp="1"/>
          </p:cNvSpPr>
          <p:nvPr/>
        </p:nvSpPr>
        <p:spPr>
          <a:xfrm xmlns:a="http://schemas.openxmlformats.org/drawingml/2006/main">
            <a:off x="4381500" y="3619500"/>
            <a:ext cx="6838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61D18"/>
                </a:solidFill>
                <a:latin typeface="Arial"/>
                <a:ea typeface="Arial"/>
                <a:cs typeface="Arial"/>
              </a:defRPr>
            </a:pPr>
            <a:r>
              <a:rPr sz="1500" b="0">
                <a:solidFill>
                  <a:srgbClr val="261D18"/>
                </a:solidFill>
                <a:latin typeface="Arial"/>
                <a:ea typeface="Arial"/>
                <a:cs typeface="Arial"/>
              </a:rPr>
              <a:t>Footer memberi jalan cepat ke Menu, Tentang, dan Review.</a:t>
            </a:r>
          </a:p>
        </p:txBody>
      </p:sp>
      <p:sp>
        <p:nvSpPr>
          <p:cNvPr id="22" name="">
            <a:extLst xmlns:a="http://schemas.openxmlformats.org/drawingml/2006/main">
              <a:ext uri="{FF2B5EF4-FFF2-40B4-BE49-F238E27FC236}">
                <a16:creationId xmlns:a16="http://schemas.microsoft.com/office/drawing/2014/main" id="{B5684D7C-2737-4F36-A8D8-BA908EB07C18}"/>
              </a:ext>
            </a:extLst>
          </p:cNvPr>
          <p:cNvSpPr>
            <a:spLocks xmlns:a="http://schemas.openxmlformats.org/drawingml/2006/main" noGrp="1"/>
          </p:cNvSpPr>
          <p:nvPr/>
        </p:nvSpPr>
        <p:spPr>
          <a:xfrm xmlns:a="http://schemas.openxmlformats.org/drawingml/2006/main">
            <a:off x="4171950" y="439102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9C5B3C0-CAE2-40C2-A86E-AFE94D8C4E30}"/>
              </a:ext>
            </a:extLst>
          </p:cNvPr>
          <p:cNvSpPr>
            <a:spLocks xmlns:a="http://schemas.openxmlformats.org/drawingml/2006/main" noGrp="1"/>
          </p:cNvSpPr>
          <p:nvPr/>
        </p:nvSpPr>
        <p:spPr>
          <a:xfrm xmlns:a="http://schemas.openxmlformats.org/drawingml/2006/main">
            <a:off x="4381500" y="4267200"/>
            <a:ext cx="6838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61D18"/>
                </a:solidFill>
                <a:latin typeface="Arial"/>
                <a:ea typeface="Arial"/>
                <a:cs typeface="Arial"/>
              </a:defRPr>
            </a:pPr>
            <a:r>
              <a:rPr sz="1500" b="0">
                <a:solidFill>
                  <a:srgbClr val="261D18"/>
                </a:solidFill>
                <a:latin typeface="Arial"/>
                <a:ea typeface="Arial"/>
                <a:cs typeface="Arial"/>
              </a:rPr>
              <a:t>WhatsApp CTA tersedia untuk meneruskan katalog.</a:t>
            </a:r>
          </a:p>
        </p:txBody>
      </p:sp>
      <p:sp>
        <p:nvSpPr>
          <p:cNvPr id="24" name="">
            <a:extLst xmlns:a="http://schemas.openxmlformats.org/drawingml/2006/main">
              <a:ext uri="{FF2B5EF4-FFF2-40B4-BE49-F238E27FC236}">
                <a16:creationId xmlns:a16="http://schemas.microsoft.com/office/drawing/2014/main" id="{98137C1F-DF91-44E0-9EA3-550C783448F0}"/>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DC65BCC-C87C-4148-B5C5-F09671192D0C}"/>
              </a:ext>
            </a:extLst>
          </p:cNvPr>
          <p:cNvSpPr>
            <a:spLocks xmlns:a="http://schemas.openxmlformats.org/drawingml/2006/main" noGrp="1"/>
          </p:cNvSpPr>
          <p:nvPr/>
        </p:nvSpPr>
        <p:spPr>
          <a:xfrm xmlns:a="http://schemas.openxmlformats.org/drawingml/2006/main">
            <a:off x="53340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6E655E"/>
                </a:solidFill>
                <a:latin typeface="Arial"/>
                <a:ea typeface="Arial"/>
                <a:cs typeface="Arial"/>
              </a:defRPr>
            </a:pPr>
            <a:r>
              <a:rPr sz="900" b="0">
                <a:solidFill>
                  <a:srgbClr val="6E655E"/>
                </a:solidFill>
                <a:latin typeface="Arial"/>
                <a:ea typeface="Arial"/>
                <a:cs typeface="Arial"/>
              </a:rPr>
              <a:t>FD Culinary  •  Gambaran versi website saat ini</a:t>
            </a:r>
          </a:p>
        </p:txBody>
      </p:sp>
      <p:sp>
        <p:nvSpPr>
          <p:cNvPr id="26" name="">
            <a:extLst xmlns:a="http://schemas.openxmlformats.org/drawingml/2006/main">
              <a:ext uri="{FF2B5EF4-FFF2-40B4-BE49-F238E27FC236}">
                <a16:creationId xmlns:a16="http://schemas.microsoft.com/office/drawing/2014/main" id="{F01D9F16-06A1-4846-A76B-4A310EE2D175}"/>
              </a:ext>
            </a:extLst>
          </p:cNvPr>
          <p:cNvSpPr>
            <a:spLocks xmlns:a="http://schemas.openxmlformats.org/drawingml/2006/main" noGrp="1"/>
          </p:cNvSpPr>
          <p:nvPr/>
        </p:nvSpPr>
        <p:spPr>
          <a:xfrm xmlns:a="http://schemas.openxmlformats.org/drawingml/2006/main">
            <a:off x="11144250" y="64865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754D35"/>
                </a:solidFill>
                <a:latin typeface="Arial"/>
                <a:ea typeface="Arial"/>
                <a:cs typeface="Arial"/>
              </a:defRPr>
            </a:pPr>
            <a:r>
              <a:rPr sz="900" b="1">
                <a:solidFill>
                  <a:srgbClr val="754D35"/>
                </a:solidFill>
                <a:latin typeface="Arial"/>
                <a:ea typeface="Arial"/>
                <a:cs typeface="Arial"/>
              </a:rPr>
              <a:t>11</a:t>
            </a:r>
          </a:p>
        </p:txBody>
      </p:sp>
    </p:spTree>
    <p:extLst>
      <p:ext uri="{BB962C8B-B14F-4D97-AF65-F5344CB8AC3E}">
        <p14:creationId xmlns:p14="http://schemas.microsoft.com/office/powerpoint/2010/main" val="1357894720"/>
      </p:ext>
    </p:extLst>
  </p:cSld>
</p:sld>
</file>

<file path=ppt/slides/slide12.xml><?xml version="1.0" encoding="utf-8"?>
<p:sld xmlns:p="http://schemas.openxmlformats.org/presentationml/2006/main">
  <p:cSld>
    <p:bg>
      <p:bgPr>
        <a:solidFill xmlns:a="http://schemas.openxmlformats.org/drawingml/2006/main">
          <a:srgbClr val="F8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50E952F-724A-4F9F-B231-CE4325E04480}"/>
              </a:ext>
            </a:extLst>
          </p:cNvPr>
          <p:cNvSpPr>
            <a:spLocks xmlns:a="http://schemas.openxmlformats.org/drawingml/2006/main" noGrp="1"/>
          </p:cNvSpPr>
          <p:nvPr/>
        </p:nvSpPr>
        <p:spPr>
          <a:xfrm xmlns:a="http://schemas.openxmlformats.org/drawingml/2006/main">
            <a:off x="533400" y="228600"/>
            <a:ext cx="552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754D35"/>
                </a:solidFill>
                <a:latin typeface="Arial"/>
                <a:ea typeface="Arial"/>
                <a:cs typeface="Arial"/>
              </a:defRPr>
            </a:pPr>
            <a:r>
              <a:rPr sz="1050" b="1">
                <a:solidFill>
                  <a:srgbClr val="754D35"/>
                </a:solidFill>
                <a:latin typeface="Arial"/>
                <a:ea typeface="Arial"/>
                <a:cs typeface="Arial"/>
              </a:rPr>
              <a:t>FD CULINARY  /  PRESENTASI WEBSITE</a:t>
            </a:r>
          </a:p>
        </p:txBody>
      </p:sp>
      <p:sp>
        <p:nvSpPr>
          <p:cNvPr id="2" name="">
            <a:extLst xmlns:a="http://schemas.openxmlformats.org/drawingml/2006/main">
              <a:ext uri="{FF2B5EF4-FFF2-40B4-BE49-F238E27FC236}">
                <a16:creationId xmlns:a16="http://schemas.microsoft.com/office/drawing/2014/main" id="{84ACFB44-3F0E-445A-AF14-AE47FD4F2B62}"/>
              </a:ext>
            </a:extLst>
          </p:cNvPr>
          <p:cNvSpPr>
            <a:spLocks xmlns:a="http://schemas.openxmlformats.org/drawingml/2006/main" noGrp="1"/>
          </p:cNvSpPr>
          <p:nvPr/>
        </p:nvSpPr>
        <p:spPr>
          <a:xfrm xmlns:a="http://schemas.openxmlformats.org/drawingml/2006/main">
            <a:off x="533400" y="5524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66744D"/>
                </a:solidFill>
                <a:latin typeface="Arial"/>
                <a:ea typeface="Arial"/>
                <a:cs typeface="Arial"/>
              </a:defRPr>
            </a:pPr>
            <a:r>
              <a:rPr sz="1050" b="1">
                <a:solidFill>
                  <a:srgbClr val="66744D"/>
                </a:solidFill>
                <a:latin typeface="Arial"/>
                <a:ea typeface="Arial"/>
                <a:cs typeface="Arial"/>
              </a:rPr>
              <a:t>BIAYA OPERASIONAL</a:t>
            </a:r>
          </a:p>
        </p:txBody>
      </p:sp>
      <p:sp>
        <p:nvSpPr>
          <p:cNvPr id="3" name="">
            <a:extLst xmlns:a="http://schemas.openxmlformats.org/drawingml/2006/main">
              <a:ext uri="{FF2B5EF4-FFF2-40B4-BE49-F238E27FC236}">
                <a16:creationId xmlns:a16="http://schemas.microsoft.com/office/drawing/2014/main" id="{906AA319-F2E2-45D5-8DDE-6DC6A65953B9}"/>
              </a:ext>
            </a:extLst>
          </p:cNvPr>
          <p:cNvSpPr>
            <a:spLocks xmlns:a="http://schemas.openxmlformats.org/drawingml/2006/main" noGrp="1"/>
          </p:cNvSpPr>
          <p:nvPr/>
        </p:nvSpPr>
        <p:spPr>
          <a:xfrm xmlns:a="http://schemas.openxmlformats.org/drawingml/2006/main">
            <a:off x="533400" y="80010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261D18"/>
                </a:solidFill>
                <a:latin typeface="Arial"/>
                <a:ea typeface="Arial"/>
                <a:cs typeface="Arial"/>
              </a:defRPr>
            </a:pPr>
            <a:r>
              <a:rPr sz="2850" b="1">
                <a:solidFill>
                  <a:srgbClr val="261D18"/>
                </a:solidFill>
                <a:latin typeface="Arial"/>
                <a:ea typeface="Arial"/>
                <a:cs typeface="Arial"/>
              </a:rPr>
              <a:t>Perkiraan hosting dan domain</a:t>
            </a:r>
          </a:p>
        </p:txBody>
      </p:sp>
      <p:sp>
        <p:nvSpPr>
          <p:cNvPr id="4" name="">
            <a:extLst xmlns:a="http://schemas.openxmlformats.org/drawingml/2006/main">
              <a:ext uri="{FF2B5EF4-FFF2-40B4-BE49-F238E27FC236}">
                <a16:creationId xmlns:a16="http://schemas.microsoft.com/office/drawing/2014/main" id="{6C576B23-48C7-44B6-9C22-33CCE9977842}"/>
              </a:ext>
            </a:extLst>
          </p:cNvPr>
          <p:cNvSpPr>
            <a:spLocks xmlns:a="http://schemas.openxmlformats.org/drawingml/2006/main" noGrp="1"/>
          </p:cNvSpPr>
          <p:nvPr/>
        </p:nvSpPr>
        <p:spPr>
          <a:xfrm xmlns:a="http://schemas.openxmlformats.org/drawingml/2006/main">
            <a:off x="552450" y="1323975"/>
            <a:ext cx="1100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E655E"/>
                </a:solidFill>
                <a:latin typeface="Arial"/>
                <a:ea typeface="Arial"/>
                <a:cs typeface="Arial"/>
              </a:defRPr>
            </a:pPr>
            <a:r>
              <a:rPr sz="1350" b="0">
                <a:solidFill>
                  <a:srgbClr val="6E655E"/>
                </a:solidFill>
                <a:latin typeface="Arial"/>
                <a:ea typeface="Arial"/>
                <a:cs typeface="Arial"/>
              </a:rPr>
              <a:t>Acuan harga yang terlihat pada 6 Oktober 2026. Harga promosi dan syarat paket dapat berubah.</a:t>
            </a:r>
          </a:p>
        </p:txBody>
      </p:sp>
      <p:sp>
        <p:nvSpPr>
          <p:cNvPr id="5" name="">
            <a:extLst xmlns:a="http://schemas.openxmlformats.org/drawingml/2006/main">
              <a:ext uri="{FF2B5EF4-FFF2-40B4-BE49-F238E27FC236}">
                <a16:creationId xmlns:a16="http://schemas.microsoft.com/office/drawing/2014/main" id="{242A33E0-77E9-4400-8D2F-5C756D4DAA6E}"/>
              </a:ext>
            </a:extLst>
          </p:cNvPr>
          <p:cNvSpPr>
            <a:spLocks xmlns:a="http://schemas.openxmlformats.org/drawingml/2006/main" noGrp="1"/>
          </p:cNvSpPr>
          <p:nvPr/>
        </p:nvSpPr>
        <p:spPr>
          <a:xfrm xmlns:a="http://schemas.openxmlformats.org/drawingml/2006/main">
            <a:off x="533400" y="1685925"/>
            <a:ext cx="11125200" cy="19050"/>
          </a:xfrm>
          <a:prstGeom xmlns:a="http://schemas.openxmlformats.org/drawingml/2006/main" prst="rect">
            <a:avLst/>
          </a:prstGeom>
          <a:solidFill xmlns:a="http://schemas.openxmlformats.org/drawingml/2006/main">
            <a:srgbClr val="D8C9B7"/>
          </a:solidFill>
          <a:ln xmlns:a="http://schemas.openxmlformats.org/drawingml/2006/main" w="0">
            <a:noFill/>
          </a:ln>
        </p:spPr>
      </p:sp>
      <p:graphicFrame>
        <p:nvGraphicFramePr>
          <p:cNvPr id="18" name=""/>
          <p:cNvGraphicFramePr/>
          <p:nvPr/>
        </p:nvGraphicFramePr>
        <p:xfrm>
          <a:off xmlns:a="http://schemas.openxmlformats.org/drawingml/2006/main" x="628650" y="1933575"/>
          <a:ext xmlns:a="http://schemas.openxmlformats.org/drawingml/2006/main" cx="10934700" cy="3257550"/>
        </p:xfrm>
        <a:graphic xmlns:a="http://schemas.openxmlformats.org/drawingml/2006/main">
          <a:graphicData uri="http://schemas.openxmlformats.org/drawingml/2006/table">
            <a:tbl>
              <a:tblPr/>
              <a:tblGrid>
                <a:gridCol w="2619375"/>
                <a:gridCol w="2857500"/>
                <a:gridCol w="5457825"/>
              </a:tblGrid>
              <a:tr h="542925">
                <a:tc>
                  <a:txBody>
                    <a:bodyPr>
                      <a:normAutofit/>
                    </a:bodyPr>
                    <a:lstStyle/>
                    <a:p>
                      <a:pPr algn="l"/>
                      <a:r>
                        <a:rPr sz="1200" b="1">
                          <a:solidFill>
                            <a:srgbClr val="FFFDF9"/>
                          </a:solidFill>
                          <a:latin typeface="Arial"/>
                          <a:ea typeface="Arial"/>
                          <a:cs typeface="Arial"/>
                        </a:rPr>
                        <a:t>Komponen</a:t>
                      </a:r>
                    </a:p>
                  </a:txBody>
                  <a:tcPr marL="91440" marR="91440" marT="45720" marB="45720" anchor="ctr">
                    <a:solidFill>
                      <a:srgbClr val="754D35"/>
                    </a:solidFill>
                  </a:tcPr>
                </a:tc>
                <a:tc>
                  <a:txBody>
                    <a:bodyPr>
                      <a:normAutofit/>
                    </a:bodyPr>
                    <a:lstStyle/>
                    <a:p>
                      <a:pPr algn="ctr"/>
                      <a:r>
                        <a:rPr sz="1200" b="1">
                          <a:solidFill>
                            <a:srgbClr val="FFFDF9"/>
                          </a:solidFill>
                          <a:latin typeface="Arial"/>
                          <a:ea typeface="Arial"/>
                          <a:cs typeface="Arial"/>
                        </a:rPr>
                        <a:t>Estimasi saat diperiksa</a:t>
                      </a:r>
                    </a:p>
                  </a:txBody>
                  <a:tcPr marL="91440" marR="91440" marT="45720" marB="45720" anchor="ctr">
                    <a:solidFill>
                      <a:srgbClr val="754D35"/>
                    </a:solidFill>
                  </a:tcPr>
                </a:tc>
                <a:tc>
                  <a:txBody>
                    <a:bodyPr>
                      <a:normAutofit/>
                    </a:bodyPr>
                    <a:lstStyle/>
                    <a:p>
                      <a:pPr algn="ctr"/>
                      <a:r>
                        <a:rPr sz="1200" b="1">
                          <a:solidFill>
                            <a:srgbClr val="FFFDF9"/>
                          </a:solidFill>
                          <a:latin typeface="Arial"/>
                          <a:ea typeface="Arial"/>
                          <a:cs typeface="Arial"/>
                        </a:rPr>
                        <a:t>Catatan</a:t>
                      </a:r>
                    </a:p>
                  </a:txBody>
                  <a:tcPr marL="91440" marR="91440" marT="45720" marB="45720" anchor="ctr">
                    <a:solidFill>
                      <a:srgbClr val="754D35"/>
                    </a:solidFill>
                  </a:tcPr>
                </a:tc>
              </a:tr>
              <a:tr h="542925">
                <a:tc>
                  <a:txBody>
                    <a:bodyPr>
                      <a:normAutofit/>
                    </a:bodyPr>
                    <a:lstStyle/>
                    <a:p>
                      <a:pPr algn="l"/>
                      <a:r>
                        <a:rPr sz="1275" b="0">
                          <a:solidFill>
                            <a:srgbClr val="261D18"/>
                          </a:solidFill>
                          <a:latin typeface="Arial"/>
                          <a:ea typeface="Arial"/>
                          <a:cs typeface="Arial"/>
                        </a:rPr>
                        <a:t>Hosting shared Small</a:t>
                      </a:r>
                    </a:p>
                  </a:txBody>
                  <a:tcPr marL="91440" marR="91440" marT="45720" marB="45720" anchor="ctr">
                    <a:solidFill>
                      <a:srgbClr val="FFFDF9"/>
                    </a:solidFill>
                  </a:tcPr>
                </a:tc>
                <a:tc>
                  <a:txBody>
                    <a:bodyPr>
                      <a:normAutofit/>
                    </a:bodyPr>
                    <a:lstStyle/>
                    <a:p>
                      <a:pPr algn="ctr"/>
                      <a:r>
                        <a:rPr sz="1275" b="0">
                          <a:solidFill>
                            <a:srgbClr val="261D18"/>
                          </a:solidFill>
                          <a:latin typeface="Arial"/>
                          <a:ea typeface="Arial"/>
                          <a:cs typeface="Arial"/>
                        </a:rPr>
                        <a:t>Rp17.900/bulan</a:t>
                      </a:r>
                    </a:p>
                    <a:p>
                      <a:pPr algn="ctr"/>
                      <a:r>
                        <a:rPr sz="1275" b="0">
                          <a:solidFill>
                            <a:srgbClr val="261D18"/>
                          </a:solidFill>
                          <a:latin typeface="Arial"/>
                          <a:ea typeface="Arial"/>
                          <a:cs typeface="Arial"/>
                        </a:rPr>
                        <a:t>± Rp214.800/tahun</a:t>
                      </a:r>
                    </a:p>
                  </a:txBody>
                  <a:tcPr marL="91440" marR="91440" marT="45720" marB="45720" anchor="ctr">
                    <a:solidFill>
                      <a:srgbClr val="FFFDF9"/>
                    </a:solidFill>
                  </a:tcPr>
                </a:tc>
                <a:tc>
                  <a:txBody>
                    <a:bodyPr>
                      <a:normAutofit/>
                    </a:bodyPr>
                    <a:lstStyle/>
                    <a:p>
                      <a:pPr algn="ctr"/>
                      <a:r>
                        <a:rPr sz="1275" b="0">
                          <a:solidFill>
                            <a:srgbClr val="261D18"/>
                          </a:solidFill>
                          <a:latin typeface="Arial"/>
                          <a:ea typeface="Arial"/>
                          <a:cs typeface="Arial"/>
                        </a:rPr>
                        <a:t>Paket mencantumkan SSL, Node.js, dan email; cek masa tagih dan perpanjangan.</a:t>
                      </a:r>
                    </a:p>
                  </a:txBody>
                  <a:tcPr marL="91440" marR="91440" marT="45720" marB="45720" anchor="ctr">
                    <a:solidFill>
                      <a:srgbClr val="FFFDF9"/>
                    </a:solidFill>
                  </a:tcPr>
                </a:tc>
              </a:tr>
              <a:tr h="542925">
                <a:tc>
                  <a:txBody>
                    <a:bodyPr>
                      <a:normAutofit/>
                    </a:bodyPr>
                    <a:lstStyle/>
                    <a:p>
                      <a:pPr algn="l"/>
                      <a:r>
                        <a:rPr sz="1275" b="0">
                          <a:solidFill>
                            <a:srgbClr val="261D18"/>
                          </a:solidFill>
                          <a:latin typeface="Arial"/>
                          <a:ea typeface="Arial"/>
                          <a:cs typeface="Arial"/>
                        </a:rPr>
                        <a:t>Domain .com</a:t>
                      </a:r>
                    </a:p>
                  </a:txBody>
                  <a:tcPr marL="91440" marR="91440" marT="45720" marB="45720" anchor="ctr">
                    <a:solidFill>
                      <a:srgbClr val="EEE4D6"/>
                    </a:solidFill>
                  </a:tcPr>
                </a:tc>
                <a:tc>
                  <a:txBody>
                    <a:bodyPr>
                      <a:normAutofit/>
                    </a:bodyPr>
                    <a:lstStyle/>
                    <a:p>
                      <a:pPr algn="ctr"/>
                      <a:r>
                        <a:rPr sz="1275" b="0">
                          <a:solidFill>
                            <a:srgbClr val="261D18"/>
                          </a:solidFill>
                          <a:latin typeface="Arial"/>
                          <a:ea typeface="Arial"/>
                          <a:cs typeface="Arial"/>
                        </a:rPr>
                        <a:t>Rp137.000 tahun pertama</a:t>
                      </a:r>
                    </a:p>
                    <a:p>
                      <a:pPr algn="ctr"/>
                      <a:r>
                        <a:rPr sz="1275" b="0">
                          <a:solidFill>
                            <a:srgbClr val="261D18"/>
                          </a:solidFill>
                          <a:latin typeface="Arial"/>
                          <a:ea typeface="Arial"/>
                          <a:cs typeface="Arial"/>
                        </a:rPr>
                        <a:t>Rp201.000/tahun renewal</a:t>
                      </a:r>
                    </a:p>
                  </a:txBody>
                  <a:tcPr marL="91440" marR="91440" marT="45720" marB="45720" anchor="ctr">
                    <a:solidFill>
                      <a:srgbClr val="EEE4D6"/>
                    </a:solidFill>
                  </a:tcPr>
                </a:tc>
                <a:tc>
                  <a:txBody>
                    <a:bodyPr>
                      <a:normAutofit/>
                    </a:bodyPr>
                    <a:lstStyle/>
                    <a:p>
                      <a:pPr algn="ctr"/>
                      <a:r>
                        <a:rPr sz="1275" b="0">
                          <a:solidFill>
                            <a:srgbClr val="261D18"/>
                          </a:solidFill>
                          <a:latin typeface="Arial"/>
                          <a:ea typeface="Arial"/>
                          <a:cs typeface="Arial"/>
                        </a:rPr>
                        <a:t>Domain gratis tahun pertama mungkin termasuk paket, sesuai ekstensi/syarat.</a:t>
                      </a:r>
                    </a:p>
                  </a:txBody>
                  <a:tcPr marL="91440" marR="91440" marT="45720" marB="45720" anchor="ctr">
                    <a:solidFill>
                      <a:srgbClr val="EEE4D6"/>
                    </a:solidFill>
                  </a:tcPr>
                </a:tc>
              </a:tr>
              <a:tr h="542925">
                <a:tc>
                  <a:txBody>
                    <a:bodyPr>
                      <a:normAutofit/>
                    </a:bodyPr>
                    <a:lstStyle/>
                    <a:p>
                      <a:pPr algn="l"/>
                      <a:r>
                        <a:rPr sz="1275" b="0">
                          <a:solidFill>
                            <a:srgbClr val="261D18"/>
                          </a:solidFill>
                          <a:latin typeface="Arial"/>
                          <a:ea typeface="Arial"/>
                          <a:cs typeface="Arial"/>
                        </a:rPr>
                        <a:t>Domain .id</a:t>
                      </a:r>
                    </a:p>
                  </a:txBody>
                  <a:tcPr marL="91440" marR="91440" marT="45720" marB="45720" anchor="ctr">
                    <a:solidFill>
                      <a:srgbClr val="FFFDF9"/>
                    </a:solidFill>
                  </a:tcPr>
                </a:tc>
                <a:tc>
                  <a:txBody>
                    <a:bodyPr>
                      <a:normAutofit/>
                    </a:bodyPr>
                    <a:lstStyle/>
                    <a:p>
                      <a:pPr algn="ctr"/>
                      <a:r>
                        <a:rPr sz="1275" b="0">
                          <a:solidFill>
                            <a:srgbClr val="261D18"/>
                          </a:solidFill>
                          <a:latin typeface="Arial"/>
                          <a:ea typeface="Arial"/>
                          <a:cs typeface="Arial"/>
                        </a:rPr>
                        <a:t>Rp219.000/tahun</a:t>
                      </a:r>
                    </a:p>
                  </a:txBody>
                  <a:tcPr marL="91440" marR="91440" marT="45720" marB="45720" anchor="ctr">
                    <a:solidFill>
                      <a:srgbClr val="FFFDF9"/>
                    </a:solidFill>
                  </a:tcPr>
                </a:tc>
                <a:tc>
                  <a:txBody>
                    <a:bodyPr>
                      <a:normAutofit/>
                    </a:bodyPr>
                    <a:lstStyle/>
                    <a:p>
                      <a:pPr algn="ctr"/>
                      <a:r>
                        <a:rPr sz="1275" b="0">
                          <a:solidFill>
                            <a:srgbClr val="261D18"/>
                          </a:solidFill>
                          <a:latin typeface="Arial"/>
                          <a:ea typeface="Arial"/>
                          <a:cs typeface="Arial"/>
                        </a:rPr>
                        <a:t>Dihitung terpisah jika tidak masuk bundel.</a:t>
                      </a:r>
                    </a:p>
                  </a:txBody>
                  <a:tcPr marL="91440" marR="91440" marT="45720" marB="45720" anchor="ctr">
                    <a:solidFill>
                      <a:srgbClr val="FFFDF9"/>
                    </a:solidFill>
                  </a:tcPr>
                </a:tc>
              </a:tr>
              <a:tr h="542925">
                <a:tc>
                  <a:txBody>
                    <a:bodyPr>
                      <a:normAutofit/>
                    </a:bodyPr>
                    <a:lstStyle/>
                    <a:p>
                      <a:pPr algn="l"/>
                      <a:r>
                        <a:rPr sz="1275" b="0">
                          <a:solidFill>
                            <a:srgbClr val="261D18"/>
                          </a:solidFill>
                          <a:latin typeface="Arial"/>
                          <a:ea typeface="Arial"/>
                          <a:cs typeface="Arial"/>
                        </a:rPr>
                        <a:t>SSL &amp; email paket</a:t>
                      </a:r>
                    </a:p>
                  </a:txBody>
                  <a:tcPr marL="91440" marR="91440" marT="45720" marB="45720" anchor="ctr">
                    <a:solidFill>
                      <a:srgbClr val="EEE4D6"/>
                    </a:solidFill>
                  </a:tcPr>
                </a:tc>
                <a:tc>
                  <a:txBody>
                    <a:bodyPr>
                      <a:normAutofit/>
                    </a:bodyPr>
                    <a:lstStyle/>
                    <a:p>
                      <a:pPr algn="ctr"/>
                      <a:r>
                        <a:rPr sz="1275" b="0">
                          <a:solidFill>
                            <a:srgbClr val="261D18"/>
                          </a:solidFill>
                          <a:latin typeface="Arial"/>
                          <a:ea typeface="Arial"/>
                          <a:cs typeface="Arial"/>
                        </a:rPr>
                        <a:t>Termasuk*</a:t>
                      </a:r>
                    </a:p>
                  </a:txBody>
                  <a:tcPr marL="91440" marR="91440" marT="45720" marB="45720" anchor="ctr">
                    <a:solidFill>
                      <a:srgbClr val="EEE4D6"/>
                    </a:solidFill>
                  </a:tcPr>
                </a:tc>
                <a:tc>
                  <a:txBody>
                    <a:bodyPr>
                      <a:normAutofit/>
                    </a:bodyPr>
                    <a:lstStyle/>
                    <a:p>
                      <a:pPr algn="ctr"/>
                      <a:r>
                        <a:rPr sz="1275" b="0">
                          <a:solidFill>
                            <a:srgbClr val="261D18"/>
                          </a:solidFill>
                          <a:latin typeface="Arial"/>
                          <a:ea typeface="Arial"/>
                          <a:cs typeface="Arial"/>
                        </a:rPr>
                        <a:t>Kuota dan ketentuan mengikuti paket hosting.</a:t>
                      </a:r>
                    </a:p>
                  </a:txBody>
                  <a:tcPr marL="91440" marR="91440" marT="45720" marB="45720" anchor="ctr">
                    <a:solidFill>
                      <a:srgbClr val="EEE4D6"/>
                    </a:solidFill>
                  </a:tcPr>
                </a:tc>
              </a:tr>
              <a:tr h="542925">
                <a:tc>
                  <a:txBody>
                    <a:bodyPr>
                      <a:normAutofit/>
                    </a:bodyPr>
                    <a:lstStyle/>
                    <a:p>
                      <a:pPr algn="l"/>
                      <a:r>
                        <a:rPr sz="1275" b="0">
                          <a:solidFill>
                            <a:srgbClr val="261D18"/>
                          </a:solidFill>
                          <a:latin typeface="Arial"/>
                          <a:ea typeface="Arial"/>
                          <a:cs typeface="Arial"/>
                        </a:rPr>
                        <a:t>Pemeliharaan/konten</a:t>
                      </a:r>
                    </a:p>
                  </a:txBody>
                  <a:tcPr marL="91440" marR="91440" marT="45720" marB="45720" anchor="ctr">
                    <a:solidFill>
                      <a:srgbClr val="FFFDF9"/>
                    </a:solidFill>
                  </a:tcPr>
                </a:tc>
                <a:tc>
                  <a:txBody>
                    <a:bodyPr>
                      <a:normAutofit/>
                    </a:bodyPr>
                    <a:lstStyle/>
                    <a:p>
                      <a:pPr algn="ctr"/>
                      <a:r>
                        <a:rPr sz="1275" b="0">
                          <a:solidFill>
                            <a:srgbClr val="261D18"/>
                          </a:solidFill>
                          <a:latin typeface="Arial"/>
                          <a:ea typeface="Arial"/>
                          <a:cs typeface="Arial"/>
                        </a:rPr>
                        <a:t>Belum ditetapkan</a:t>
                      </a:r>
                    </a:p>
                  </a:txBody>
                  <a:tcPr marL="91440" marR="91440" marT="45720" marB="45720" anchor="ctr">
                    <a:solidFill>
                      <a:srgbClr val="FFFDF9"/>
                    </a:solidFill>
                  </a:tcPr>
                </a:tc>
                <a:tc>
                  <a:txBody>
                    <a:bodyPr>
                      <a:normAutofit/>
                    </a:bodyPr>
                    <a:lstStyle/>
                    <a:p>
                      <a:pPr algn="ctr"/>
                      <a:r>
                        <a:rPr sz="1275" b="0">
                          <a:solidFill>
                            <a:srgbClr val="261D18"/>
                          </a:solidFill>
                          <a:latin typeface="Arial"/>
                          <a:ea typeface="Arial"/>
                          <a:cs typeface="Arial"/>
                        </a:rPr>
                        <a:t>Biaya jasa diisi pada proposal/kontrak.</a:t>
                      </a:r>
                    </a:p>
                  </a:txBody>
                  <a:tcPr marL="91440" marR="91440" marT="45720" marB="45720" anchor="ctr">
                    <a:solidFill>
                      <a:srgbClr val="FFFDF9"/>
                    </a:solidFill>
                  </a:tcPr>
                </a:tc>
              </a:tr>
            </a:tbl>
          </a:graphicData>
        </a:graphic>
      </p:graphicFrame>
      <p:sp>
        <p:nvSpPr>
          <p:cNvPr id="7" name="">
            <a:extLst xmlns:a="http://schemas.openxmlformats.org/drawingml/2006/main">
              <a:ext uri="{FF2B5EF4-FFF2-40B4-BE49-F238E27FC236}">
                <a16:creationId xmlns:a16="http://schemas.microsoft.com/office/drawing/2014/main" id="{B421DE0A-5A6A-459E-87E9-F91CA2111DBB}"/>
              </a:ext>
            </a:extLst>
          </p:cNvPr>
          <p:cNvSpPr>
            <a:spLocks xmlns:a="http://schemas.openxmlformats.org/drawingml/2006/main" noGrp="1"/>
          </p:cNvSpPr>
          <p:nvPr/>
        </p:nvSpPr>
        <p:spPr>
          <a:xfrm xmlns:a="http://schemas.openxmlformats.org/drawingml/2006/main">
            <a:off x="647700" y="5381625"/>
            <a:ext cx="633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a:solidFill>
                  <a:srgbClr val="66744D"/>
                </a:solidFill>
                <a:latin typeface="Arial"/>
                <a:ea typeface="Arial"/>
                <a:cs typeface="Arial"/>
              </a:defRPr>
            </a:pPr>
            <a:r>
              <a:rPr sz="1125" b="1">
                <a:solidFill>
                  <a:srgbClr val="66744D"/>
                </a:solidFill>
                <a:latin typeface="Arial"/>
                <a:ea typeface="Arial"/>
                <a:cs typeface="Arial"/>
              </a:rPr>
              <a:t>CONTOH TAHUNAN JIKA DOMAIN DIBAYAR TERPISAH</a:t>
            </a:r>
          </a:p>
        </p:txBody>
      </p:sp>
      <p:sp>
        <p:nvSpPr>
          <p:cNvPr id="8" name="">
            <a:extLst xmlns:a="http://schemas.openxmlformats.org/drawingml/2006/main">
              <a:ext uri="{FF2B5EF4-FFF2-40B4-BE49-F238E27FC236}">
                <a16:creationId xmlns:a16="http://schemas.microsoft.com/office/drawing/2014/main" id="{B33A47BF-B7A4-41D2-A6F7-B348A2F465AD}"/>
              </a:ext>
            </a:extLst>
          </p:cNvPr>
          <p:cNvSpPr>
            <a:spLocks xmlns:a="http://schemas.openxmlformats.org/drawingml/2006/main" noGrp="1"/>
          </p:cNvSpPr>
          <p:nvPr/>
        </p:nvSpPr>
        <p:spPr>
          <a:xfrm xmlns:a="http://schemas.openxmlformats.org/drawingml/2006/main">
            <a:off x="647700" y="567690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261D18"/>
                </a:solidFill>
                <a:latin typeface="Arial"/>
                <a:ea typeface="Arial"/>
                <a:cs typeface="Arial"/>
              </a:defRPr>
            </a:pPr>
            <a:r>
              <a:rPr sz="1350" b="1">
                <a:solidFill>
                  <a:srgbClr val="261D18"/>
                </a:solidFill>
                <a:latin typeface="Arial"/>
                <a:ea typeface="Arial"/>
                <a:cs typeface="Arial"/>
              </a:rPr>
              <a:t>.com: ± Rp351.800 tahun pertama • ± Rp415.800 mulai tahun kedua</a:t>
            </a:r>
          </a:p>
          <a:p xmlns:a="http://schemas.openxmlformats.org/drawingml/2006/main">
            <a:pPr algn="l">
              <a:defRPr sz="1350" b="1">
                <a:solidFill>
                  <a:srgbClr val="261D18"/>
                </a:solidFill>
                <a:latin typeface="Arial"/>
                <a:ea typeface="Arial"/>
                <a:cs typeface="Arial"/>
              </a:defRPr>
            </a:pPr>
            <a:r>
              <a:rPr sz="1350" b="1">
                <a:solidFill>
                  <a:srgbClr val="261D18"/>
                </a:solidFill>
                <a:latin typeface="Arial"/>
                <a:ea typeface="Arial"/>
                <a:cs typeface="Arial"/>
              </a:rPr>
              <a:t>.id: ± Rp433.800 per tahun</a:t>
            </a:r>
          </a:p>
        </p:txBody>
      </p:sp>
      <p:sp>
        <p:nvSpPr>
          <p:cNvPr id="9" name="">
            <a:extLst xmlns:a="http://schemas.openxmlformats.org/drawingml/2006/main">
              <a:ext uri="{FF2B5EF4-FFF2-40B4-BE49-F238E27FC236}">
                <a16:creationId xmlns:a16="http://schemas.microsoft.com/office/drawing/2014/main" id="{12FC55C0-370B-4C00-AFD0-B287924E9940}"/>
              </a:ext>
            </a:extLst>
          </p:cNvPr>
          <p:cNvSpPr>
            <a:spLocks xmlns:a="http://schemas.openxmlformats.org/drawingml/2006/main" noGrp="1"/>
          </p:cNvSpPr>
          <p:nvPr/>
        </p:nvSpPr>
        <p:spPr>
          <a:xfrm xmlns:a="http://schemas.openxmlformats.org/drawingml/2006/main">
            <a:off x="647700" y="61531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a:solidFill>
                  <a:srgbClr val="6E655E"/>
                </a:solidFill>
                <a:latin typeface="Arial"/>
                <a:ea typeface="Arial"/>
                <a:cs typeface="Arial"/>
              </a:defRPr>
            </a:pPr>
            <a:r>
              <a:rPr sz="975" b="0">
                <a:solidFill>
                  <a:srgbClr val="6E655E"/>
                </a:solidFill>
                <a:latin typeface="Arial"/>
                <a:ea typeface="Arial"/>
                <a:cs typeface="Arial"/>
              </a:rPr>
              <a:t>* Periksa syarat paket dan harga checkout. Belum termasuk jasa website, pajak, aset tambahan, atau layanan email khusus.</a:t>
            </a:r>
          </a:p>
        </p:txBody>
      </p:sp>
      <p:sp>
        <p:nvSpPr>
          <p:cNvPr id="10" name="">
            <a:extLst xmlns:a="http://schemas.openxmlformats.org/drawingml/2006/main">
              <a:ext uri="{FF2B5EF4-FFF2-40B4-BE49-F238E27FC236}">
                <a16:creationId xmlns:a16="http://schemas.microsoft.com/office/drawing/2014/main" id="{DDBA1B6B-D160-4CDF-9A3C-B51234BFDDD3}"/>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70DE18F-4FB5-44B2-8751-61129992BE4E}"/>
              </a:ext>
            </a:extLst>
          </p:cNvPr>
          <p:cNvSpPr>
            <a:spLocks xmlns:a="http://schemas.openxmlformats.org/drawingml/2006/main" noGrp="1"/>
          </p:cNvSpPr>
          <p:nvPr/>
        </p:nvSpPr>
        <p:spPr>
          <a:xfrm xmlns:a="http://schemas.openxmlformats.org/drawingml/2006/main">
            <a:off x="53340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6E655E"/>
                </a:solidFill>
                <a:latin typeface="Arial"/>
                <a:ea typeface="Arial"/>
                <a:cs typeface="Arial"/>
              </a:defRPr>
            </a:pPr>
            <a:r>
              <a:rPr sz="900" b="0">
                <a:solidFill>
                  <a:srgbClr val="6E655E"/>
                </a:solidFill>
                <a:latin typeface="Arial"/>
                <a:ea typeface="Arial"/>
                <a:cs typeface="Arial"/>
              </a:rPr>
              <a:t>FD Culinary  •  Gambaran versi website saat ini</a:t>
            </a:r>
          </a:p>
        </p:txBody>
      </p:sp>
      <p:sp>
        <p:nvSpPr>
          <p:cNvPr id="12" name="">
            <a:extLst xmlns:a="http://schemas.openxmlformats.org/drawingml/2006/main">
              <a:ext uri="{FF2B5EF4-FFF2-40B4-BE49-F238E27FC236}">
                <a16:creationId xmlns:a16="http://schemas.microsoft.com/office/drawing/2014/main" id="{5CA532FC-E7A0-46B6-98E6-4E3B21F61898}"/>
              </a:ext>
            </a:extLst>
          </p:cNvPr>
          <p:cNvSpPr>
            <a:spLocks xmlns:a="http://schemas.openxmlformats.org/drawingml/2006/main" noGrp="1"/>
          </p:cNvSpPr>
          <p:nvPr/>
        </p:nvSpPr>
        <p:spPr>
          <a:xfrm xmlns:a="http://schemas.openxmlformats.org/drawingml/2006/main">
            <a:off x="11144250" y="64865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754D35"/>
                </a:solidFill>
                <a:latin typeface="Arial"/>
                <a:ea typeface="Arial"/>
                <a:cs typeface="Arial"/>
              </a:defRPr>
            </a:pPr>
            <a:r>
              <a:rPr sz="900" b="1">
                <a:solidFill>
                  <a:srgbClr val="754D35"/>
                </a:solidFill>
                <a:latin typeface="Arial"/>
                <a:ea typeface="Arial"/>
                <a:cs typeface="Arial"/>
              </a:rPr>
              <a:t>12</a:t>
            </a:r>
          </a:p>
        </p:txBody>
      </p:sp>
    </p:spTree>
    <p:extLst>
      <p:ext uri="{BB962C8B-B14F-4D97-AF65-F5344CB8AC3E}">
        <p14:creationId xmlns:p14="http://schemas.microsoft.com/office/powerpoint/2010/main" val="689000271"/>
      </p:ext>
    </p:extLst>
  </p:cSld>
</p:sld>
</file>

<file path=ppt/slides/slide13.xml><?xml version="1.0" encoding="utf-8"?>
<p:sld xmlns:p="http://schemas.openxmlformats.org/presentationml/2006/main">
  <p:cSld>
    <p:bg>
      <p:bgPr>
        <a:solidFill xmlns:a="http://schemas.openxmlformats.org/drawingml/2006/main">
          <a:srgbClr val="F8F3E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79E8D2F-42FE-4347-84AC-12235A5299F1}"/>
              </a:ext>
            </a:extLst>
          </p:cNvPr>
          <p:cNvSpPr>
            <a:spLocks xmlns:a="http://schemas.openxmlformats.org/drawingml/2006/main" noGrp="1"/>
          </p:cNvSpPr>
          <p:nvPr/>
        </p:nvSpPr>
        <p:spPr>
          <a:xfrm xmlns:a="http://schemas.openxmlformats.org/drawingml/2006/main">
            <a:off x="533400" y="228600"/>
            <a:ext cx="552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754D35"/>
                </a:solidFill>
                <a:latin typeface="Arial"/>
                <a:ea typeface="Arial"/>
                <a:cs typeface="Arial"/>
              </a:defRPr>
            </a:pPr>
            <a:r>
              <a:rPr sz="1050" b="1">
                <a:solidFill>
                  <a:srgbClr val="754D35"/>
                </a:solidFill>
                <a:latin typeface="Arial"/>
                <a:ea typeface="Arial"/>
                <a:cs typeface="Arial"/>
              </a:rPr>
              <a:t>FD CULINARY  /  PRESENTASI WEBSITE</a:t>
            </a:r>
          </a:p>
        </p:txBody>
      </p:sp>
      <p:sp>
        <p:nvSpPr>
          <p:cNvPr id="2" name="">
            <a:extLst xmlns:a="http://schemas.openxmlformats.org/drawingml/2006/main">
              <a:ext uri="{FF2B5EF4-FFF2-40B4-BE49-F238E27FC236}">
                <a16:creationId xmlns:a16="http://schemas.microsoft.com/office/drawing/2014/main" id="{F19CBA1C-24C3-4BC9-B783-CA7D107B998D}"/>
              </a:ext>
            </a:extLst>
          </p:cNvPr>
          <p:cNvSpPr>
            <a:spLocks xmlns:a="http://schemas.openxmlformats.org/drawingml/2006/main" noGrp="1"/>
          </p:cNvSpPr>
          <p:nvPr/>
        </p:nvSpPr>
        <p:spPr>
          <a:xfrm xmlns:a="http://schemas.openxmlformats.org/drawingml/2006/main">
            <a:off x="533400" y="5524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66744D"/>
                </a:solidFill>
                <a:latin typeface="Arial"/>
                <a:ea typeface="Arial"/>
                <a:cs typeface="Arial"/>
              </a:defRPr>
            </a:pPr>
            <a:r>
              <a:rPr sz="1050" b="1">
                <a:solidFill>
                  <a:srgbClr val="66744D"/>
                </a:solidFill>
                <a:latin typeface="Arial"/>
                <a:ea typeface="Arial"/>
                <a:cs typeface="Arial"/>
              </a:rPr>
              <a:t>LANGKAH BERIKUTNYA</a:t>
            </a:r>
          </a:p>
        </p:txBody>
      </p:sp>
      <p:sp>
        <p:nvSpPr>
          <p:cNvPr id="3" name="">
            <a:extLst xmlns:a="http://schemas.openxmlformats.org/drawingml/2006/main">
              <a:ext uri="{FF2B5EF4-FFF2-40B4-BE49-F238E27FC236}">
                <a16:creationId xmlns:a16="http://schemas.microsoft.com/office/drawing/2014/main" id="{AE3162A1-F4AC-449F-8632-75D424DB96A3}"/>
              </a:ext>
            </a:extLst>
          </p:cNvPr>
          <p:cNvSpPr>
            <a:spLocks xmlns:a="http://schemas.openxmlformats.org/drawingml/2006/main" noGrp="1"/>
          </p:cNvSpPr>
          <p:nvPr/>
        </p:nvSpPr>
        <p:spPr>
          <a:xfrm xmlns:a="http://schemas.openxmlformats.org/drawingml/2006/main">
            <a:off x="533400" y="80010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261D18"/>
                </a:solidFill>
                <a:latin typeface="Arial"/>
                <a:ea typeface="Arial"/>
                <a:cs typeface="Arial"/>
              </a:defRPr>
            </a:pPr>
            <a:r>
              <a:rPr sz="2850" b="1">
                <a:solidFill>
                  <a:srgbClr val="261D18"/>
                </a:solidFill>
                <a:latin typeface="Arial"/>
                <a:ea typeface="Arial"/>
                <a:cs typeface="Arial"/>
              </a:rPr>
              <a:t>Lengkapi informasi sebelum publikasi</a:t>
            </a:r>
          </a:p>
        </p:txBody>
      </p:sp>
      <p:sp>
        <p:nvSpPr>
          <p:cNvPr id="4" name="">
            <a:extLst xmlns:a="http://schemas.openxmlformats.org/drawingml/2006/main">
              <a:ext uri="{FF2B5EF4-FFF2-40B4-BE49-F238E27FC236}">
                <a16:creationId xmlns:a16="http://schemas.microsoft.com/office/drawing/2014/main" id="{1EB8E55B-C7D2-40C9-B0A8-172007D335FF}"/>
              </a:ext>
            </a:extLst>
          </p:cNvPr>
          <p:cNvSpPr>
            <a:spLocks xmlns:a="http://schemas.openxmlformats.org/drawingml/2006/main" noGrp="1"/>
          </p:cNvSpPr>
          <p:nvPr/>
        </p:nvSpPr>
        <p:spPr>
          <a:xfrm xmlns:a="http://schemas.openxmlformats.org/drawingml/2006/main">
            <a:off x="552450" y="1323975"/>
            <a:ext cx="1100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E655E"/>
                </a:solidFill>
                <a:latin typeface="Arial"/>
                <a:ea typeface="Arial"/>
                <a:cs typeface="Arial"/>
              </a:defRPr>
            </a:pPr>
            <a:r>
              <a:rPr sz="1350" b="0">
                <a:solidFill>
                  <a:srgbClr val="6E655E"/>
                </a:solidFill>
                <a:latin typeface="Arial"/>
                <a:ea typeface="Arial"/>
                <a:cs typeface="Arial"/>
              </a:rPr>
              <a:t>Dokumen pendamping: BRS, Proposal, BA Uji Terima, dan draf Kontrak.</a:t>
            </a:r>
          </a:p>
        </p:txBody>
      </p:sp>
      <p:sp>
        <p:nvSpPr>
          <p:cNvPr id="5" name="">
            <a:extLst xmlns:a="http://schemas.openxmlformats.org/drawingml/2006/main">
              <a:ext uri="{FF2B5EF4-FFF2-40B4-BE49-F238E27FC236}">
                <a16:creationId xmlns:a16="http://schemas.microsoft.com/office/drawing/2014/main" id="{456A9615-1D00-4334-8969-693A8F851C33}"/>
              </a:ext>
            </a:extLst>
          </p:cNvPr>
          <p:cNvSpPr>
            <a:spLocks xmlns:a="http://schemas.openxmlformats.org/drawingml/2006/main" noGrp="1"/>
          </p:cNvSpPr>
          <p:nvPr/>
        </p:nvSpPr>
        <p:spPr>
          <a:xfrm xmlns:a="http://schemas.openxmlformats.org/drawingml/2006/main">
            <a:off x="533400" y="1685925"/>
            <a:ext cx="11125200" cy="19050"/>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B3EEBB6-B076-400B-A35E-4A3B0A705258}"/>
              </a:ext>
            </a:extLst>
          </p:cNvPr>
          <p:cNvSpPr>
            <a:spLocks xmlns:a="http://schemas.openxmlformats.org/drawingml/2006/main" noGrp="1"/>
          </p:cNvSpPr>
          <p:nvPr/>
        </p:nvSpPr>
        <p:spPr>
          <a:xfrm xmlns:a="http://schemas.openxmlformats.org/drawingml/2006/main">
            <a:off x="666750" y="21336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66744D"/>
                </a:solidFill>
                <a:latin typeface="Arial"/>
                <a:ea typeface="Arial"/>
                <a:cs typeface="Arial"/>
              </a:defRPr>
            </a:pPr>
            <a:r>
              <a:rPr sz="1200" b="1">
                <a:solidFill>
                  <a:srgbClr val="66744D"/>
                </a:solidFill>
                <a:latin typeface="Arial"/>
                <a:ea typeface="Arial"/>
                <a:cs typeface="Arial"/>
              </a:rPr>
              <a:t>KONTEN DAN PROFIL</a:t>
            </a:r>
          </a:p>
        </p:txBody>
      </p:sp>
      <p:sp>
        <p:nvSpPr>
          <p:cNvPr id="7" name="">
            <a:extLst xmlns:a="http://schemas.openxmlformats.org/drawingml/2006/main">
              <a:ext uri="{FF2B5EF4-FFF2-40B4-BE49-F238E27FC236}">
                <a16:creationId xmlns:a16="http://schemas.microsoft.com/office/drawing/2014/main" id="{678F8719-0648-4969-B8A4-A9D9F200F296}"/>
              </a:ext>
            </a:extLst>
          </p:cNvPr>
          <p:cNvSpPr>
            <a:spLocks xmlns:a="http://schemas.openxmlformats.org/drawingml/2006/main" noGrp="1"/>
          </p:cNvSpPr>
          <p:nvPr/>
        </p:nvSpPr>
        <p:spPr>
          <a:xfrm xmlns:a="http://schemas.openxmlformats.org/drawingml/2006/main">
            <a:off x="666750" y="265747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123840B-80AE-4EAD-B515-462CBD9B1CAC}"/>
              </a:ext>
            </a:extLst>
          </p:cNvPr>
          <p:cNvSpPr>
            <a:spLocks xmlns:a="http://schemas.openxmlformats.org/drawingml/2006/main" noGrp="1"/>
          </p:cNvSpPr>
          <p:nvPr/>
        </p:nvSpPr>
        <p:spPr>
          <a:xfrm xmlns:a="http://schemas.openxmlformats.org/drawingml/2006/main">
            <a:off x="876300" y="2533650"/>
            <a:ext cx="47434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61D18"/>
                </a:solidFill>
                <a:latin typeface="Arial"/>
                <a:ea typeface="Arial"/>
                <a:cs typeface="Arial"/>
              </a:defRPr>
            </a:pPr>
            <a:r>
              <a:rPr sz="1425" b="0">
                <a:solidFill>
                  <a:srgbClr val="261D18"/>
                </a:solidFill>
                <a:latin typeface="Arial"/>
                <a:ea typeface="Arial"/>
                <a:cs typeface="Arial"/>
              </a:rPr>
              <a:t>Validasi nama produk, harga, satuan, foto dan deskripsi.</a:t>
            </a:r>
          </a:p>
        </p:txBody>
      </p:sp>
      <p:sp>
        <p:nvSpPr>
          <p:cNvPr id="9" name="">
            <a:extLst xmlns:a="http://schemas.openxmlformats.org/drawingml/2006/main">
              <a:ext uri="{FF2B5EF4-FFF2-40B4-BE49-F238E27FC236}">
                <a16:creationId xmlns:a16="http://schemas.microsoft.com/office/drawing/2014/main" id="{15FB5C17-240B-4E55-94A8-5FD8CAC110FD}"/>
              </a:ext>
            </a:extLst>
          </p:cNvPr>
          <p:cNvSpPr>
            <a:spLocks xmlns:a="http://schemas.openxmlformats.org/drawingml/2006/main" noGrp="1"/>
          </p:cNvSpPr>
          <p:nvPr/>
        </p:nvSpPr>
        <p:spPr>
          <a:xfrm xmlns:a="http://schemas.openxmlformats.org/drawingml/2006/main">
            <a:off x="666750" y="332422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C8D8ADC-C78F-4699-ACE4-01EAA689D185}"/>
              </a:ext>
            </a:extLst>
          </p:cNvPr>
          <p:cNvSpPr>
            <a:spLocks xmlns:a="http://schemas.openxmlformats.org/drawingml/2006/main" noGrp="1"/>
          </p:cNvSpPr>
          <p:nvPr/>
        </p:nvSpPr>
        <p:spPr>
          <a:xfrm xmlns:a="http://schemas.openxmlformats.org/drawingml/2006/main">
            <a:off x="876300" y="3200400"/>
            <a:ext cx="47434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61D18"/>
                </a:solidFill>
                <a:latin typeface="Arial"/>
                <a:ea typeface="Arial"/>
                <a:cs typeface="Arial"/>
              </a:defRPr>
            </a:pPr>
            <a:r>
              <a:rPr sz="1425" b="0">
                <a:solidFill>
                  <a:srgbClr val="261D18"/>
                </a:solidFill>
                <a:latin typeface="Arial"/>
                <a:ea typeface="Arial"/>
                <a:cs typeface="Arial"/>
              </a:rPr>
              <a:t>Konfirmasi nomor WhatsApp dan domain pilihan.</a:t>
            </a:r>
          </a:p>
        </p:txBody>
      </p:sp>
      <p:sp>
        <p:nvSpPr>
          <p:cNvPr id="11" name="">
            <a:extLst xmlns:a="http://schemas.openxmlformats.org/drawingml/2006/main">
              <a:ext uri="{FF2B5EF4-FFF2-40B4-BE49-F238E27FC236}">
                <a16:creationId xmlns:a16="http://schemas.microsoft.com/office/drawing/2014/main" id="{C0583D3F-4EBE-4D7A-A76B-A2DE7D3AB7D6}"/>
              </a:ext>
            </a:extLst>
          </p:cNvPr>
          <p:cNvSpPr>
            <a:spLocks xmlns:a="http://schemas.openxmlformats.org/drawingml/2006/main" noGrp="1"/>
          </p:cNvSpPr>
          <p:nvPr/>
        </p:nvSpPr>
        <p:spPr>
          <a:xfrm xmlns:a="http://schemas.openxmlformats.org/drawingml/2006/main">
            <a:off x="666750" y="399097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39AF0D6-6D08-4366-9D51-C31B9EFF907F}"/>
              </a:ext>
            </a:extLst>
          </p:cNvPr>
          <p:cNvSpPr>
            <a:spLocks xmlns:a="http://schemas.openxmlformats.org/drawingml/2006/main" noGrp="1"/>
          </p:cNvSpPr>
          <p:nvPr/>
        </p:nvSpPr>
        <p:spPr>
          <a:xfrm xmlns:a="http://schemas.openxmlformats.org/drawingml/2006/main">
            <a:off x="876300" y="3867150"/>
            <a:ext cx="47434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61D18"/>
                </a:solidFill>
                <a:latin typeface="Arial"/>
                <a:ea typeface="Arial"/>
                <a:cs typeface="Arial"/>
              </a:defRPr>
            </a:pPr>
            <a:r>
              <a:rPr sz="1425" b="0">
                <a:solidFill>
                  <a:srgbClr val="261D18"/>
                </a:solidFill>
                <a:latin typeface="Arial"/>
                <a:ea typeface="Arial"/>
                <a:cs typeface="Arial"/>
              </a:rPr>
              <a:t>Tambahkan alamat, jam layanan, dan kanal sosial bila diperlukan.</a:t>
            </a:r>
          </a:p>
        </p:txBody>
      </p:sp>
      <p:sp>
        <p:nvSpPr>
          <p:cNvPr id="13" name="">
            <a:extLst xmlns:a="http://schemas.openxmlformats.org/drawingml/2006/main">
              <a:ext uri="{FF2B5EF4-FFF2-40B4-BE49-F238E27FC236}">
                <a16:creationId xmlns:a16="http://schemas.microsoft.com/office/drawing/2014/main" id="{2D5A1C4F-90E0-4494-ABC3-5BCE10DDDAA1}"/>
              </a:ext>
            </a:extLst>
          </p:cNvPr>
          <p:cNvSpPr>
            <a:spLocks xmlns:a="http://schemas.openxmlformats.org/drawingml/2006/main" noGrp="1"/>
          </p:cNvSpPr>
          <p:nvPr/>
        </p:nvSpPr>
        <p:spPr>
          <a:xfrm xmlns:a="http://schemas.openxmlformats.org/drawingml/2006/main">
            <a:off x="666750" y="465772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4A46E6B-5F20-4B0B-BF73-647B07063792}"/>
              </a:ext>
            </a:extLst>
          </p:cNvPr>
          <p:cNvSpPr>
            <a:spLocks xmlns:a="http://schemas.openxmlformats.org/drawingml/2006/main" noGrp="1"/>
          </p:cNvSpPr>
          <p:nvPr/>
        </p:nvSpPr>
        <p:spPr>
          <a:xfrm xmlns:a="http://schemas.openxmlformats.org/drawingml/2006/main">
            <a:off x="876300" y="4533900"/>
            <a:ext cx="47434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61D18"/>
                </a:solidFill>
                <a:latin typeface="Arial"/>
                <a:ea typeface="Arial"/>
                <a:cs typeface="Arial"/>
              </a:defRPr>
            </a:pPr>
            <a:r>
              <a:rPr sz="1425" b="0">
                <a:solidFill>
                  <a:srgbClr val="261D18"/>
                </a:solidFill>
                <a:latin typeface="Arial"/>
                <a:ea typeface="Arial"/>
                <a:cs typeface="Arial"/>
              </a:rPr>
              <a:t>Tentukan review Kue dan foto fisik botol 1 L jika ingin foto terpisah.</a:t>
            </a:r>
          </a:p>
        </p:txBody>
      </p:sp>
      <p:sp>
        <p:nvSpPr>
          <p:cNvPr id="15" name="">
            <a:extLst xmlns:a="http://schemas.openxmlformats.org/drawingml/2006/main">
              <a:ext uri="{FF2B5EF4-FFF2-40B4-BE49-F238E27FC236}">
                <a16:creationId xmlns:a16="http://schemas.microsoft.com/office/drawing/2014/main" id="{C789E0C1-F21D-45B7-85CD-F3CFD40C4DF9}"/>
              </a:ext>
            </a:extLst>
          </p:cNvPr>
          <p:cNvSpPr>
            <a:spLocks xmlns:a="http://schemas.openxmlformats.org/drawingml/2006/main" noGrp="1"/>
          </p:cNvSpPr>
          <p:nvPr/>
        </p:nvSpPr>
        <p:spPr>
          <a:xfrm xmlns:a="http://schemas.openxmlformats.org/drawingml/2006/main">
            <a:off x="6334125" y="2133600"/>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66744D"/>
                </a:solidFill>
                <a:latin typeface="Arial"/>
                <a:ea typeface="Arial"/>
                <a:cs typeface="Arial"/>
              </a:defRPr>
            </a:pPr>
            <a:r>
              <a:rPr sz="1200" b="1">
                <a:solidFill>
                  <a:srgbClr val="66744D"/>
                </a:solidFill>
                <a:latin typeface="Arial"/>
                <a:ea typeface="Arial"/>
                <a:cs typeface="Arial"/>
              </a:rPr>
              <a:t>KOMERSIAL DAN PELUNCURAN</a:t>
            </a:r>
          </a:p>
        </p:txBody>
      </p:sp>
      <p:sp>
        <p:nvSpPr>
          <p:cNvPr id="16" name="">
            <a:extLst xmlns:a="http://schemas.openxmlformats.org/drawingml/2006/main">
              <a:ext uri="{FF2B5EF4-FFF2-40B4-BE49-F238E27FC236}">
                <a16:creationId xmlns:a16="http://schemas.microsoft.com/office/drawing/2014/main" id="{7F776EC8-133A-44B3-B412-B6229EE40301}"/>
              </a:ext>
            </a:extLst>
          </p:cNvPr>
          <p:cNvSpPr>
            <a:spLocks xmlns:a="http://schemas.openxmlformats.org/drawingml/2006/main" noGrp="1"/>
          </p:cNvSpPr>
          <p:nvPr/>
        </p:nvSpPr>
        <p:spPr>
          <a:xfrm xmlns:a="http://schemas.openxmlformats.org/drawingml/2006/main">
            <a:off x="6334125" y="265747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614AE71-D244-4314-9730-D0153BF55AC9}"/>
              </a:ext>
            </a:extLst>
          </p:cNvPr>
          <p:cNvSpPr>
            <a:spLocks xmlns:a="http://schemas.openxmlformats.org/drawingml/2006/main" noGrp="1"/>
          </p:cNvSpPr>
          <p:nvPr/>
        </p:nvSpPr>
        <p:spPr>
          <a:xfrm xmlns:a="http://schemas.openxmlformats.org/drawingml/2006/main">
            <a:off x="6543675" y="2533650"/>
            <a:ext cx="4886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61D18"/>
                </a:solidFill>
                <a:latin typeface="Arial"/>
                <a:ea typeface="Arial"/>
                <a:cs typeface="Arial"/>
              </a:defRPr>
            </a:pPr>
            <a:r>
              <a:rPr sz="1425" b="0">
                <a:solidFill>
                  <a:srgbClr val="261D18"/>
                </a:solidFill>
                <a:latin typeface="Arial"/>
                <a:ea typeface="Arial"/>
                <a:cs typeface="Arial"/>
              </a:rPr>
              <a:t>Sepakati nilai jasa, jadwal, jumlah revisi, dan dukungan.</a:t>
            </a:r>
          </a:p>
        </p:txBody>
      </p:sp>
      <p:sp>
        <p:nvSpPr>
          <p:cNvPr id="18" name="">
            <a:extLst xmlns:a="http://schemas.openxmlformats.org/drawingml/2006/main">
              <a:ext uri="{FF2B5EF4-FFF2-40B4-BE49-F238E27FC236}">
                <a16:creationId xmlns:a16="http://schemas.microsoft.com/office/drawing/2014/main" id="{F542CB81-D08F-4265-8D99-49F0D8CBA780}"/>
              </a:ext>
            </a:extLst>
          </p:cNvPr>
          <p:cNvSpPr>
            <a:spLocks xmlns:a="http://schemas.openxmlformats.org/drawingml/2006/main" noGrp="1"/>
          </p:cNvSpPr>
          <p:nvPr/>
        </p:nvSpPr>
        <p:spPr>
          <a:xfrm xmlns:a="http://schemas.openxmlformats.org/drawingml/2006/main">
            <a:off x="6334125" y="332422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ABC248F-638F-405A-A95E-E2354306170E}"/>
              </a:ext>
            </a:extLst>
          </p:cNvPr>
          <p:cNvSpPr>
            <a:spLocks xmlns:a="http://schemas.openxmlformats.org/drawingml/2006/main" noGrp="1"/>
          </p:cNvSpPr>
          <p:nvPr/>
        </p:nvSpPr>
        <p:spPr>
          <a:xfrm xmlns:a="http://schemas.openxmlformats.org/drawingml/2006/main">
            <a:off x="6543675" y="3200400"/>
            <a:ext cx="4886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61D18"/>
                </a:solidFill>
                <a:latin typeface="Arial"/>
                <a:ea typeface="Arial"/>
                <a:cs typeface="Arial"/>
              </a:defRPr>
            </a:pPr>
            <a:r>
              <a:rPr sz="1425" b="0">
                <a:solidFill>
                  <a:srgbClr val="261D18"/>
                </a:solidFill>
                <a:latin typeface="Arial"/>
                <a:ea typeface="Arial"/>
                <a:cs typeface="Arial"/>
              </a:rPr>
              <a:t>Tetapkan pemilik akun hosting/domain dan pihak pembayar renewal.</a:t>
            </a:r>
          </a:p>
        </p:txBody>
      </p:sp>
      <p:sp>
        <p:nvSpPr>
          <p:cNvPr id="20" name="">
            <a:extLst xmlns:a="http://schemas.openxmlformats.org/drawingml/2006/main">
              <a:ext uri="{FF2B5EF4-FFF2-40B4-BE49-F238E27FC236}">
                <a16:creationId xmlns:a16="http://schemas.microsoft.com/office/drawing/2014/main" id="{386A2D04-72AB-4DD9-82FD-F5B1D93223B6}"/>
              </a:ext>
            </a:extLst>
          </p:cNvPr>
          <p:cNvSpPr>
            <a:spLocks xmlns:a="http://schemas.openxmlformats.org/drawingml/2006/main" noGrp="1"/>
          </p:cNvSpPr>
          <p:nvPr/>
        </p:nvSpPr>
        <p:spPr>
          <a:xfrm xmlns:a="http://schemas.openxmlformats.org/drawingml/2006/main">
            <a:off x="6334125" y="399097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E32E115-3F48-46CD-A372-C7890BFE9D28}"/>
              </a:ext>
            </a:extLst>
          </p:cNvPr>
          <p:cNvSpPr>
            <a:spLocks xmlns:a="http://schemas.openxmlformats.org/drawingml/2006/main" noGrp="1"/>
          </p:cNvSpPr>
          <p:nvPr/>
        </p:nvSpPr>
        <p:spPr>
          <a:xfrm xmlns:a="http://schemas.openxmlformats.org/drawingml/2006/main">
            <a:off x="6543675" y="3867150"/>
            <a:ext cx="4886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61D18"/>
                </a:solidFill>
                <a:latin typeface="Arial"/>
                <a:ea typeface="Arial"/>
                <a:cs typeface="Arial"/>
              </a:defRPr>
            </a:pPr>
            <a:r>
              <a:rPr sz="1425" b="0">
                <a:solidFill>
                  <a:srgbClr val="261D18"/>
                </a:solidFill>
                <a:latin typeface="Arial"/>
                <a:ea typeface="Arial"/>
                <a:cs typeface="Arial"/>
              </a:rPr>
              <a:t>Jalankan pemeriksaan penerimaan dengan BA UAT.</a:t>
            </a:r>
          </a:p>
        </p:txBody>
      </p:sp>
      <p:sp>
        <p:nvSpPr>
          <p:cNvPr id="22" name="">
            <a:extLst xmlns:a="http://schemas.openxmlformats.org/drawingml/2006/main">
              <a:ext uri="{FF2B5EF4-FFF2-40B4-BE49-F238E27FC236}">
                <a16:creationId xmlns:a16="http://schemas.microsoft.com/office/drawing/2014/main" id="{AA286980-7829-45AB-851F-7CA5A6FD2103}"/>
              </a:ext>
            </a:extLst>
          </p:cNvPr>
          <p:cNvSpPr>
            <a:spLocks xmlns:a="http://schemas.openxmlformats.org/drawingml/2006/main" noGrp="1"/>
          </p:cNvSpPr>
          <p:nvPr/>
        </p:nvSpPr>
        <p:spPr>
          <a:xfrm xmlns:a="http://schemas.openxmlformats.org/drawingml/2006/main">
            <a:off x="6334125" y="4657725"/>
            <a:ext cx="76200" cy="76200"/>
          </a:xfrm>
          <a:prstGeom xmlns:a="http://schemas.openxmlformats.org/drawingml/2006/main" prst="roundRect">
            <a:avLst>
              <a:gd name="adj" fmla="val 50000"/>
            </a:avLst>
          </a:prstGeom>
          <a:solidFill xmlns:a="http://schemas.openxmlformats.org/drawingml/2006/main">
            <a:srgbClr val="754D3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ED0B07C-8D4F-4119-A225-D32A5C59F962}"/>
              </a:ext>
            </a:extLst>
          </p:cNvPr>
          <p:cNvSpPr>
            <a:spLocks xmlns:a="http://schemas.openxmlformats.org/drawingml/2006/main" noGrp="1"/>
          </p:cNvSpPr>
          <p:nvPr/>
        </p:nvSpPr>
        <p:spPr>
          <a:xfrm xmlns:a="http://schemas.openxmlformats.org/drawingml/2006/main">
            <a:off x="6543675" y="4533900"/>
            <a:ext cx="4886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61D18"/>
                </a:solidFill>
                <a:latin typeface="Arial"/>
                <a:ea typeface="Arial"/>
                <a:cs typeface="Arial"/>
              </a:defRPr>
            </a:pPr>
            <a:r>
              <a:rPr sz="1425" b="0">
                <a:solidFill>
                  <a:srgbClr val="261D18"/>
                </a:solidFill>
                <a:latin typeface="Arial"/>
                <a:ea typeface="Arial"/>
                <a:cs typeface="Arial"/>
              </a:rPr>
              <a:t>Terbitkan website setelah konten, harga, dan akses disetujui.</a:t>
            </a:r>
          </a:p>
        </p:txBody>
      </p:sp>
      <p:sp>
        <p:nvSpPr>
          <p:cNvPr id="24" name="">
            <a:extLst xmlns:a="http://schemas.openxmlformats.org/drawingml/2006/main">
              <a:ext uri="{FF2B5EF4-FFF2-40B4-BE49-F238E27FC236}">
                <a16:creationId xmlns:a16="http://schemas.microsoft.com/office/drawing/2014/main" id="{AF3B3185-93CE-4CDE-8F72-93DEDAFE6851}"/>
              </a:ext>
            </a:extLst>
          </p:cNvPr>
          <p:cNvSpPr>
            <a:spLocks xmlns:a="http://schemas.openxmlformats.org/drawingml/2006/main" noGrp="1"/>
          </p:cNvSpPr>
          <p:nvPr/>
        </p:nvSpPr>
        <p:spPr>
          <a:xfrm xmlns:a="http://schemas.openxmlformats.org/drawingml/2006/main">
            <a:off x="666750" y="5543550"/>
            <a:ext cx="10810875" cy="552450"/>
          </a:xfrm>
          <a:prstGeom xmlns:a="http://schemas.openxmlformats.org/drawingml/2006/main" prst="roundRect">
            <a:avLst>
              <a:gd name="adj" fmla="val 24138"/>
            </a:avLst>
          </a:prstGeom>
          <a:solidFill xmlns:a="http://schemas.openxmlformats.org/drawingml/2006/main">
            <a:srgbClr val="754D3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52F31AB-E9B5-4F59-88CD-22260D659CFB}"/>
              </a:ext>
            </a:extLst>
          </p:cNvPr>
          <p:cNvSpPr>
            <a:spLocks xmlns:a="http://schemas.openxmlformats.org/drawingml/2006/main" noGrp="1"/>
          </p:cNvSpPr>
          <p:nvPr/>
        </p:nvSpPr>
        <p:spPr>
          <a:xfrm xmlns:a="http://schemas.openxmlformats.org/drawingml/2006/main">
            <a:off x="895350" y="5657850"/>
            <a:ext cx="1036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DF9"/>
                </a:solidFill>
                <a:latin typeface="Arial"/>
                <a:ea typeface="Arial"/>
                <a:cs typeface="Arial"/>
              </a:defRPr>
            </a:pPr>
            <a:r>
              <a:rPr sz="1500" b="1">
                <a:solidFill>
                  <a:srgbClr val="FFFDF9"/>
                </a:solidFill>
                <a:latin typeface="Arial"/>
                <a:ea typeface="Arial"/>
                <a:cs typeface="Arial"/>
              </a:rPr>
              <a:t>BRS → Persetujuan proposal/kontrak → UAT → Serah terima dan publikasi</a:t>
            </a:r>
          </a:p>
        </p:txBody>
      </p:sp>
      <p:sp>
        <p:nvSpPr>
          <p:cNvPr id="26" name="">
            <a:extLst xmlns:a="http://schemas.openxmlformats.org/drawingml/2006/main">
              <a:ext uri="{FF2B5EF4-FFF2-40B4-BE49-F238E27FC236}">
                <a16:creationId xmlns:a16="http://schemas.microsoft.com/office/drawing/2014/main" id="{736682F7-FB81-49F5-988C-56E1FBD6DE40}"/>
              </a:ext>
            </a:extLst>
          </p:cNvPr>
          <p:cNvSpPr>
            <a:spLocks xmlns:a="http://schemas.openxmlformats.org/drawingml/2006/main" noGrp="1"/>
          </p:cNvSpPr>
          <p:nvPr/>
        </p:nvSpPr>
        <p:spPr>
          <a:xfrm xmlns:a="http://schemas.openxmlformats.org/drawingml/2006/main">
            <a:off x="533400" y="6429375"/>
            <a:ext cx="11125200" cy="9525"/>
          </a:xfrm>
          <a:prstGeom xmlns:a="http://schemas.openxmlformats.org/drawingml/2006/main" prst="rect">
            <a:avLst/>
          </a:prstGeom>
          <a:solidFill xmlns:a="http://schemas.openxmlformats.org/drawingml/2006/main">
            <a:srgbClr val="D8C9B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4071CF2-7A76-4D8E-8941-63E49FD607DB}"/>
              </a:ext>
            </a:extLst>
          </p:cNvPr>
          <p:cNvSpPr>
            <a:spLocks xmlns:a="http://schemas.openxmlformats.org/drawingml/2006/main" noGrp="1"/>
          </p:cNvSpPr>
          <p:nvPr/>
        </p:nvSpPr>
        <p:spPr>
          <a:xfrm xmlns:a="http://schemas.openxmlformats.org/drawingml/2006/main">
            <a:off x="533400" y="6486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6E655E"/>
                </a:solidFill>
                <a:latin typeface="Arial"/>
                <a:ea typeface="Arial"/>
                <a:cs typeface="Arial"/>
              </a:defRPr>
            </a:pPr>
            <a:r>
              <a:rPr sz="900" b="0">
                <a:solidFill>
                  <a:srgbClr val="6E655E"/>
                </a:solidFill>
                <a:latin typeface="Arial"/>
                <a:ea typeface="Arial"/>
                <a:cs typeface="Arial"/>
              </a:rPr>
              <a:t>FD Culinary  •  Gambaran versi website saat ini</a:t>
            </a:r>
          </a:p>
        </p:txBody>
      </p:sp>
      <p:sp>
        <p:nvSpPr>
          <p:cNvPr id="28" name="">
            <a:extLst xmlns:a="http://schemas.openxmlformats.org/drawingml/2006/main">
              <a:ext uri="{FF2B5EF4-FFF2-40B4-BE49-F238E27FC236}">
                <a16:creationId xmlns:a16="http://schemas.microsoft.com/office/drawing/2014/main" id="{E4CA77F4-50E5-4129-8422-EBAB5F1091B6}"/>
              </a:ext>
            </a:extLst>
          </p:cNvPr>
          <p:cNvSpPr>
            <a:spLocks xmlns:a="http://schemas.openxmlformats.org/drawingml/2006/main" noGrp="1"/>
          </p:cNvSpPr>
          <p:nvPr/>
        </p:nvSpPr>
        <p:spPr>
          <a:xfrm xmlns:a="http://schemas.openxmlformats.org/drawingml/2006/main">
            <a:off x="11144250" y="64865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754D35"/>
                </a:solidFill>
                <a:latin typeface="Arial"/>
                <a:ea typeface="Arial"/>
                <a:cs typeface="Arial"/>
              </a:defRPr>
            </a:pPr>
            <a:r>
              <a:rPr sz="900" b="1">
                <a:solidFill>
                  <a:srgbClr val="754D35"/>
                </a:solidFill>
                <a:latin typeface="Arial"/>
                <a:ea typeface="Arial"/>
                <a:cs typeface="Arial"/>
              </a:rPr>
              <a:t>13</a:t>
            </a:r>
          </a:p>
        </p:txBody>
      </p:sp>
    </p:spTree>
    <p:extLst>
      <p:ext uri="{BB962C8B-B14F-4D97-AF65-F5344CB8AC3E}">
        <p14:creationId xmlns:p14="http://schemas.microsoft.com/office/powerpoint/2010/main" val="14275223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2026-10-06T12:53:55.6680000Z</dcterms:created>
  <dcterms:modified xsi:type="dcterms:W3CDTF">2026-10-06T12:53:55.6690000Z</dcterms:modified>
</coreProperties>
</file>