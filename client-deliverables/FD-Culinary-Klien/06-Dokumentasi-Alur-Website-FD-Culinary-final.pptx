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3aabfa3d1447fa" /><Relationship Type="http://schemas.openxmlformats.org/officeDocument/2006/relationships/extended-properties" Target="/docProps/app.xml" Id="R8f2bfc0c24b04ea9" /><Relationship Type="http://schemas.openxmlformats.org/officeDocument/2006/relationships/officeDocument" Target="/ppt/presentation.xml" Id="Re43514a553c24ee7" /></Relationships>
</file>

<file path=ppt/presentation.xml><?xml version="1.0" encoding="utf-8"?>
<p:presentation xmlns:p="http://schemas.openxmlformats.org/presentationml/2006/main">
  <p:sldMasterIdLst>
    <p:sldMasterId xmlns:r="http://schemas.openxmlformats.org/officeDocument/2006/relationships" id="2147483648" r:id="Rbdc94ab7b1384844"/>
  </p:sldMasterIdLst>
  <p:notesMasterIdLst>
    <p:notesMasterId xmlns:r="http://schemas.openxmlformats.org/officeDocument/2006/relationships" r:id="R88577031d397480a"/>
  </p:notesMasterIdLst>
  <p:sldIdLst>
    <p:sldId xmlns:r="http://schemas.openxmlformats.org/officeDocument/2006/relationships" id="256" r:id="R29fa627adce1428e"/>
    <p:sldId xmlns:r="http://schemas.openxmlformats.org/officeDocument/2006/relationships" id="257" r:id="R3e3d41ba6df6487a"/>
    <p:sldId xmlns:r="http://schemas.openxmlformats.org/officeDocument/2006/relationships" id="258" r:id="R3d4f8a644de44898"/>
    <p:sldId xmlns:r="http://schemas.openxmlformats.org/officeDocument/2006/relationships" id="259" r:id="R2a17cdaf5de142cf"/>
    <p:sldId xmlns:r="http://schemas.openxmlformats.org/officeDocument/2006/relationships" id="260" r:id="R778966e0c03f46b4"/>
    <p:sldId xmlns:r="http://schemas.openxmlformats.org/officeDocument/2006/relationships" id="261" r:id="R6ae116eb3b224123"/>
    <p:sldId xmlns:r="http://schemas.openxmlformats.org/officeDocument/2006/relationships" id="262" r:id="Rb1a262da65784c9d"/>
    <p:sldId xmlns:r="http://schemas.openxmlformats.org/officeDocument/2006/relationships" id="263" r:id="R8f9895f790da43d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79f6a8f41f4012" /><Relationship Type="http://schemas.openxmlformats.org/officeDocument/2006/relationships/slideMaster" Target="/ppt/slideMasters/slideMaster1.xml" Id="Rbdc94ab7b1384844" /><Relationship Type="http://schemas.openxmlformats.org/officeDocument/2006/relationships/notesMaster" Target="/ppt/notesMasters/notesMaster1.xml" Id="R88577031d397480a" /><Relationship Type="http://schemas.openxmlformats.org/officeDocument/2006/relationships/presProps" Target="/ppt/presProps.xml" Id="Rbf906387b41247b7" /><Relationship Type="http://schemas.openxmlformats.org/officeDocument/2006/relationships/tableStyles" Target="/ppt/tableStyles.xml" Id="Rfc5a786a3eca426f" /><Relationship Type="http://schemas.openxmlformats.org/officeDocument/2006/relationships/slide" Target="/ppt/slides/slide1.xml" Id="R29fa627adce1428e" /><Relationship Type="http://schemas.openxmlformats.org/officeDocument/2006/relationships/slide" Target="/ppt/slides/slide2.xml" Id="R3e3d41ba6df6487a" /><Relationship Type="http://schemas.openxmlformats.org/officeDocument/2006/relationships/slide" Target="/ppt/slides/slide3.xml" Id="R3d4f8a644de44898" /><Relationship Type="http://schemas.openxmlformats.org/officeDocument/2006/relationships/slide" Target="/ppt/slides/slide4.xml" Id="R2a17cdaf5de142cf" /><Relationship Type="http://schemas.openxmlformats.org/officeDocument/2006/relationships/slide" Target="/ppt/slides/slide5.xml" Id="R778966e0c03f46b4" /><Relationship Type="http://schemas.openxmlformats.org/officeDocument/2006/relationships/slide" Target="/ppt/slides/slide6.xml" Id="R6ae116eb3b224123" /><Relationship Type="http://schemas.openxmlformats.org/officeDocument/2006/relationships/slide" Target="/ppt/slides/slide7.xml" Id="Rb1a262da65784c9d" /><Relationship Type="http://schemas.openxmlformats.org/officeDocument/2006/relationships/slide" Target="/ppt/slides/slide8.xml" Id="R8f9895f790da43d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f1b486dc1547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37c1dedaa949e7" /><Relationship Type="http://schemas.openxmlformats.org/officeDocument/2006/relationships/notesMaster" Target="/ppt/notesMasters/notesMaster1.xml" Id="R51064302fc5b45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f81d9b7a654faa" /><Relationship Type="http://schemas.openxmlformats.org/officeDocument/2006/relationships/notesMaster" Target="/ppt/notesMasters/notesMaster1.xml" Id="Re185fbb826e04c98"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570ff06eea4082" /><Relationship Type="http://schemas.openxmlformats.org/officeDocument/2006/relationships/notesMaster" Target="/ppt/notesMasters/notesMaster1.xml" Id="Rb09de64473b842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93bac44dce4af8" /><Relationship Type="http://schemas.openxmlformats.org/officeDocument/2006/relationships/notesMaster" Target="/ppt/notesMasters/notesMaster1.xml" Id="Rc87332dc109d481e" /></Relationships>
</file>

<file path=ppt/notesSlides/_rels/notesSlide5.xml.rels>&#65279;<?xml version="1.0" encoding="utf-8"?><Relationships xmlns="http://schemas.openxmlformats.org/package/2006/relationships"><Relationship Type="http://schemas.openxmlformats.org/officeDocument/2006/relationships/slide" Target="/ppt/slides/slide5.xml" Id="R5e9d0bddf956467f" /><Relationship Type="http://schemas.openxmlformats.org/officeDocument/2006/relationships/notesMaster" Target="/ppt/notesMasters/notesMaster1.xml" Id="R5f4d4aa59bd34e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7ed8e997e44125" /><Relationship Type="http://schemas.openxmlformats.org/officeDocument/2006/relationships/notesMaster" Target="/ppt/notesMasters/notesMaster1.xml" Id="R8a57bae02e6347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ea8c4d97fa4d04" /><Relationship Type="http://schemas.openxmlformats.org/officeDocument/2006/relationships/notesMaster" Target="/ppt/notesMasters/notesMaster1.xml" Id="R689df577e7cf44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2f96286c3746c5" /><Relationship Type="http://schemas.openxmlformats.org/officeDocument/2006/relationships/notesMaster" Target="/ppt/notesMasters/notesMaster1.xml" Id="R9d150dd7f0f84f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Beranda diambil langsung dari website proyek. Dokumen ini merangkum fungsi yang tersedia saat penyusunan.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Ringkasan proses berdasarkan arahan klien, menu harga yang diberikan, aset foto dan label FD Culinary, serta implementasi pada public/index.html, src/data/catalog.js, src/js/app.js, dan src/css/styles.css.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Konten dan anchor halaman diperiksa pada public/index.html. Cerita dan review menggunakan konten yang tersedia pada website saat 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Jumlah produk dan data harga berdasarkan src/data/catalog.js. Besaran harga ukuran 1 L berasal dari daftar menu 2.jpg yang diberikan klien. Perubahan ukuran ditangani pada kartu produk di src/js/app.js dan src/css/styles.css.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Keranjang berjalan sementara di browser. Tombol plus/minus dan hapus mengubah isi keranjang. Source: src/js/app.js dan public/index.html.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Nomor invoice dibentuk pada confirmAndDownloadInvoice() di src/js/app.js. Pengunduhan final membersihkan keranjang. Contoh invoice yang ditampilkan dibuat dari alur situs saat ini.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Tautan WhatsApp mengisi pesan singkat ‘Hay Kak FD Kulinary, aku ingin pesan’. Website tidak melampirkan file dan tidak mengirim pesan. Pelanggan memilih file PNG unduhan secara manual. Nomor tujuan berasal dari konfigurasi siteConfig pada src/data/catalog.js.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Batas fitur berdasarkan source saat ini: keranjang disimpan sebagai Map dalam state aplikasi; tidak ada penyimpanan order di database atau pemrosesan pembayaran. WhatsApp dibuka menggunakan tautan click-to-chat.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6014c99c614a9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358e0d6f0cb442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83786ee3fa49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c9bd6dd9504b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1d83f8956bb48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46f59d4b184a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7A63F55-C78C-46CC-8D75-9EFEF4011A6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AC87498-20C6-4B29-90C8-55C23EF404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57DF06-8C63-46B9-BFA7-568D16BBF45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15A073-0AE2-4891-BA0A-4F72354B52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4174BFF-0820-457A-881B-97B54186185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B3E6D5E-1A96-4600-AD13-4A42779138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01EEB2C-65EF-4207-B6BF-87BABBC3E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D4AFAE3-0CAB-4E16-BA3B-2961D6C866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C09DB9-B31E-4719-9864-B4045709DF1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835BCEB-CD69-41AA-B685-E463A8591D6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7f918274d5748d9" /><Relationship Type="http://schemas.openxmlformats.org/officeDocument/2006/relationships/slideLayout" Target="/ppt/slideLayouts/slideLayout1.xml" Id="R42b5a216241f48bb" /><Relationship Type="http://schemas.openxmlformats.org/officeDocument/2006/relationships/slideLayout" Target="/ppt/slideLayouts/slideLayout2.xml" Id="R2a5aa12d95a142cb" /><Relationship Type="http://schemas.openxmlformats.org/officeDocument/2006/relationships/slideLayout" Target="/ppt/slideLayouts/slideLayout3.xml" Id="Raefb6ab8ba0b468b" /><Relationship Type="http://schemas.openxmlformats.org/officeDocument/2006/relationships/slideLayout" Target="/ppt/slideLayouts/slideLayout4.xml" Id="R7cb8bdabcc574ccd" /><Relationship Type="http://schemas.openxmlformats.org/officeDocument/2006/relationships/slideLayout" Target="/ppt/slideLayouts/slideLayout5.xml" Id="R4b7b06e1d1224fe9" /><Relationship Type="http://schemas.openxmlformats.org/officeDocument/2006/relationships/slideLayout" Target="/ppt/slideLayouts/slideLayout6.xml" Id="Reab5737c2d1646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b5a216241f48bb"/>
    <p:sldLayoutId xmlns:r="http://schemas.openxmlformats.org/officeDocument/2006/relationships" id="2147483650" r:id="R2a5aa12d95a142cb"/>
    <p:sldLayoutId xmlns:r="http://schemas.openxmlformats.org/officeDocument/2006/relationships" id="2147483651" r:id="Raefb6ab8ba0b468b"/>
    <p:sldLayoutId xmlns:r="http://schemas.openxmlformats.org/officeDocument/2006/relationships" id="2147483652" r:id="R7cb8bdabcc574ccd"/>
    <p:sldLayoutId xmlns:r="http://schemas.openxmlformats.org/officeDocument/2006/relationships" id="2147483653" r:id="R4b7b06e1d1224fe9"/>
    <p:sldLayoutId xmlns:r="http://schemas.openxmlformats.org/officeDocument/2006/relationships" id="2147483654" r:id="Reab5737c2d1646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e301f38d4c4bc7" /><Relationship Type="http://schemas.openxmlformats.org/officeDocument/2006/relationships/image" Target="/ppt/media/image.png" Id="Ra45a7914300c4830" /><Relationship Type="http://schemas.openxmlformats.org/officeDocument/2006/relationships/image" Target="/ppt/media/image2.png" Id="R62517b4bdd954431" /><Relationship Type="http://schemas.openxmlformats.org/officeDocument/2006/relationships/notesSlide" Target="/ppt/notesSlides/notesSlide1.xml" Id="R448865c73d094c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1ed283b9204422" /><Relationship Type="http://schemas.openxmlformats.org/officeDocument/2006/relationships/notesSlide" Target="/ppt/notesSlides/notesSlide2.xml" Id="R0e4136a29d7f44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91b3ed97794b0d" /><Relationship Type="http://schemas.openxmlformats.org/officeDocument/2006/relationships/image" Target="/ppt/media/image3.png" Id="R15d3f9ffa7444f8c" /><Relationship Type="http://schemas.openxmlformats.org/officeDocument/2006/relationships/notesSlide" Target="/ppt/notesSlides/notesSlide3.xml" Id="Rca988362147b45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52282cc9bb0400d" /><Relationship Type="http://schemas.openxmlformats.org/officeDocument/2006/relationships/image" Target="/ppt/media/image4.png" Id="R512f5de35ab84640" /><Relationship Type="http://schemas.openxmlformats.org/officeDocument/2006/relationships/image" Target="/ppt/media/image5.png" Id="R259f9edb57e44874" /><Relationship Type="http://schemas.openxmlformats.org/officeDocument/2006/relationships/notesSlide" Target="/ppt/notesSlides/notesSlide4.xml" Id="R90bd57347fe54a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879b5800ee4ca1" /><Relationship Type="http://schemas.openxmlformats.org/officeDocument/2006/relationships/image" Target="/ppt/media/image6.png" Id="Rb5e18b2796b24126" /><Relationship Type="http://schemas.openxmlformats.org/officeDocument/2006/relationships/image" Target="/ppt/media/image7.png" Id="R5838420f1d954bff" /><Relationship Type="http://schemas.openxmlformats.org/officeDocument/2006/relationships/notesSlide" Target="/ppt/notesSlides/notesSlide5.xml" Id="R8831538a5c8e46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41b8bb93ff84ad0" /><Relationship Type="http://schemas.openxmlformats.org/officeDocument/2006/relationships/image" Target="/ppt/media/image8.png" Id="R0f6aaa2c351f4f03" /><Relationship Type="http://schemas.openxmlformats.org/officeDocument/2006/relationships/notesSlide" Target="/ppt/notesSlides/notesSlide6.xml" Id="R98b3d9ffc62444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4a6c8b8b2f438b" /><Relationship Type="http://schemas.openxmlformats.org/officeDocument/2006/relationships/image" Target="/ppt/media/image9.png" Id="R9ba4a4d9352247f0" /><Relationship Type="http://schemas.openxmlformats.org/officeDocument/2006/relationships/notesSlide" Target="/ppt/notesSlides/notesSlide7.xml" Id="Rb1cf9f127d7844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ab9a58219b49f4" /><Relationship Type="http://schemas.openxmlformats.org/officeDocument/2006/relationships/notesSlide" Target="/ppt/notesSlides/notesSlide8.xml" Id="R2c2c7a325743436f" /></Relationships>
</file>

<file path=ppt/slides/slide1.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D4EE046-59C6-4C2A-B87C-31776CD526D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B18A48"/>
          </a:solidFill>
          <a:ln xmlns:a="http://schemas.openxmlformats.org/drawingml/2006/main" w="0">
            <a:noFill/>
          </a:ln>
        </p:spPr>
      </p:sp>
      <p:pic>
        <p:nvPicPr>
          <p:cNvPr id="2" name="">
            <a:extLst xmlns:a="http://schemas.openxmlformats.org/drawingml/2006/main">
              <a:ext uri="{FF2B5EF4-FFF2-40B4-BE49-F238E27FC236}">
                <a16:creationId xmlns:a16="http://schemas.microsoft.com/office/drawing/2014/main" id="{9D3FE5D3-656C-4D86-8C7E-01F9EC421A59}"/>
              </a:ext>
            </a:extLst>
          </p:cNvPr>
          <p:cNvPicPr>
            <a:picLocks xmlns:a="http://schemas.openxmlformats.org/drawingml/2006/main" noChangeAspect="1"/>
          </p:cNvPicPr>
          <p:nvPr/>
        </p:nvPicPr>
        <p:blipFill>
          <a:blip xmlns:r="http://schemas.openxmlformats.org/officeDocument/2006/relationships" xmlns:a="http://schemas.openxmlformats.org/drawingml/2006/main" r:embed="Ra45a7914300c4830"/>
          <a:stretch xmlns:a="http://schemas.openxmlformats.org/drawingml/2006/main"/>
        </p:blipFill>
        <p:spPr>
          <a:xfrm xmlns:a="http://schemas.openxmlformats.org/drawingml/2006/main">
            <a:off x="590550" y="514350"/>
            <a:ext cx="742950" cy="7429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0412E359-2C06-412E-B0A6-DA6EB7DA7D5D}"/>
              </a:ext>
            </a:extLst>
          </p:cNvPr>
          <p:cNvSpPr>
            <a:spLocks xmlns:a="http://schemas.openxmlformats.org/drawingml/2006/main" noGrp="1"/>
          </p:cNvSpPr>
          <p:nvPr/>
        </p:nvSpPr>
        <p:spPr>
          <a:xfrm xmlns:a="http://schemas.openxmlformats.org/drawingml/2006/main">
            <a:off x="1524000" y="666750"/>
            <a:ext cx="3143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75" b="1">
                <a:solidFill>
                  <a:srgbClr val="3A2015"/>
                </a:solidFill>
                <a:latin typeface="Arial"/>
                <a:ea typeface="Arial"/>
                <a:cs typeface="Arial"/>
              </a:defRPr>
            </a:defPPr>
          </a:lstStyle>
          <a:p xmlns:a="http://schemas.openxmlformats.org/drawingml/2006/main">
            <a:pPr algn="l">
              <a:defRPr sz="1275" b="1">
                <a:solidFill>
                  <a:srgbClr val="3A2015"/>
                </a:solidFill>
                <a:latin typeface="Arial"/>
                <a:ea typeface="Arial"/>
                <a:cs typeface="Arial"/>
              </a:defRPr>
            </a:pPr>
            <a:r>
              <a:rPr sz="1275" b="1">
                <a:solidFill>
                  <a:srgbClr val="3A2015"/>
                </a:solidFill>
                <a:latin typeface="Arial"/>
                <a:ea typeface="Arial"/>
                <a:cs typeface="Arial"/>
              </a:rPr>
              <a:t>FD CULINARY</a:t>
            </a:r>
          </a:p>
        </p:txBody>
      </p:sp>
      <p:sp>
        <p:nvSpPr>
          <p:cNvPr id="4" name="">
            <a:extLst xmlns:a="http://schemas.openxmlformats.org/drawingml/2006/main">
              <a:ext uri="{FF2B5EF4-FFF2-40B4-BE49-F238E27FC236}">
                <a16:creationId xmlns:a16="http://schemas.microsoft.com/office/drawing/2014/main" id="{D8BC076E-D6C1-460C-B977-9AF006AC51D0}"/>
              </a:ext>
            </a:extLst>
          </p:cNvPr>
          <p:cNvSpPr>
            <a:spLocks xmlns:a="http://schemas.openxmlformats.org/drawingml/2006/main" noGrp="1"/>
          </p:cNvSpPr>
          <p:nvPr/>
        </p:nvSpPr>
        <p:spPr>
          <a:xfrm xmlns:a="http://schemas.openxmlformats.org/drawingml/2006/main">
            <a:off x="590550" y="1847850"/>
            <a:ext cx="47625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4350" b="1">
                <a:solidFill>
                  <a:srgbClr val="281E18"/>
                </a:solidFill>
                <a:latin typeface="Georgia"/>
                <a:ea typeface="Georgia"/>
                <a:cs typeface="Georgia"/>
              </a:defRPr>
            </a:defPPr>
          </a:lstStyle>
          <a:p xmlns:a="http://schemas.openxmlformats.org/drawingml/2006/main">
            <a:pPr algn="l">
              <a:defRPr sz="4350" b="1">
                <a:solidFill>
                  <a:srgbClr val="281E18"/>
                </a:solidFill>
                <a:latin typeface="Georgia"/>
                <a:ea typeface="Georgia"/>
                <a:cs typeface="Georgia"/>
              </a:defRPr>
            </a:pPr>
            <a:r>
              <a:rPr sz="4350" b="1">
                <a:solidFill>
                  <a:srgbClr val="281E18"/>
                </a:solidFill>
                <a:latin typeface="Georgia"/>
                <a:ea typeface="Georgia"/>
                <a:cs typeface="Georgia"/>
              </a:rPr>
              <a:t>Website &amp;</a:t>
            </a:r>
          </a:p>
          <a:p xmlns:a="http://schemas.openxmlformats.org/drawingml/2006/main">
            <a:pPr algn="l">
              <a:defRPr sz="4350" b="1">
                <a:solidFill>
                  <a:srgbClr val="281E18"/>
                </a:solidFill>
                <a:latin typeface="Georgia"/>
                <a:ea typeface="Georgia"/>
                <a:cs typeface="Georgia"/>
              </a:defRPr>
            </a:pPr>
            <a:r>
              <a:rPr sz="4350" b="1">
                <a:solidFill>
                  <a:srgbClr val="281E18"/>
                </a:solidFill>
                <a:latin typeface="Georgia"/>
                <a:ea typeface="Georgia"/>
                <a:cs typeface="Georgia"/>
              </a:rPr>
              <a:t>alur pesanan</a:t>
            </a:r>
          </a:p>
        </p:txBody>
      </p:sp>
      <p:sp>
        <p:nvSpPr>
          <p:cNvPr id="5" name="">
            <a:extLst xmlns:a="http://schemas.openxmlformats.org/drawingml/2006/main">
              <a:ext uri="{FF2B5EF4-FFF2-40B4-BE49-F238E27FC236}">
                <a16:creationId xmlns:a16="http://schemas.microsoft.com/office/drawing/2014/main" id="{D46719F2-323D-479C-B6D8-5FD6A8FD479C}"/>
              </a:ext>
            </a:extLst>
          </p:cNvPr>
          <p:cNvSpPr>
            <a:spLocks xmlns:a="http://schemas.openxmlformats.org/drawingml/2006/main" noGrp="1"/>
          </p:cNvSpPr>
          <p:nvPr/>
        </p:nvSpPr>
        <p:spPr>
          <a:xfrm xmlns:a="http://schemas.openxmlformats.org/drawingml/2006/main">
            <a:off x="609600" y="3724275"/>
            <a:ext cx="4714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0">
                <a:solidFill>
                  <a:srgbClr val="72675F"/>
                </a:solidFill>
                <a:latin typeface="Arial"/>
                <a:ea typeface="Arial"/>
                <a:cs typeface="Arial"/>
              </a:defRPr>
            </a:defPPr>
          </a:lstStyle>
          <a:p xmlns:a="http://schemas.openxmlformats.org/drawingml/2006/main">
            <a:pPr algn="l">
              <a:defRPr sz="1725" b="0">
                <a:solidFill>
                  <a:srgbClr val="72675F"/>
                </a:solidFill>
                <a:latin typeface="Arial"/>
                <a:ea typeface="Arial"/>
                <a:cs typeface="Arial"/>
              </a:defRPr>
            </a:pPr>
            <a:r>
              <a:rPr sz="1725" b="0">
                <a:solidFill>
                  <a:srgbClr val="72675F"/>
                </a:solidFill>
                <a:latin typeface="Arial"/>
                <a:ea typeface="Arial"/>
                <a:cs typeface="Arial"/>
              </a:rPr>
              <a:t>Dokumentasi bagian situs dan proses order</a:t>
            </a:r>
          </a:p>
        </p:txBody>
      </p:sp>
      <p:sp>
        <p:nvSpPr>
          <p:cNvPr id="6" name="">
            <a:extLst xmlns:a="http://schemas.openxmlformats.org/drawingml/2006/main">
              <a:ext uri="{FF2B5EF4-FFF2-40B4-BE49-F238E27FC236}">
                <a16:creationId xmlns:a16="http://schemas.microsoft.com/office/drawing/2014/main" id="{C41D7CB5-F46D-4ED4-AB42-17027BA126E0}"/>
              </a:ext>
            </a:extLst>
          </p:cNvPr>
          <p:cNvSpPr>
            <a:spLocks xmlns:a="http://schemas.openxmlformats.org/drawingml/2006/main" noGrp="1"/>
          </p:cNvSpPr>
          <p:nvPr/>
        </p:nvSpPr>
        <p:spPr>
          <a:xfrm xmlns:a="http://schemas.openxmlformats.org/drawingml/2006/main">
            <a:off x="609600" y="4333875"/>
            <a:ext cx="762000" cy="38100"/>
          </a:xfrm>
          <a:prstGeom xmlns:a="http://schemas.openxmlformats.org/drawingml/2006/main" prst="rect">
            <a:avLst/>
          </a:prstGeom>
          <a:solidFill xmlns:a="http://schemas.openxmlformats.org/drawingml/2006/main">
            <a:srgbClr val="B18A4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3D2C84-C94C-4191-9CD8-23057FDE1234}"/>
              </a:ext>
            </a:extLst>
          </p:cNvPr>
          <p:cNvSpPr>
            <a:spLocks xmlns:a="http://schemas.openxmlformats.org/drawingml/2006/main" noGrp="1"/>
          </p:cNvSpPr>
          <p:nvPr/>
        </p:nvSpPr>
        <p:spPr>
          <a:xfrm xmlns:a="http://schemas.openxmlformats.org/drawingml/2006/main">
            <a:off x="609600" y="4591050"/>
            <a:ext cx="4629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575" b="0">
                <a:solidFill>
                  <a:srgbClr val="3A2015"/>
                </a:solidFill>
                <a:latin typeface="Arial"/>
                <a:ea typeface="Arial"/>
                <a:cs typeface="Arial"/>
              </a:defRPr>
            </a:defPPr>
          </a:lstStyle>
          <a:p xmlns:a="http://schemas.openxmlformats.org/drawingml/2006/main">
            <a:pPr algn="l">
              <a:defRPr sz="1575" b="0">
                <a:solidFill>
                  <a:srgbClr val="3A2015"/>
                </a:solidFill>
                <a:latin typeface="Arial"/>
                <a:ea typeface="Arial"/>
                <a:cs typeface="Arial"/>
              </a:defRPr>
            </a:pPr>
            <a:r>
              <a:rPr sz="1575" b="0">
                <a:solidFill>
                  <a:srgbClr val="3A2015"/>
                </a:solidFill>
                <a:latin typeface="Arial"/>
                <a:ea typeface="Arial"/>
                <a:cs typeface="Arial"/>
              </a:rPr>
              <a:t>Dari kebutuhan bisnis hingga invoice siap dilampirkan ke WhatsApp</a:t>
            </a:r>
          </a:p>
        </p:txBody>
      </p:sp>
      <p:pic>
        <p:nvPicPr>
          <p:cNvPr id="8" name="">
            <a:extLst xmlns:a="http://schemas.openxmlformats.org/drawingml/2006/main">
              <a:ext uri="{FF2B5EF4-FFF2-40B4-BE49-F238E27FC236}">
                <a16:creationId xmlns:a16="http://schemas.microsoft.com/office/drawing/2014/main" id="{ED8EBA76-A2B2-4E26-AF99-FB27906C683B}"/>
              </a:ext>
            </a:extLst>
          </p:cNvPr>
          <p:cNvPicPr>
            <a:picLocks xmlns:a="http://schemas.openxmlformats.org/drawingml/2006/main" noChangeAspect="1"/>
          </p:cNvPicPr>
          <p:nvPr/>
        </p:nvPicPr>
        <p:blipFill>
          <a:blip xmlns:r="http://schemas.openxmlformats.org/officeDocument/2006/relationships" xmlns:a="http://schemas.openxmlformats.org/drawingml/2006/main" r:embed="R62517b4bdd954431"/>
          <a:srcRect xmlns:a="http://schemas.openxmlformats.org/drawingml/2006/main" l="74" t="0" r="74" b="0"/>
          <a:stretch xmlns:a="http://schemas.openxmlformats.org/drawingml/2006/main">
            <a:fillRect l="0" t="0" r="0" b="0"/>
          </a:stretch>
        </p:blipFill>
        <p:spPr>
          <a:xfrm xmlns:a="http://schemas.openxmlformats.org/drawingml/2006/main">
            <a:off x="5905500" y="876300"/>
            <a:ext cx="5715000" cy="3219450"/>
          </a:xfrm>
          <a:prstGeom xmlns:a="http://schemas.openxmlformats.org/drawingml/2006/main" prst="roundRect">
            <a:avLst>
              <a:gd name="adj" fmla="val 4734"/>
            </a:avLst>
          </a:prstGeom>
        </p:spPr>
      </p:pic>
      <p:sp>
        <p:nvSpPr>
          <p:cNvPr id="9" name="">
            <a:extLst xmlns:a="http://schemas.openxmlformats.org/drawingml/2006/main">
              <a:ext uri="{FF2B5EF4-FFF2-40B4-BE49-F238E27FC236}">
                <a16:creationId xmlns:a16="http://schemas.microsoft.com/office/drawing/2014/main" id="{41CC0075-81CE-48B4-B21B-E206B95D1113}"/>
              </a:ext>
            </a:extLst>
          </p:cNvPr>
          <p:cNvSpPr>
            <a:spLocks xmlns:a="http://schemas.openxmlformats.org/drawingml/2006/main" noGrp="1"/>
          </p:cNvSpPr>
          <p:nvPr/>
        </p:nvSpPr>
        <p:spPr>
          <a:xfrm xmlns:a="http://schemas.openxmlformats.org/drawingml/2006/main">
            <a:off x="609600" y="6191250"/>
            <a:ext cx="4476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125" b="1">
                <a:solidFill>
                  <a:srgbClr val="526747"/>
                </a:solidFill>
                <a:latin typeface="Arial"/>
                <a:ea typeface="Arial"/>
                <a:cs typeface="Arial"/>
              </a:defRPr>
            </a:defPPr>
          </a:lstStyle>
          <a:p xmlns:a="http://schemas.openxmlformats.org/drawingml/2006/main">
            <a:pPr algn="l">
              <a:defRPr sz="1125" b="1">
                <a:solidFill>
                  <a:srgbClr val="526747"/>
                </a:solidFill>
                <a:latin typeface="Arial"/>
                <a:ea typeface="Arial"/>
                <a:cs typeface="Arial"/>
              </a:defRPr>
            </a:pPr>
            <a:r>
              <a:rPr sz="1125" b="1">
                <a:solidFill>
                  <a:srgbClr val="526747"/>
                </a:solidFill>
                <a:latin typeface="Arial"/>
                <a:ea typeface="Arial"/>
                <a:cs typeface="Arial"/>
              </a:rPr>
              <a:t>Ringkasan implementasi terkini</a:t>
            </a:r>
          </a:p>
        </p:txBody>
      </p:sp>
    </p:spTree>
    <p:extLst>
      <p:ext uri="{BB962C8B-B14F-4D97-AF65-F5344CB8AC3E}">
        <p14:creationId xmlns:p14="http://schemas.microsoft.com/office/powerpoint/2010/main" val="1703814140"/>
      </p:ext>
    </p:extLst>
  </p:cSld>
</p:sld>
</file>

<file path=ppt/slides/slide2.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D87FFC9-E0B7-4F79-8FF4-B9ADE2763E48}"/>
              </a:ext>
            </a:extLst>
          </p:cNvPr>
          <p:cNvSpPr>
            <a:spLocks xmlns:a="http://schemas.openxmlformats.org/drawingml/2006/main" noGrp="1"/>
          </p:cNvSpPr>
          <p:nvPr/>
        </p:nvSpPr>
        <p:spPr>
          <a:xfrm xmlns:a="http://schemas.openxmlformats.org/drawingml/2006/main">
            <a:off x="552450" y="209550"/>
            <a:ext cx="542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3A2015"/>
                </a:solidFill>
                <a:latin typeface="Arial"/>
                <a:ea typeface="Arial"/>
                <a:cs typeface="Arial"/>
              </a:defRPr>
            </a:defPPr>
          </a:lstStyle>
          <a:p xmlns:a="http://schemas.openxmlformats.org/drawingml/2006/main">
            <a:pPr algn="l">
              <a:defRPr sz="1050" b="1">
                <a:solidFill>
                  <a:srgbClr val="3A2015"/>
                </a:solidFill>
                <a:latin typeface="Arial"/>
                <a:ea typeface="Arial"/>
                <a:cs typeface="Arial"/>
              </a:defRPr>
            </a:pPr>
            <a:r>
              <a:rPr sz="1050" b="1">
                <a:solidFill>
                  <a:srgbClr val="3A2015"/>
                </a:solidFill>
                <a:latin typeface="Arial"/>
                <a:ea typeface="Arial"/>
                <a:cs typeface="Arial"/>
              </a:rPr>
              <a:t>FD CULINARY  /  DOKUMENTASI WEBSITE</a:t>
            </a:r>
          </a:p>
        </p:txBody>
      </p:sp>
      <p:sp>
        <p:nvSpPr>
          <p:cNvPr id="2" name="">
            <a:extLst xmlns:a="http://schemas.openxmlformats.org/drawingml/2006/main">
              <a:ext uri="{FF2B5EF4-FFF2-40B4-BE49-F238E27FC236}">
                <a16:creationId xmlns:a16="http://schemas.microsoft.com/office/drawing/2014/main" id="{84C51F1C-BF6F-48CD-B4A4-7AF245443E23}"/>
              </a:ext>
            </a:extLst>
          </p:cNvPr>
          <p:cNvSpPr>
            <a:spLocks xmlns:a="http://schemas.openxmlformats.org/drawingml/2006/main" noGrp="1"/>
          </p:cNvSpPr>
          <p:nvPr/>
        </p:nvSpPr>
        <p:spPr>
          <a:xfrm xmlns:a="http://schemas.openxmlformats.org/drawingml/2006/main">
            <a:off x="552450" y="533400"/>
            <a:ext cx="1066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PROSES PEMBUATAN</a:t>
            </a:r>
          </a:p>
        </p:txBody>
      </p:sp>
      <p:sp>
        <p:nvSpPr>
          <p:cNvPr id="3" name="">
            <a:extLst xmlns:a="http://schemas.openxmlformats.org/drawingml/2006/main">
              <a:ext uri="{FF2B5EF4-FFF2-40B4-BE49-F238E27FC236}">
                <a16:creationId xmlns:a16="http://schemas.microsoft.com/office/drawing/2014/main" id="{38CB6DD0-C5EC-478D-8420-14CD37383937}"/>
              </a:ext>
            </a:extLst>
          </p:cNvPr>
          <p:cNvSpPr>
            <a:spLocks xmlns:a="http://schemas.openxmlformats.org/drawingml/2006/main" noGrp="1"/>
          </p:cNvSpPr>
          <p:nvPr/>
        </p:nvSpPr>
        <p:spPr>
          <a:xfrm xmlns:a="http://schemas.openxmlformats.org/drawingml/2006/main">
            <a:off x="552450" y="8001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3150" b="1">
                <a:solidFill>
                  <a:srgbClr val="281E18"/>
                </a:solidFill>
                <a:latin typeface="Georgia"/>
                <a:ea typeface="Georgia"/>
                <a:cs typeface="Georgia"/>
              </a:defRPr>
            </a:defPPr>
          </a:lstStyle>
          <a:p xmlns:a="http://schemas.openxmlformats.org/drawingml/2006/main">
            <a:pPr algn="l">
              <a:defRPr sz="3150" b="1">
                <a:solidFill>
                  <a:srgbClr val="281E18"/>
                </a:solidFill>
                <a:latin typeface="Georgia"/>
                <a:ea typeface="Georgia"/>
                <a:cs typeface="Georgia"/>
              </a:defRPr>
            </a:pPr>
            <a:r>
              <a:rPr sz="3150" b="1">
                <a:solidFill>
                  <a:srgbClr val="281E18"/>
                </a:solidFill>
                <a:latin typeface="Georgia"/>
                <a:ea typeface="Georgia"/>
                <a:cs typeface="Georgia"/>
              </a:rPr>
              <a:t>Tahapan penyusunan website</a:t>
            </a:r>
          </a:p>
        </p:txBody>
      </p:sp>
      <p:sp>
        <p:nvSpPr>
          <p:cNvPr id="4" name="">
            <a:extLst xmlns:a="http://schemas.openxmlformats.org/drawingml/2006/main">
              <a:ext uri="{FF2B5EF4-FFF2-40B4-BE49-F238E27FC236}">
                <a16:creationId xmlns:a16="http://schemas.microsoft.com/office/drawing/2014/main" id="{0173B02E-2963-4097-B900-72B867420AC1}"/>
              </a:ext>
            </a:extLst>
          </p:cNvPr>
          <p:cNvSpPr>
            <a:spLocks xmlns:a="http://schemas.openxmlformats.org/drawingml/2006/main" noGrp="1"/>
          </p:cNvSpPr>
          <p:nvPr/>
        </p:nvSpPr>
        <p:spPr>
          <a:xfrm xmlns:a="http://schemas.openxmlformats.org/drawingml/2006/main">
            <a:off x="571500" y="136207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Kebutuhan katalog dan pemesanan diterjemahkan menjadi halaman dan alur yang mudah digunakan.</a:t>
            </a:r>
          </a:p>
        </p:txBody>
      </p:sp>
      <p:sp>
        <p:nvSpPr>
          <p:cNvPr id="5" name="">
            <a:extLst xmlns:a="http://schemas.openxmlformats.org/drawingml/2006/main">
              <a:ext uri="{FF2B5EF4-FFF2-40B4-BE49-F238E27FC236}">
                <a16:creationId xmlns:a16="http://schemas.microsoft.com/office/drawing/2014/main" id="{14C97145-7C15-4E41-9D19-CE71B0DB55B4}"/>
              </a:ext>
            </a:extLst>
          </p:cNvPr>
          <p:cNvSpPr>
            <a:spLocks xmlns:a="http://schemas.openxmlformats.org/drawingml/2006/main" noGrp="1"/>
          </p:cNvSpPr>
          <p:nvPr/>
        </p:nvSpPr>
        <p:spPr>
          <a:xfrm xmlns:a="http://schemas.openxmlformats.org/drawingml/2006/main">
            <a:off x="552450" y="1752600"/>
            <a:ext cx="1108710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2385F03-5651-47E5-9C8B-0BAC68DAB2BC}"/>
              </a:ext>
            </a:extLst>
          </p:cNvPr>
          <p:cNvSpPr>
            <a:spLocks xmlns:a="http://schemas.openxmlformats.org/drawingml/2006/main" noGrp="1"/>
          </p:cNvSpPr>
          <p:nvPr/>
        </p:nvSpPr>
        <p:spPr>
          <a:xfrm xmlns:a="http://schemas.openxmlformats.org/drawingml/2006/main">
            <a:off x="552450" y="6448425"/>
            <a:ext cx="11087100" cy="952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AE7F194-111A-482A-AB6D-8A6EB4EDFD08}"/>
              </a:ext>
            </a:extLst>
          </p:cNvPr>
          <p:cNvSpPr>
            <a:spLocks xmlns:a="http://schemas.openxmlformats.org/drawingml/2006/main" noGrp="1"/>
          </p:cNvSpPr>
          <p:nvPr/>
        </p:nvSpPr>
        <p:spPr>
          <a:xfrm xmlns:a="http://schemas.openxmlformats.org/drawingml/2006/main">
            <a:off x="552450" y="65246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0">
                <a:solidFill>
                  <a:srgbClr val="72675F"/>
                </a:solidFill>
                <a:latin typeface="Arial"/>
                <a:ea typeface="Arial"/>
                <a:cs typeface="Arial"/>
              </a:defRPr>
            </a:defPPr>
          </a:lstStyle>
          <a:p xmlns:a="http://schemas.openxmlformats.org/drawingml/2006/main">
            <a:pPr algn="l">
              <a:defRPr sz="900" b="0">
                <a:solidFill>
                  <a:srgbClr val="72675F"/>
                </a:solidFill>
                <a:latin typeface="Arial"/>
                <a:ea typeface="Arial"/>
                <a:cs typeface="Arial"/>
              </a:defRPr>
            </a:pPr>
            <a:r>
              <a:rPr sz="900" b="0">
                <a:solidFill>
                  <a:srgbClr val="72675F"/>
                </a:solidFill>
                <a:latin typeface="Arial"/>
                <a:ea typeface="Arial"/>
                <a:cs typeface="Arial"/>
              </a:rPr>
              <a:t>Dokumentasi berdasarkan versi website saat ini</a:t>
            </a:r>
          </a:p>
        </p:txBody>
      </p:sp>
      <p:sp>
        <p:nvSpPr>
          <p:cNvPr id="8" name="">
            <a:extLst xmlns:a="http://schemas.openxmlformats.org/drawingml/2006/main">
              <a:ext uri="{FF2B5EF4-FFF2-40B4-BE49-F238E27FC236}">
                <a16:creationId xmlns:a16="http://schemas.microsoft.com/office/drawing/2014/main" id="{3ACB0DC5-BD22-44B9-B1A8-EAD4A91EC32C}"/>
              </a:ext>
            </a:extLst>
          </p:cNvPr>
          <p:cNvSpPr>
            <a:spLocks xmlns:a="http://schemas.openxmlformats.org/drawingml/2006/main" noGrp="1"/>
          </p:cNvSpPr>
          <p:nvPr/>
        </p:nvSpPr>
        <p:spPr>
          <a:xfrm xmlns:a="http://schemas.openxmlformats.org/drawingml/2006/main">
            <a:off x="1118235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75" b="1">
                <a:solidFill>
                  <a:srgbClr val="3A2015"/>
                </a:solidFill>
                <a:latin typeface="Arial"/>
                <a:ea typeface="Arial"/>
                <a:cs typeface="Arial"/>
              </a:defRPr>
            </a:defPPr>
          </a:lstStyle>
          <a:p xmlns:a="http://schemas.openxmlformats.org/drawingml/2006/main">
            <a:pPr algn="r">
              <a:defRPr sz="975" b="1">
                <a:solidFill>
                  <a:srgbClr val="3A2015"/>
                </a:solidFill>
                <a:latin typeface="Arial"/>
                <a:ea typeface="Arial"/>
                <a:cs typeface="Arial"/>
              </a:defRPr>
            </a:pPr>
            <a:r>
              <a:rPr sz="975" b="1">
                <a:solidFill>
                  <a:srgbClr val="3A2015"/>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29CADB87-E363-4128-9DE5-A9C76B802958}"/>
              </a:ext>
            </a:extLst>
          </p:cNvPr>
          <p:cNvSpPr>
            <a:spLocks xmlns:a="http://schemas.openxmlformats.org/drawingml/2006/main" noGrp="1"/>
          </p:cNvSpPr>
          <p:nvPr/>
        </p:nvSpPr>
        <p:spPr>
          <a:xfrm xmlns:a="http://schemas.openxmlformats.org/drawingml/2006/main">
            <a:off x="1714500" y="2686050"/>
            <a:ext cx="8715375" cy="2857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BEB951-62DC-44C3-B84D-CAD8F63F483D}"/>
              </a:ext>
            </a:extLst>
          </p:cNvPr>
          <p:cNvSpPr>
            <a:spLocks xmlns:a="http://schemas.openxmlformats.org/drawingml/2006/main" noGrp="1"/>
          </p:cNvSpPr>
          <p:nvPr/>
        </p:nvSpPr>
        <p:spPr>
          <a:xfrm xmlns:a="http://schemas.openxmlformats.org/drawingml/2006/main">
            <a:off x="1447800" y="2409825"/>
            <a:ext cx="533400" cy="533400"/>
          </a:xfrm>
          <a:prstGeom xmlns:a="http://schemas.openxmlformats.org/drawingml/2006/main" prst="ellipse">
            <a:avLst/>
          </a:prstGeom>
          <a:solidFill xmlns:a="http://schemas.openxmlformats.org/drawingml/2006/main">
            <a:srgbClr val="52674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5701D5C-C0C0-4E00-BC28-EEABE599311E}"/>
              </a:ext>
            </a:extLst>
          </p:cNvPr>
          <p:cNvSpPr>
            <a:spLocks xmlns:a="http://schemas.openxmlformats.org/drawingml/2006/main" noGrp="1"/>
          </p:cNvSpPr>
          <p:nvPr/>
        </p:nvSpPr>
        <p:spPr>
          <a:xfrm xmlns:a="http://schemas.openxmlformats.org/drawingml/2006/main">
            <a:off x="1457325" y="24955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FFFEFB"/>
                </a:solidFill>
                <a:latin typeface="Arial"/>
                <a:ea typeface="Arial"/>
                <a:cs typeface="Arial"/>
              </a:defRPr>
            </a:defPPr>
          </a:lstStyle>
          <a:p xmlns:a="http://schemas.openxmlformats.org/drawingml/2006/main">
            <a:pPr algn="ctr">
              <a:defRPr sz="1425" b="1">
                <a:solidFill>
                  <a:srgbClr val="FFFEFB"/>
                </a:solidFill>
                <a:latin typeface="Arial"/>
                <a:ea typeface="Arial"/>
                <a:cs typeface="Arial"/>
              </a:defRPr>
            </a:pPr>
            <a:r>
              <a:rPr sz="1425" b="1">
                <a:solidFill>
                  <a:srgbClr val="FFFEFB"/>
                </a:solidFill>
                <a:latin typeface="Arial"/>
                <a:ea typeface="Arial"/>
                <a:cs typeface="Arial"/>
              </a:rPr>
              <a:t>01</a:t>
            </a:r>
          </a:p>
        </p:txBody>
      </p:sp>
      <p:sp>
        <p:nvSpPr>
          <p:cNvPr id="12" name="">
            <a:extLst xmlns:a="http://schemas.openxmlformats.org/drawingml/2006/main">
              <a:ext uri="{FF2B5EF4-FFF2-40B4-BE49-F238E27FC236}">
                <a16:creationId xmlns:a16="http://schemas.microsoft.com/office/drawing/2014/main" id="{FDC4A08B-C542-41E3-B479-649554F4E4E3}"/>
              </a:ext>
            </a:extLst>
          </p:cNvPr>
          <p:cNvSpPr>
            <a:spLocks xmlns:a="http://schemas.openxmlformats.org/drawingml/2006/main" noGrp="1"/>
          </p:cNvSpPr>
          <p:nvPr/>
        </p:nvSpPr>
        <p:spPr>
          <a:xfrm xmlns:a="http://schemas.openxmlformats.org/drawingml/2006/main">
            <a:off x="647700" y="32385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281E18"/>
                </a:solidFill>
                <a:latin typeface="Georgia"/>
                <a:ea typeface="Georgia"/>
                <a:cs typeface="Georgia"/>
              </a:defRPr>
            </a:defPPr>
          </a:lstStyle>
          <a:p xmlns:a="http://schemas.openxmlformats.org/drawingml/2006/main">
            <a:pPr algn="ctr">
              <a:defRPr sz="1875" b="1">
                <a:solidFill>
                  <a:srgbClr val="281E18"/>
                </a:solidFill>
                <a:latin typeface="Georgia"/>
                <a:ea typeface="Georgia"/>
                <a:cs typeface="Georgia"/>
              </a:defRPr>
            </a:pPr>
            <a:r>
              <a:rPr sz="1875" b="1">
                <a:solidFill>
                  <a:srgbClr val="281E18"/>
                </a:solidFill>
                <a:latin typeface="Georgia"/>
                <a:ea typeface="Georgia"/>
                <a:cs typeface="Georgia"/>
              </a:rPr>
              <a:t>Kebutuhan</a:t>
            </a:r>
          </a:p>
        </p:txBody>
      </p:sp>
      <p:sp>
        <p:nvSpPr>
          <p:cNvPr id="13" name="">
            <a:extLst xmlns:a="http://schemas.openxmlformats.org/drawingml/2006/main">
              <a:ext uri="{FF2B5EF4-FFF2-40B4-BE49-F238E27FC236}">
                <a16:creationId xmlns:a16="http://schemas.microsoft.com/office/drawing/2014/main" id="{F5D31EA8-7937-4499-8395-365B7FE34832}"/>
              </a:ext>
            </a:extLst>
          </p:cNvPr>
          <p:cNvSpPr>
            <a:spLocks xmlns:a="http://schemas.openxmlformats.org/drawingml/2006/main" noGrp="1"/>
          </p:cNvSpPr>
          <p:nvPr/>
        </p:nvSpPr>
        <p:spPr>
          <a:xfrm xmlns:a="http://schemas.openxmlformats.org/drawingml/2006/main">
            <a:off x="514350" y="3714750"/>
            <a:ext cx="24003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425" b="0">
                <a:solidFill>
                  <a:srgbClr val="72675F"/>
                </a:solidFill>
                <a:latin typeface="Arial"/>
                <a:ea typeface="Arial"/>
                <a:cs typeface="Arial"/>
              </a:defRPr>
            </a:defPPr>
          </a:lstStyle>
          <a:p xmlns:a="http://schemas.openxmlformats.org/drawingml/2006/main">
            <a:pPr algn="ctr">
              <a:defRPr sz="1425" b="0">
                <a:solidFill>
                  <a:srgbClr val="72675F"/>
                </a:solidFill>
                <a:latin typeface="Arial"/>
                <a:ea typeface="Arial"/>
                <a:cs typeface="Arial"/>
              </a:defRPr>
            </a:pPr>
            <a:r>
              <a:rPr sz="1425" b="0">
                <a:solidFill>
                  <a:srgbClr val="72675F"/>
                </a:solidFill>
                <a:latin typeface="Arial"/>
                <a:ea typeface="Arial"/>
                <a:cs typeface="Arial"/>
              </a:rPr>
              <a:t>Menu minuman, pilihan ukuran, harga, review, dan pemesanan lewat WhatsApp.</a:t>
            </a:r>
          </a:p>
        </p:txBody>
      </p:sp>
      <p:sp>
        <p:nvSpPr>
          <p:cNvPr id="14" name="">
            <a:extLst xmlns:a="http://schemas.openxmlformats.org/drawingml/2006/main">
              <a:ext uri="{FF2B5EF4-FFF2-40B4-BE49-F238E27FC236}">
                <a16:creationId xmlns:a16="http://schemas.microsoft.com/office/drawing/2014/main" id="{A3429EE8-7B6D-43B9-B71B-19E5251BA8AA}"/>
              </a:ext>
            </a:extLst>
          </p:cNvPr>
          <p:cNvSpPr>
            <a:spLocks xmlns:a="http://schemas.openxmlformats.org/drawingml/2006/main" noGrp="1"/>
          </p:cNvSpPr>
          <p:nvPr/>
        </p:nvSpPr>
        <p:spPr>
          <a:xfrm xmlns:a="http://schemas.openxmlformats.org/drawingml/2006/main">
            <a:off x="4352925" y="2409825"/>
            <a:ext cx="533400" cy="533400"/>
          </a:xfrm>
          <a:prstGeom xmlns:a="http://schemas.openxmlformats.org/drawingml/2006/main" prst="ellipse">
            <a:avLst/>
          </a:prstGeom>
          <a:solidFill xmlns:a="http://schemas.openxmlformats.org/drawingml/2006/main">
            <a:srgbClr val="52674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E66F7BA-C1F3-4DD8-A9C2-D622CFBAC90B}"/>
              </a:ext>
            </a:extLst>
          </p:cNvPr>
          <p:cNvSpPr>
            <a:spLocks xmlns:a="http://schemas.openxmlformats.org/drawingml/2006/main" noGrp="1"/>
          </p:cNvSpPr>
          <p:nvPr/>
        </p:nvSpPr>
        <p:spPr>
          <a:xfrm xmlns:a="http://schemas.openxmlformats.org/drawingml/2006/main">
            <a:off x="4362450" y="24955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FFFEFB"/>
                </a:solidFill>
                <a:latin typeface="Arial"/>
                <a:ea typeface="Arial"/>
                <a:cs typeface="Arial"/>
              </a:defRPr>
            </a:defPPr>
          </a:lstStyle>
          <a:p xmlns:a="http://schemas.openxmlformats.org/drawingml/2006/main">
            <a:pPr algn="ctr">
              <a:defRPr sz="1425" b="1">
                <a:solidFill>
                  <a:srgbClr val="FFFEFB"/>
                </a:solidFill>
                <a:latin typeface="Arial"/>
                <a:ea typeface="Arial"/>
                <a:cs typeface="Arial"/>
              </a:defRPr>
            </a:pPr>
            <a:r>
              <a:rPr sz="1425" b="1">
                <a:solidFill>
                  <a:srgbClr val="FFFEFB"/>
                </a:solidFill>
                <a:latin typeface="Arial"/>
                <a:ea typeface="Arial"/>
                <a:cs typeface="Arial"/>
              </a:rPr>
              <a:t>02</a:t>
            </a:r>
          </a:p>
        </p:txBody>
      </p:sp>
      <p:sp>
        <p:nvSpPr>
          <p:cNvPr id="16" name="">
            <a:extLst xmlns:a="http://schemas.openxmlformats.org/drawingml/2006/main">
              <a:ext uri="{FF2B5EF4-FFF2-40B4-BE49-F238E27FC236}">
                <a16:creationId xmlns:a16="http://schemas.microsoft.com/office/drawing/2014/main" id="{E232C62A-3809-4189-AEE7-E2A9F6EF0866}"/>
              </a:ext>
            </a:extLst>
          </p:cNvPr>
          <p:cNvSpPr>
            <a:spLocks xmlns:a="http://schemas.openxmlformats.org/drawingml/2006/main" noGrp="1"/>
          </p:cNvSpPr>
          <p:nvPr/>
        </p:nvSpPr>
        <p:spPr>
          <a:xfrm xmlns:a="http://schemas.openxmlformats.org/drawingml/2006/main">
            <a:off x="3552825" y="32385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281E18"/>
                </a:solidFill>
                <a:latin typeface="Georgia"/>
                <a:ea typeface="Georgia"/>
                <a:cs typeface="Georgia"/>
              </a:defRPr>
            </a:defPPr>
          </a:lstStyle>
          <a:p xmlns:a="http://schemas.openxmlformats.org/drawingml/2006/main">
            <a:pPr algn="ctr">
              <a:defRPr sz="1875" b="1">
                <a:solidFill>
                  <a:srgbClr val="281E18"/>
                </a:solidFill>
                <a:latin typeface="Georgia"/>
                <a:ea typeface="Georgia"/>
                <a:cs typeface="Georgia"/>
              </a:defRPr>
            </a:pPr>
            <a:r>
              <a:rPr sz="1875" b="1">
                <a:solidFill>
                  <a:srgbClr val="281E18"/>
                </a:solidFill>
                <a:latin typeface="Georgia"/>
                <a:ea typeface="Georgia"/>
                <a:cs typeface="Georgia"/>
              </a:rPr>
              <a:t>Konten</a:t>
            </a:r>
          </a:p>
        </p:txBody>
      </p:sp>
      <p:sp>
        <p:nvSpPr>
          <p:cNvPr id="17" name="">
            <a:extLst xmlns:a="http://schemas.openxmlformats.org/drawingml/2006/main">
              <a:ext uri="{FF2B5EF4-FFF2-40B4-BE49-F238E27FC236}">
                <a16:creationId xmlns:a16="http://schemas.microsoft.com/office/drawing/2014/main" id="{6D8AA1A7-253B-4B20-9BC5-3540D43CF2BC}"/>
              </a:ext>
            </a:extLst>
          </p:cNvPr>
          <p:cNvSpPr>
            <a:spLocks xmlns:a="http://schemas.openxmlformats.org/drawingml/2006/main" noGrp="1"/>
          </p:cNvSpPr>
          <p:nvPr/>
        </p:nvSpPr>
        <p:spPr>
          <a:xfrm xmlns:a="http://schemas.openxmlformats.org/drawingml/2006/main">
            <a:off x="3419475" y="3714750"/>
            <a:ext cx="24003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425" b="0">
                <a:solidFill>
                  <a:srgbClr val="72675F"/>
                </a:solidFill>
                <a:latin typeface="Arial"/>
                <a:ea typeface="Arial"/>
                <a:cs typeface="Arial"/>
              </a:defRPr>
            </a:defPPr>
          </a:lstStyle>
          <a:p xmlns:a="http://schemas.openxmlformats.org/drawingml/2006/main">
            <a:pPr algn="ctr">
              <a:defRPr sz="1425" b="0">
                <a:solidFill>
                  <a:srgbClr val="72675F"/>
                </a:solidFill>
                <a:latin typeface="Arial"/>
                <a:ea typeface="Arial"/>
                <a:cs typeface="Arial"/>
              </a:defRPr>
            </a:pPr>
            <a:r>
              <a:rPr sz="1425" b="0">
                <a:solidFill>
                  <a:srgbClr val="72675F"/>
                </a:solidFill>
                <a:latin typeface="Arial"/>
                <a:ea typeface="Arial"/>
                <a:cs typeface="Arial"/>
              </a:rPr>
              <a:t>Daftar produk, foto, label, harga 250 ml dan 1 L, serta identitas FD Culinary.</a:t>
            </a:r>
          </a:p>
        </p:txBody>
      </p:sp>
      <p:sp>
        <p:nvSpPr>
          <p:cNvPr id="18" name="">
            <a:extLst xmlns:a="http://schemas.openxmlformats.org/drawingml/2006/main">
              <a:ext uri="{FF2B5EF4-FFF2-40B4-BE49-F238E27FC236}">
                <a16:creationId xmlns:a16="http://schemas.microsoft.com/office/drawing/2014/main" id="{D1B92310-661F-4FA2-A7F7-C4589A66DEC4}"/>
              </a:ext>
            </a:extLst>
          </p:cNvPr>
          <p:cNvSpPr>
            <a:spLocks xmlns:a="http://schemas.openxmlformats.org/drawingml/2006/main" noGrp="1"/>
          </p:cNvSpPr>
          <p:nvPr/>
        </p:nvSpPr>
        <p:spPr>
          <a:xfrm xmlns:a="http://schemas.openxmlformats.org/drawingml/2006/main">
            <a:off x="7258050" y="2409825"/>
            <a:ext cx="533400" cy="533400"/>
          </a:xfrm>
          <a:prstGeom xmlns:a="http://schemas.openxmlformats.org/drawingml/2006/main" prst="ellipse">
            <a:avLst/>
          </a:prstGeom>
          <a:solidFill xmlns:a="http://schemas.openxmlformats.org/drawingml/2006/main">
            <a:srgbClr val="52674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7E65629-7DCB-41CF-922E-372CC82FB7F0}"/>
              </a:ext>
            </a:extLst>
          </p:cNvPr>
          <p:cNvSpPr>
            <a:spLocks xmlns:a="http://schemas.openxmlformats.org/drawingml/2006/main" noGrp="1"/>
          </p:cNvSpPr>
          <p:nvPr/>
        </p:nvSpPr>
        <p:spPr>
          <a:xfrm xmlns:a="http://schemas.openxmlformats.org/drawingml/2006/main">
            <a:off x="7267575" y="24955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FFFEFB"/>
                </a:solidFill>
                <a:latin typeface="Arial"/>
                <a:ea typeface="Arial"/>
                <a:cs typeface="Arial"/>
              </a:defRPr>
            </a:defPPr>
          </a:lstStyle>
          <a:p xmlns:a="http://schemas.openxmlformats.org/drawingml/2006/main">
            <a:pPr algn="ctr">
              <a:defRPr sz="1425" b="1">
                <a:solidFill>
                  <a:srgbClr val="FFFEFB"/>
                </a:solidFill>
                <a:latin typeface="Arial"/>
                <a:ea typeface="Arial"/>
                <a:cs typeface="Arial"/>
              </a:defRPr>
            </a:pPr>
            <a:r>
              <a:rPr sz="1425" b="1">
                <a:solidFill>
                  <a:srgbClr val="FFFEFB"/>
                </a:solidFill>
                <a:latin typeface="Arial"/>
                <a:ea typeface="Arial"/>
                <a:cs typeface="Arial"/>
              </a:rPr>
              <a:t>03</a:t>
            </a:r>
          </a:p>
        </p:txBody>
      </p:sp>
      <p:sp>
        <p:nvSpPr>
          <p:cNvPr id="20" name="">
            <a:extLst xmlns:a="http://schemas.openxmlformats.org/drawingml/2006/main">
              <a:ext uri="{FF2B5EF4-FFF2-40B4-BE49-F238E27FC236}">
                <a16:creationId xmlns:a16="http://schemas.microsoft.com/office/drawing/2014/main" id="{6988D10F-CA6F-4F28-A2C0-7ACCD32D70A0}"/>
              </a:ext>
            </a:extLst>
          </p:cNvPr>
          <p:cNvSpPr>
            <a:spLocks xmlns:a="http://schemas.openxmlformats.org/drawingml/2006/main" noGrp="1"/>
          </p:cNvSpPr>
          <p:nvPr/>
        </p:nvSpPr>
        <p:spPr>
          <a:xfrm xmlns:a="http://schemas.openxmlformats.org/drawingml/2006/main">
            <a:off x="6457950" y="32385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281E18"/>
                </a:solidFill>
                <a:latin typeface="Georgia"/>
                <a:ea typeface="Georgia"/>
                <a:cs typeface="Georgia"/>
              </a:defRPr>
            </a:defPPr>
          </a:lstStyle>
          <a:p xmlns:a="http://schemas.openxmlformats.org/drawingml/2006/main">
            <a:pPr algn="ctr">
              <a:defRPr sz="1875" b="1">
                <a:solidFill>
                  <a:srgbClr val="281E18"/>
                </a:solidFill>
                <a:latin typeface="Georgia"/>
                <a:ea typeface="Georgia"/>
                <a:cs typeface="Georgia"/>
              </a:defRPr>
            </a:pPr>
            <a:r>
              <a:rPr sz="1875" b="1">
                <a:solidFill>
                  <a:srgbClr val="281E18"/>
                </a:solidFill>
                <a:latin typeface="Georgia"/>
                <a:ea typeface="Georgia"/>
                <a:cs typeface="Georgia"/>
              </a:rPr>
              <a:t>Tampilan</a:t>
            </a:r>
          </a:p>
        </p:txBody>
      </p:sp>
      <p:sp>
        <p:nvSpPr>
          <p:cNvPr id="21" name="">
            <a:extLst xmlns:a="http://schemas.openxmlformats.org/drawingml/2006/main">
              <a:ext uri="{FF2B5EF4-FFF2-40B4-BE49-F238E27FC236}">
                <a16:creationId xmlns:a16="http://schemas.microsoft.com/office/drawing/2014/main" id="{5E8CD5DE-00DE-4DF6-A31D-802769258C71}"/>
              </a:ext>
            </a:extLst>
          </p:cNvPr>
          <p:cNvSpPr>
            <a:spLocks xmlns:a="http://schemas.openxmlformats.org/drawingml/2006/main" noGrp="1"/>
          </p:cNvSpPr>
          <p:nvPr/>
        </p:nvSpPr>
        <p:spPr>
          <a:xfrm xmlns:a="http://schemas.openxmlformats.org/drawingml/2006/main">
            <a:off x="6324600" y="3714750"/>
            <a:ext cx="24003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425" b="0">
                <a:solidFill>
                  <a:srgbClr val="72675F"/>
                </a:solidFill>
                <a:latin typeface="Arial"/>
                <a:ea typeface="Arial"/>
                <a:cs typeface="Arial"/>
              </a:defRPr>
            </a:defPPr>
          </a:lstStyle>
          <a:p xmlns:a="http://schemas.openxmlformats.org/drawingml/2006/main">
            <a:pPr algn="ctr">
              <a:defRPr sz="1425" b="0">
                <a:solidFill>
                  <a:srgbClr val="72675F"/>
                </a:solidFill>
                <a:latin typeface="Arial"/>
                <a:ea typeface="Arial"/>
                <a:cs typeface="Arial"/>
              </a:defRPr>
            </a:pPr>
            <a:r>
              <a:rPr sz="1425" b="0">
                <a:solidFill>
                  <a:srgbClr val="72675F"/>
                </a:solidFill>
                <a:latin typeface="Arial"/>
                <a:ea typeface="Arial"/>
                <a:cs typeface="Arial"/>
              </a:rPr>
              <a:t>Beranda, profil bisnis, katalog, review, dan footer disusun mengikuti gaya brand.</a:t>
            </a:r>
          </a:p>
        </p:txBody>
      </p:sp>
      <p:sp>
        <p:nvSpPr>
          <p:cNvPr id="22" name="">
            <a:extLst xmlns:a="http://schemas.openxmlformats.org/drawingml/2006/main">
              <a:ext uri="{FF2B5EF4-FFF2-40B4-BE49-F238E27FC236}">
                <a16:creationId xmlns:a16="http://schemas.microsoft.com/office/drawing/2014/main" id="{E4945914-A5AF-4258-8924-A0AEFC560287}"/>
              </a:ext>
            </a:extLst>
          </p:cNvPr>
          <p:cNvSpPr>
            <a:spLocks xmlns:a="http://schemas.openxmlformats.org/drawingml/2006/main" noGrp="1"/>
          </p:cNvSpPr>
          <p:nvPr/>
        </p:nvSpPr>
        <p:spPr>
          <a:xfrm xmlns:a="http://schemas.openxmlformats.org/drawingml/2006/main">
            <a:off x="10163175" y="2409825"/>
            <a:ext cx="533400" cy="533400"/>
          </a:xfrm>
          <a:prstGeom xmlns:a="http://schemas.openxmlformats.org/drawingml/2006/main" prst="ellipse">
            <a:avLst/>
          </a:prstGeom>
          <a:solidFill xmlns:a="http://schemas.openxmlformats.org/drawingml/2006/main">
            <a:srgbClr val="3A2015"/>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FC56AB26-0717-4607-855C-4DE1F1A6CB71}"/>
              </a:ext>
            </a:extLst>
          </p:cNvPr>
          <p:cNvSpPr>
            <a:spLocks xmlns:a="http://schemas.openxmlformats.org/drawingml/2006/main" noGrp="1"/>
          </p:cNvSpPr>
          <p:nvPr/>
        </p:nvSpPr>
        <p:spPr>
          <a:xfrm xmlns:a="http://schemas.openxmlformats.org/drawingml/2006/main">
            <a:off x="10172700" y="2495550"/>
            <a:ext cx="5143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FFFEFB"/>
                </a:solidFill>
                <a:latin typeface="Arial"/>
                <a:ea typeface="Arial"/>
                <a:cs typeface="Arial"/>
              </a:defRPr>
            </a:defPPr>
          </a:lstStyle>
          <a:p xmlns:a="http://schemas.openxmlformats.org/drawingml/2006/main">
            <a:pPr algn="ctr">
              <a:defRPr sz="1425" b="1">
                <a:solidFill>
                  <a:srgbClr val="FFFEFB"/>
                </a:solidFill>
                <a:latin typeface="Arial"/>
                <a:ea typeface="Arial"/>
                <a:cs typeface="Arial"/>
              </a:defRPr>
            </a:pPr>
            <a:r>
              <a:rPr sz="1425" b="1">
                <a:solidFill>
                  <a:srgbClr val="FFFEFB"/>
                </a:solidFill>
                <a:latin typeface="Arial"/>
                <a:ea typeface="Arial"/>
                <a:cs typeface="Arial"/>
              </a:rPr>
              <a:t>04</a:t>
            </a:r>
          </a:p>
        </p:txBody>
      </p:sp>
      <p:sp>
        <p:nvSpPr>
          <p:cNvPr id="24" name="">
            <a:extLst xmlns:a="http://schemas.openxmlformats.org/drawingml/2006/main">
              <a:ext uri="{FF2B5EF4-FFF2-40B4-BE49-F238E27FC236}">
                <a16:creationId xmlns:a16="http://schemas.microsoft.com/office/drawing/2014/main" id="{33DD45B6-18D6-4890-BCE8-7DCF98C57FB2}"/>
              </a:ext>
            </a:extLst>
          </p:cNvPr>
          <p:cNvSpPr>
            <a:spLocks xmlns:a="http://schemas.openxmlformats.org/drawingml/2006/main" noGrp="1"/>
          </p:cNvSpPr>
          <p:nvPr/>
        </p:nvSpPr>
        <p:spPr>
          <a:xfrm xmlns:a="http://schemas.openxmlformats.org/drawingml/2006/main">
            <a:off x="9363075" y="3238500"/>
            <a:ext cx="2133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875" b="1">
                <a:solidFill>
                  <a:srgbClr val="281E18"/>
                </a:solidFill>
                <a:latin typeface="Georgia"/>
                <a:ea typeface="Georgia"/>
                <a:cs typeface="Georgia"/>
              </a:defRPr>
            </a:defPPr>
          </a:lstStyle>
          <a:p xmlns:a="http://schemas.openxmlformats.org/drawingml/2006/main">
            <a:pPr algn="ctr">
              <a:defRPr sz="1875" b="1">
                <a:solidFill>
                  <a:srgbClr val="281E18"/>
                </a:solidFill>
                <a:latin typeface="Georgia"/>
                <a:ea typeface="Georgia"/>
                <a:cs typeface="Georgia"/>
              </a:defRPr>
            </a:pPr>
            <a:r>
              <a:rPr sz="1875" b="1">
                <a:solidFill>
                  <a:srgbClr val="281E18"/>
                </a:solidFill>
                <a:latin typeface="Georgia"/>
                <a:ea typeface="Georgia"/>
                <a:cs typeface="Georgia"/>
              </a:rPr>
              <a:t>Alur order</a:t>
            </a:r>
          </a:p>
        </p:txBody>
      </p:sp>
      <p:sp>
        <p:nvSpPr>
          <p:cNvPr id="25" name="">
            <a:extLst xmlns:a="http://schemas.openxmlformats.org/drawingml/2006/main">
              <a:ext uri="{FF2B5EF4-FFF2-40B4-BE49-F238E27FC236}">
                <a16:creationId xmlns:a16="http://schemas.microsoft.com/office/drawing/2014/main" id="{04AA5AFC-75B3-4E89-8A94-4990F494A6D2}"/>
              </a:ext>
            </a:extLst>
          </p:cNvPr>
          <p:cNvSpPr>
            <a:spLocks xmlns:a="http://schemas.openxmlformats.org/drawingml/2006/main" noGrp="1"/>
          </p:cNvSpPr>
          <p:nvPr/>
        </p:nvSpPr>
        <p:spPr>
          <a:xfrm xmlns:a="http://schemas.openxmlformats.org/drawingml/2006/main">
            <a:off x="9229725" y="3714750"/>
            <a:ext cx="24003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ctr">
              <a:defRPr sz="1425" b="0">
                <a:solidFill>
                  <a:srgbClr val="72675F"/>
                </a:solidFill>
                <a:latin typeface="Arial"/>
                <a:ea typeface="Arial"/>
                <a:cs typeface="Arial"/>
              </a:defRPr>
            </a:defPPr>
          </a:lstStyle>
          <a:p xmlns:a="http://schemas.openxmlformats.org/drawingml/2006/main">
            <a:pPr algn="ctr">
              <a:defRPr sz="1425" b="0">
                <a:solidFill>
                  <a:srgbClr val="72675F"/>
                </a:solidFill>
                <a:latin typeface="Arial"/>
                <a:ea typeface="Arial"/>
                <a:cs typeface="Arial"/>
              </a:defRPr>
            </a:pPr>
            <a:r>
              <a:rPr sz="1425" b="0">
                <a:solidFill>
                  <a:srgbClr val="72675F"/>
                </a:solidFill>
                <a:latin typeface="Arial"/>
                <a:ea typeface="Arial"/>
                <a:cs typeface="Arial"/>
              </a:rPr>
              <a:t>Pilihan ukuran, keranjang, invoice PNG, lalu komunikasi diteruskan ke WhatsApp.</a:t>
            </a:r>
          </a:p>
        </p:txBody>
      </p:sp>
      <p:sp>
        <p:nvSpPr>
          <p:cNvPr id="26" name="">
            <a:extLst xmlns:a="http://schemas.openxmlformats.org/drawingml/2006/main">
              <a:ext uri="{FF2B5EF4-FFF2-40B4-BE49-F238E27FC236}">
                <a16:creationId xmlns:a16="http://schemas.microsoft.com/office/drawing/2014/main" id="{1EB9B2B6-4990-402F-ACD0-167ECF19D438}"/>
              </a:ext>
            </a:extLst>
          </p:cNvPr>
          <p:cNvSpPr>
            <a:spLocks xmlns:a="http://schemas.openxmlformats.org/drawingml/2006/main" noGrp="1"/>
          </p:cNvSpPr>
          <p:nvPr/>
        </p:nvSpPr>
        <p:spPr>
          <a:xfrm xmlns:a="http://schemas.openxmlformats.org/drawingml/2006/main">
            <a:off x="781050" y="5410200"/>
            <a:ext cx="10629900" cy="514350"/>
          </a:xfrm>
          <a:prstGeom xmlns:a="http://schemas.openxmlformats.org/drawingml/2006/main" prst="roundRect">
            <a:avLst>
              <a:gd name="adj" fmla="val 22222"/>
            </a:avLst>
          </a:prstGeom>
          <a:solidFill xmlns:a="http://schemas.openxmlformats.org/drawingml/2006/main">
            <a:srgbClr val="EFE4D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64C8ED3E-33CD-4B35-B9BD-B922555DD627}"/>
              </a:ext>
            </a:extLst>
          </p:cNvPr>
          <p:cNvSpPr>
            <a:spLocks xmlns:a="http://schemas.openxmlformats.org/drawingml/2006/main" noGrp="1"/>
          </p:cNvSpPr>
          <p:nvPr/>
        </p:nvSpPr>
        <p:spPr>
          <a:xfrm xmlns:a="http://schemas.openxmlformats.org/drawingml/2006/main">
            <a:off x="990600" y="55054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3A2015"/>
                </a:solidFill>
                <a:latin typeface="Arial"/>
                <a:ea typeface="Arial"/>
                <a:cs typeface="Arial"/>
              </a:defRPr>
            </a:defPPr>
          </a:lstStyle>
          <a:p xmlns:a="http://schemas.openxmlformats.org/drawingml/2006/main">
            <a:pPr algn="ctr">
              <a:defRPr sz="1425" b="1">
                <a:solidFill>
                  <a:srgbClr val="3A2015"/>
                </a:solidFill>
                <a:latin typeface="Arial"/>
                <a:ea typeface="Arial"/>
                <a:cs typeface="Arial"/>
              </a:defRPr>
            </a:pPr>
            <a:r>
              <a:rPr sz="1425" b="1">
                <a:solidFill>
                  <a:srgbClr val="3A2015"/>
                </a:solidFill>
                <a:latin typeface="Arial"/>
                <a:ea typeface="Arial"/>
                <a:cs typeface="Arial"/>
              </a:rPr>
              <a:t>Fokus produk saat ini: 8 minuman. Kategori kue dan pilihan Oat tidak ditampilkan pada katalog.</a:t>
            </a:r>
          </a:p>
        </p:txBody>
      </p:sp>
    </p:spTree>
    <p:extLst>
      <p:ext uri="{BB962C8B-B14F-4D97-AF65-F5344CB8AC3E}">
        <p14:creationId xmlns:p14="http://schemas.microsoft.com/office/powerpoint/2010/main" val="1083862504"/>
      </p:ext>
    </p:extLst>
  </p:cSld>
</p:sld>
</file>

<file path=ppt/slides/slide3.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20CC432-4D8A-41A5-9D58-ECA8E9F3296D}"/>
              </a:ext>
            </a:extLst>
          </p:cNvPr>
          <p:cNvSpPr>
            <a:spLocks xmlns:a="http://schemas.openxmlformats.org/drawingml/2006/main" noGrp="1"/>
          </p:cNvSpPr>
          <p:nvPr/>
        </p:nvSpPr>
        <p:spPr>
          <a:xfrm xmlns:a="http://schemas.openxmlformats.org/drawingml/2006/main">
            <a:off x="552450" y="209550"/>
            <a:ext cx="542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3A2015"/>
                </a:solidFill>
                <a:latin typeface="Arial"/>
                <a:ea typeface="Arial"/>
                <a:cs typeface="Arial"/>
              </a:defRPr>
            </a:defPPr>
          </a:lstStyle>
          <a:p xmlns:a="http://schemas.openxmlformats.org/drawingml/2006/main">
            <a:pPr algn="l">
              <a:defRPr sz="1050" b="1">
                <a:solidFill>
                  <a:srgbClr val="3A2015"/>
                </a:solidFill>
                <a:latin typeface="Arial"/>
                <a:ea typeface="Arial"/>
                <a:cs typeface="Arial"/>
              </a:defRPr>
            </a:pPr>
            <a:r>
              <a:rPr sz="1050" b="1">
                <a:solidFill>
                  <a:srgbClr val="3A2015"/>
                </a:solidFill>
                <a:latin typeface="Arial"/>
                <a:ea typeface="Arial"/>
                <a:cs typeface="Arial"/>
              </a:rPr>
              <a:t>FD CULINARY  /  DOKUMENTASI WEBSITE</a:t>
            </a:r>
          </a:p>
        </p:txBody>
      </p:sp>
      <p:sp>
        <p:nvSpPr>
          <p:cNvPr id="2" name="">
            <a:extLst xmlns:a="http://schemas.openxmlformats.org/drawingml/2006/main">
              <a:ext uri="{FF2B5EF4-FFF2-40B4-BE49-F238E27FC236}">
                <a16:creationId xmlns:a16="http://schemas.microsoft.com/office/drawing/2014/main" id="{52D4BCBF-0A92-4285-9F8B-283D0A07A8AB}"/>
              </a:ext>
            </a:extLst>
          </p:cNvPr>
          <p:cNvSpPr>
            <a:spLocks xmlns:a="http://schemas.openxmlformats.org/drawingml/2006/main" noGrp="1"/>
          </p:cNvSpPr>
          <p:nvPr/>
        </p:nvSpPr>
        <p:spPr>
          <a:xfrm xmlns:a="http://schemas.openxmlformats.org/drawingml/2006/main">
            <a:off x="552450" y="533400"/>
            <a:ext cx="1066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BAGIAN WEBSITE</a:t>
            </a:r>
          </a:p>
        </p:txBody>
      </p:sp>
      <p:sp>
        <p:nvSpPr>
          <p:cNvPr id="3" name="">
            <a:extLst xmlns:a="http://schemas.openxmlformats.org/drawingml/2006/main">
              <a:ext uri="{FF2B5EF4-FFF2-40B4-BE49-F238E27FC236}">
                <a16:creationId xmlns:a16="http://schemas.microsoft.com/office/drawing/2014/main" id="{E04FB962-5723-4A1E-9926-064E0ACBB784}"/>
              </a:ext>
            </a:extLst>
          </p:cNvPr>
          <p:cNvSpPr>
            <a:spLocks xmlns:a="http://schemas.openxmlformats.org/drawingml/2006/main" noGrp="1"/>
          </p:cNvSpPr>
          <p:nvPr/>
        </p:nvSpPr>
        <p:spPr>
          <a:xfrm xmlns:a="http://schemas.openxmlformats.org/drawingml/2006/main">
            <a:off x="552450" y="8001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3150" b="1">
                <a:solidFill>
                  <a:srgbClr val="281E18"/>
                </a:solidFill>
                <a:latin typeface="Georgia"/>
                <a:ea typeface="Georgia"/>
                <a:cs typeface="Georgia"/>
              </a:defRPr>
            </a:defPPr>
          </a:lstStyle>
          <a:p xmlns:a="http://schemas.openxmlformats.org/drawingml/2006/main">
            <a:pPr algn="l">
              <a:defRPr sz="3150" b="1">
                <a:solidFill>
                  <a:srgbClr val="281E18"/>
                </a:solidFill>
                <a:latin typeface="Georgia"/>
                <a:ea typeface="Georgia"/>
                <a:cs typeface="Georgia"/>
              </a:defRPr>
            </a:pPr>
            <a:r>
              <a:rPr sz="3150" b="1">
                <a:solidFill>
                  <a:srgbClr val="281E18"/>
                </a:solidFill>
                <a:latin typeface="Georgia"/>
                <a:ea typeface="Georgia"/>
                <a:cs typeface="Georgia"/>
              </a:rPr>
              <a:t>Halaman utama dan konten</a:t>
            </a:r>
          </a:p>
        </p:txBody>
      </p:sp>
      <p:sp>
        <p:nvSpPr>
          <p:cNvPr id="4" name="">
            <a:extLst xmlns:a="http://schemas.openxmlformats.org/drawingml/2006/main">
              <a:ext uri="{FF2B5EF4-FFF2-40B4-BE49-F238E27FC236}">
                <a16:creationId xmlns:a16="http://schemas.microsoft.com/office/drawing/2014/main" id="{902BB57C-B242-4934-ADF9-EED3735BAFBD}"/>
              </a:ext>
            </a:extLst>
          </p:cNvPr>
          <p:cNvSpPr>
            <a:spLocks xmlns:a="http://schemas.openxmlformats.org/drawingml/2006/main" noGrp="1"/>
          </p:cNvSpPr>
          <p:nvPr/>
        </p:nvSpPr>
        <p:spPr>
          <a:xfrm xmlns:a="http://schemas.openxmlformats.org/drawingml/2006/main">
            <a:off x="571500" y="136207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Navigasi membawa pengunjung dari pengenalan brand ke katalog dan kanal komunikasi.</a:t>
            </a:r>
          </a:p>
        </p:txBody>
      </p:sp>
      <p:sp>
        <p:nvSpPr>
          <p:cNvPr id="5" name="">
            <a:extLst xmlns:a="http://schemas.openxmlformats.org/drawingml/2006/main">
              <a:ext uri="{FF2B5EF4-FFF2-40B4-BE49-F238E27FC236}">
                <a16:creationId xmlns:a16="http://schemas.microsoft.com/office/drawing/2014/main" id="{C7E575F3-CFF3-4F32-B52E-BFEF0737AAD0}"/>
              </a:ext>
            </a:extLst>
          </p:cNvPr>
          <p:cNvSpPr>
            <a:spLocks xmlns:a="http://schemas.openxmlformats.org/drawingml/2006/main" noGrp="1"/>
          </p:cNvSpPr>
          <p:nvPr/>
        </p:nvSpPr>
        <p:spPr>
          <a:xfrm xmlns:a="http://schemas.openxmlformats.org/drawingml/2006/main">
            <a:off x="552450" y="1752600"/>
            <a:ext cx="1108710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2AB724B-C16F-4179-900D-9C618699AE32}"/>
              </a:ext>
            </a:extLst>
          </p:cNvPr>
          <p:cNvSpPr>
            <a:spLocks xmlns:a="http://schemas.openxmlformats.org/drawingml/2006/main" noGrp="1"/>
          </p:cNvSpPr>
          <p:nvPr/>
        </p:nvSpPr>
        <p:spPr>
          <a:xfrm xmlns:a="http://schemas.openxmlformats.org/drawingml/2006/main">
            <a:off x="552450" y="6448425"/>
            <a:ext cx="11087100" cy="952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F00CB8F-260C-4581-BBE8-411EB76DE5E3}"/>
              </a:ext>
            </a:extLst>
          </p:cNvPr>
          <p:cNvSpPr>
            <a:spLocks xmlns:a="http://schemas.openxmlformats.org/drawingml/2006/main" noGrp="1"/>
          </p:cNvSpPr>
          <p:nvPr/>
        </p:nvSpPr>
        <p:spPr>
          <a:xfrm xmlns:a="http://schemas.openxmlformats.org/drawingml/2006/main">
            <a:off x="552450" y="65246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0">
                <a:solidFill>
                  <a:srgbClr val="72675F"/>
                </a:solidFill>
                <a:latin typeface="Arial"/>
                <a:ea typeface="Arial"/>
                <a:cs typeface="Arial"/>
              </a:defRPr>
            </a:defPPr>
          </a:lstStyle>
          <a:p xmlns:a="http://schemas.openxmlformats.org/drawingml/2006/main">
            <a:pPr algn="l">
              <a:defRPr sz="900" b="0">
                <a:solidFill>
                  <a:srgbClr val="72675F"/>
                </a:solidFill>
                <a:latin typeface="Arial"/>
                <a:ea typeface="Arial"/>
                <a:cs typeface="Arial"/>
              </a:defRPr>
            </a:pPr>
            <a:r>
              <a:rPr sz="900" b="0">
                <a:solidFill>
                  <a:srgbClr val="72675F"/>
                </a:solidFill>
                <a:latin typeface="Arial"/>
                <a:ea typeface="Arial"/>
                <a:cs typeface="Arial"/>
              </a:rPr>
              <a:t>Dokumentasi berdasarkan versi website saat ini</a:t>
            </a:r>
          </a:p>
        </p:txBody>
      </p:sp>
      <p:sp>
        <p:nvSpPr>
          <p:cNvPr id="8" name="">
            <a:extLst xmlns:a="http://schemas.openxmlformats.org/drawingml/2006/main">
              <a:ext uri="{FF2B5EF4-FFF2-40B4-BE49-F238E27FC236}">
                <a16:creationId xmlns:a16="http://schemas.microsoft.com/office/drawing/2014/main" id="{07996FD9-1A13-4667-928D-5354598A59A2}"/>
              </a:ext>
            </a:extLst>
          </p:cNvPr>
          <p:cNvSpPr>
            <a:spLocks xmlns:a="http://schemas.openxmlformats.org/drawingml/2006/main" noGrp="1"/>
          </p:cNvSpPr>
          <p:nvPr/>
        </p:nvSpPr>
        <p:spPr>
          <a:xfrm xmlns:a="http://schemas.openxmlformats.org/drawingml/2006/main">
            <a:off x="1118235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75" b="1">
                <a:solidFill>
                  <a:srgbClr val="3A2015"/>
                </a:solidFill>
                <a:latin typeface="Arial"/>
                <a:ea typeface="Arial"/>
                <a:cs typeface="Arial"/>
              </a:defRPr>
            </a:defPPr>
          </a:lstStyle>
          <a:p xmlns:a="http://schemas.openxmlformats.org/drawingml/2006/main">
            <a:pPr algn="r">
              <a:defRPr sz="975" b="1">
                <a:solidFill>
                  <a:srgbClr val="3A2015"/>
                </a:solidFill>
                <a:latin typeface="Arial"/>
                <a:ea typeface="Arial"/>
                <a:cs typeface="Arial"/>
              </a:defRPr>
            </a:pPr>
            <a:r>
              <a:rPr sz="975" b="1">
                <a:solidFill>
                  <a:srgbClr val="3A2015"/>
                </a:solidFill>
                <a:latin typeface="Arial"/>
                <a:ea typeface="Arial"/>
                <a:cs typeface="Arial"/>
              </a:rPr>
              <a:t>03</a:t>
            </a:r>
          </a:p>
        </p:txBody>
      </p:sp>
      <p:pic>
        <p:nvPicPr>
          <p:cNvPr id="9" name="">
            <a:extLst xmlns:a="http://schemas.openxmlformats.org/drawingml/2006/main">
              <a:ext uri="{FF2B5EF4-FFF2-40B4-BE49-F238E27FC236}">
                <a16:creationId xmlns:a16="http://schemas.microsoft.com/office/drawing/2014/main" id="{19B852A5-FD37-4266-AA5C-55D3D9AFB569}"/>
              </a:ext>
            </a:extLst>
          </p:cNvPr>
          <p:cNvPicPr>
            <a:picLocks xmlns:a="http://schemas.openxmlformats.org/drawingml/2006/main" noChangeAspect="1"/>
          </p:cNvPicPr>
          <p:nvPr/>
        </p:nvPicPr>
        <p:blipFill>
          <a:blip xmlns:r="http://schemas.openxmlformats.org/officeDocument/2006/relationships" xmlns:a="http://schemas.openxmlformats.org/drawingml/2006/main" r:embed="R15d3f9ffa7444f8c"/>
          <a:srcRect xmlns:a="http://schemas.openxmlformats.org/drawingml/2006/main" l="29" t="0" r="29" b="0"/>
          <a:stretch xmlns:a="http://schemas.openxmlformats.org/drawingml/2006/main">
            <a:fillRect l="0" t="0" r="0" b="0"/>
          </a:stretch>
        </p:blipFill>
        <p:spPr>
          <a:xfrm xmlns:a="http://schemas.openxmlformats.org/drawingml/2006/main">
            <a:off x="552450" y="2095500"/>
            <a:ext cx="5381625" cy="3028950"/>
          </a:xfrm>
          <a:prstGeom xmlns:a="http://schemas.openxmlformats.org/drawingml/2006/main" prst="roundRect">
            <a:avLst>
              <a:gd name="adj" fmla="val 5031"/>
            </a:avLst>
          </a:prstGeom>
        </p:spPr>
      </p:pic>
      <p:sp>
        <p:nvSpPr>
          <p:cNvPr id="10" name="">
            <a:extLst xmlns:a="http://schemas.openxmlformats.org/drawingml/2006/main">
              <a:ext uri="{FF2B5EF4-FFF2-40B4-BE49-F238E27FC236}">
                <a16:creationId xmlns:a16="http://schemas.microsoft.com/office/drawing/2014/main" id="{7504426E-5AA1-4ADB-BCD6-4AFFCACE9CB9}"/>
              </a:ext>
            </a:extLst>
          </p:cNvPr>
          <p:cNvSpPr>
            <a:spLocks xmlns:a="http://schemas.openxmlformats.org/drawingml/2006/main" noGrp="1"/>
          </p:cNvSpPr>
          <p:nvPr/>
        </p:nvSpPr>
        <p:spPr>
          <a:xfrm xmlns:a="http://schemas.openxmlformats.org/drawingml/2006/main">
            <a:off x="6400800" y="2038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3A2015"/>
                </a:solidFill>
                <a:latin typeface="Arial"/>
                <a:ea typeface="Arial"/>
                <a:cs typeface="Arial"/>
              </a:defRPr>
            </a:defPPr>
          </a:lstStyle>
          <a:p xmlns:a="http://schemas.openxmlformats.org/drawingml/2006/main">
            <a:pPr algn="l">
              <a:defRPr sz="1500" b="1">
                <a:solidFill>
                  <a:srgbClr val="3A2015"/>
                </a:solidFill>
                <a:latin typeface="Arial"/>
                <a:ea typeface="Arial"/>
                <a:cs typeface="Arial"/>
              </a:defRPr>
            </a:pPr>
            <a:r>
              <a:rPr sz="1500" b="1">
                <a:solidFill>
                  <a:srgbClr val="3A2015"/>
                </a:solidFill>
                <a:latin typeface="Arial"/>
                <a:ea typeface="Arial"/>
                <a:cs typeface="Arial"/>
              </a:rPr>
              <a:t>Header</a:t>
            </a:r>
          </a:p>
        </p:txBody>
      </p:sp>
      <p:sp>
        <p:nvSpPr>
          <p:cNvPr id="11" name="">
            <a:extLst xmlns:a="http://schemas.openxmlformats.org/drawingml/2006/main">
              <a:ext uri="{FF2B5EF4-FFF2-40B4-BE49-F238E27FC236}">
                <a16:creationId xmlns:a16="http://schemas.microsoft.com/office/drawing/2014/main" id="{FF74F54F-8F8B-4DE3-A3B9-107796338666}"/>
              </a:ext>
            </a:extLst>
          </p:cNvPr>
          <p:cNvSpPr>
            <a:spLocks xmlns:a="http://schemas.openxmlformats.org/drawingml/2006/main" noGrp="1"/>
          </p:cNvSpPr>
          <p:nvPr/>
        </p:nvSpPr>
        <p:spPr>
          <a:xfrm xmlns:a="http://schemas.openxmlformats.org/drawingml/2006/main">
            <a:off x="6400800" y="23145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75" b="0">
                <a:solidFill>
                  <a:srgbClr val="72675F"/>
                </a:solidFill>
                <a:latin typeface="Arial"/>
                <a:ea typeface="Arial"/>
                <a:cs typeface="Arial"/>
              </a:defRPr>
            </a:defPPr>
          </a:lstStyle>
          <a:p xmlns:a="http://schemas.openxmlformats.org/drawingml/2006/main">
            <a:pPr algn="l">
              <a:defRPr sz="1275" b="0">
                <a:solidFill>
                  <a:srgbClr val="72675F"/>
                </a:solidFill>
                <a:latin typeface="Arial"/>
                <a:ea typeface="Arial"/>
                <a:cs typeface="Arial"/>
              </a:defRPr>
            </a:pPr>
            <a:r>
              <a:rPr sz="1275" b="0">
                <a:solidFill>
                  <a:srgbClr val="72675F"/>
                </a:solidFill>
                <a:latin typeface="Arial"/>
                <a:ea typeface="Arial"/>
                <a:cs typeface="Arial"/>
              </a:rPr>
              <a:t>Navigasi, pencarian menu, dan ikon keranjang.</a:t>
            </a:r>
          </a:p>
        </p:txBody>
      </p:sp>
      <p:sp>
        <p:nvSpPr>
          <p:cNvPr id="12" name="">
            <a:extLst xmlns:a="http://schemas.openxmlformats.org/drawingml/2006/main">
              <a:ext uri="{FF2B5EF4-FFF2-40B4-BE49-F238E27FC236}">
                <a16:creationId xmlns:a16="http://schemas.microsoft.com/office/drawing/2014/main" id="{995555B0-AA4C-4FCF-96CD-09738BB34949}"/>
              </a:ext>
            </a:extLst>
          </p:cNvPr>
          <p:cNvSpPr>
            <a:spLocks xmlns:a="http://schemas.openxmlformats.org/drawingml/2006/main" noGrp="1"/>
          </p:cNvSpPr>
          <p:nvPr/>
        </p:nvSpPr>
        <p:spPr>
          <a:xfrm xmlns:a="http://schemas.openxmlformats.org/drawingml/2006/main">
            <a:off x="6400800" y="27051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3A2015"/>
                </a:solidFill>
                <a:latin typeface="Arial"/>
                <a:ea typeface="Arial"/>
                <a:cs typeface="Arial"/>
              </a:defRPr>
            </a:defPPr>
          </a:lstStyle>
          <a:p xmlns:a="http://schemas.openxmlformats.org/drawingml/2006/main">
            <a:pPr algn="l">
              <a:defRPr sz="1500" b="1">
                <a:solidFill>
                  <a:srgbClr val="3A2015"/>
                </a:solidFill>
                <a:latin typeface="Arial"/>
                <a:ea typeface="Arial"/>
                <a:cs typeface="Arial"/>
              </a:defRPr>
            </a:pPr>
            <a:r>
              <a:rPr sz="1500" b="1">
                <a:solidFill>
                  <a:srgbClr val="3A2015"/>
                </a:solidFill>
                <a:latin typeface="Arial"/>
                <a:ea typeface="Arial"/>
                <a:cs typeface="Arial"/>
              </a:rPr>
              <a:t>Beranda</a:t>
            </a:r>
          </a:p>
        </p:txBody>
      </p:sp>
      <p:sp>
        <p:nvSpPr>
          <p:cNvPr id="13" name="">
            <a:extLst xmlns:a="http://schemas.openxmlformats.org/drawingml/2006/main">
              <a:ext uri="{FF2B5EF4-FFF2-40B4-BE49-F238E27FC236}">
                <a16:creationId xmlns:a16="http://schemas.microsoft.com/office/drawing/2014/main" id="{C378D81C-12C2-4400-B14D-8426BC72C831}"/>
              </a:ext>
            </a:extLst>
          </p:cNvPr>
          <p:cNvSpPr>
            <a:spLocks xmlns:a="http://schemas.openxmlformats.org/drawingml/2006/main" noGrp="1"/>
          </p:cNvSpPr>
          <p:nvPr/>
        </p:nvSpPr>
        <p:spPr>
          <a:xfrm xmlns:a="http://schemas.openxmlformats.org/drawingml/2006/main">
            <a:off x="6400800" y="29813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75" b="0">
                <a:solidFill>
                  <a:srgbClr val="72675F"/>
                </a:solidFill>
                <a:latin typeface="Arial"/>
                <a:ea typeface="Arial"/>
                <a:cs typeface="Arial"/>
              </a:defRPr>
            </a:defPPr>
          </a:lstStyle>
          <a:p xmlns:a="http://schemas.openxmlformats.org/drawingml/2006/main">
            <a:pPr algn="l">
              <a:defRPr sz="1275" b="0">
                <a:solidFill>
                  <a:srgbClr val="72675F"/>
                </a:solidFill>
                <a:latin typeface="Arial"/>
                <a:ea typeface="Arial"/>
                <a:cs typeface="Arial"/>
              </a:defRPr>
            </a:pPr>
            <a:r>
              <a:rPr sz="1275" b="0">
                <a:solidFill>
                  <a:srgbClr val="72675F"/>
                </a:solidFill>
                <a:latin typeface="Arial"/>
                <a:ea typeface="Arial"/>
                <a:cs typeface="Arial"/>
              </a:rPr>
              <a:t>Foto hero, ringkasan brand, harga awal, dan tombol menuju menu.</a:t>
            </a:r>
          </a:p>
        </p:txBody>
      </p:sp>
      <p:sp>
        <p:nvSpPr>
          <p:cNvPr id="14" name="">
            <a:extLst xmlns:a="http://schemas.openxmlformats.org/drawingml/2006/main">
              <a:ext uri="{FF2B5EF4-FFF2-40B4-BE49-F238E27FC236}">
                <a16:creationId xmlns:a16="http://schemas.microsoft.com/office/drawing/2014/main" id="{002D3187-FB1A-49C4-8A3F-6F86D89E2EF8}"/>
              </a:ext>
            </a:extLst>
          </p:cNvPr>
          <p:cNvSpPr>
            <a:spLocks xmlns:a="http://schemas.openxmlformats.org/drawingml/2006/main" noGrp="1"/>
          </p:cNvSpPr>
          <p:nvPr/>
        </p:nvSpPr>
        <p:spPr>
          <a:xfrm xmlns:a="http://schemas.openxmlformats.org/drawingml/2006/main">
            <a:off x="6400800" y="33718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3A2015"/>
                </a:solidFill>
                <a:latin typeface="Arial"/>
                <a:ea typeface="Arial"/>
                <a:cs typeface="Arial"/>
              </a:defRPr>
            </a:defPPr>
          </a:lstStyle>
          <a:p xmlns:a="http://schemas.openxmlformats.org/drawingml/2006/main">
            <a:pPr algn="l">
              <a:defRPr sz="1500" b="1">
                <a:solidFill>
                  <a:srgbClr val="3A2015"/>
                </a:solidFill>
                <a:latin typeface="Arial"/>
                <a:ea typeface="Arial"/>
                <a:cs typeface="Arial"/>
              </a:defRPr>
            </a:pPr>
            <a:r>
              <a:rPr sz="1500" b="1">
                <a:solidFill>
                  <a:srgbClr val="3A2015"/>
                </a:solidFill>
                <a:latin typeface="Arial"/>
                <a:ea typeface="Arial"/>
                <a:cs typeface="Arial"/>
              </a:rPr>
              <a:t>Cerita Kami</a:t>
            </a:r>
          </a:p>
        </p:txBody>
      </p:sp>
      <p:sp>
        <p:nvSpPr>
          <p:cNvPr id="15" name="">
            <a:extLst xmlns:a="http://schemas.openxmlformats.org/drawingml/2006/main">
              <a:ext uri="{FF2B5EF4-FFF2-40B4-BE49-F238E27FC236}">
                <a16:creationId xmlns:a16="http://schemas.microsoft.com/office/drawing/2014/main" id="{D256091D-D4D3-4B82-B2D8-11B5928B0388}"/>
              </a:ext>
            </a:extLst>
          </p:cNvPr>
          <p:cNvSpPr>
            <a:spLocks xmlns:a="http://schemas.openxmlformats.org/drawingml/2006/main" noGrp="1"/>
          </p:cNvSpPr>
          <p:nvPr/>
        </p:nvSpPr>
        <p:spPr>
          <a:xfrm xmlns:a="http://schemas.openxmlformats.org/drawingml/2006/main">
            <a:off x="6400800" y="36480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75" b="0">
                <a:solidFill>
                  <a:srgbClr val="72675F"/>
                </a:solidFill>
                <a:latin typeface="Arial"/>
                <a:ea typeface="Arial"/>
                <a:cs typeface="Arial"/>
              </a:defRPr>
            </a:defPPr>
          </a:lstStyle>
          <a:p xmlns:a="http://schemas.openxmlformats.org/drawingml/2006/main">
            <a:pPr algn="l">
              <a:defRPr sz="1275" b="0">
                <a:solidFill>
                  <a:srgbClr val="72675F"/>
                </a:solidFill>
                <a:latin typeface="Arial"/>
                <a:ea typeface="Arial"/>
                <a:cs typeface="Arial"/>
              </a:defRPr>
            </a:pPr>
            <a:r>
              <a:rPr sz="1275" b="0">
                <a:solidFill>
                  <a:srgbClr val="72675F"/>
                </a:solidFill>
                <a:latin typeface="Arial"/>
                <a:ea typeface="Arial"/>
                <a:cs typeface="Arial"/>
              </a:rPr>
              <a:t>Profil singkat, bahan pilihan, dan cara minuman diracik.</a:t>
            </a:r>
          </a:p>
        </p:txBody>
      </p:sp>
      <p:sp>
        <p:nvSpPr>
          <p:cNvPr id="16" name="">
            <a:extLst xmlns:a="http://schemas.openxmlformats.org/drawingml/2006/main">
              <a:ext uri="{FF2B5EF4-FFF2-40B4-BE49-F238E27FC236}">
                <a16:creationId xmlns:a16="http://schemas.microsoft.com/office/drawing/2014/main" id="{14DD061F-6534-43A9-993D-1022CC78057D}"/>
              </a:ext>
            </a:extLst>
          </p:cNvPr>
          <p:cNvSpPr>
            <a:spLocks xmlns:a="http://schemas.openxmlformats.org/drawingml/2006/main" noGrp="1"/>
          </p:cNvSpPr>
          <p:nvPr/>
        </p:nvSpPr>
        <p:spPr>
          <a:xfrm xmlns:a="http://schemas.openxmlformats.org/drawingml/2006/main">
            <a:off x="6400800" y="40386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3A2015"/>
                </a:solidFill>
                <a:latin typeface="Arial"/>
                <a:ea typeface="Arial"/>
                <a:cs typeface="Arial"/>
              </a:defRPr>
            </a:defPPr>
          </a:lstStyle>
          <a:p xmlns:a="http://schemas.openxmlformats.org/drawingml/2006/main">
            <a:pPr algn="l">
              <a:defRPr sz="1500" b="1">
                <a:solidFill>
                  <a:srgbClr val="3A2015"/>
                </a:solidFill>
                <a:latin typeface="Arial"/>
                <a:ea typeface="Arial"/>
                <a:cs typeface="Arial"/>
              </a:defRPr>
            </a:pPr>
            <a:r>
              <a:rPr sz="1500" b="1">
                <a:solidFill>
                  <a:srgbClr val="3A2015"/>
                </a:solidFill>
                <a:latin typeface="Arial"/>
                <a:ea typeface="Arial"/>
                <a:cs typeface="Arial"/>
              </a:rPr>
              <a:t>Menu Signature</a:t>
            </a:r>
          </a:p>
        </p:txBody>
      </p:sp>
      <p:sp>
        <p:nvSpPr>
          <p:cNvPr id="17" name="">
            <a:extLst xmlns:a="http://schemas.openxmlformats.org/drawingml/2006/main">
              <a:ext uri="{FF2B5EF4-FFF2-40B4-BE49-F238E27FC236}">
                <a16:creationId xmlns:a16="http://schemas.microsoft.com/office/drawing/2014/main" id="{CE448259-AB65-4702-9620-EAE96EC16769}"/>
              </a:ext>
            </a:extLst>
          </p:cNvPr>
          <p:cNvSpPr>
            <a:spLocks xmlns:a="http://schemas.openxmlformats.org/drawingml/2006/main" noGrp="1"/>
          </p:cNvSpPr>
          <p:nvPr/>
        </p:nvSpPr>
        <p:spPr>
          <a:xfrm xmlns:a="http://schemas.openxmlformats.org/drawingml/2006/main">
            <a:off x="6400800" y="43148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75" b="0">
                <a:solidFill>
                  <a:srgbClr val="72675F"/>
                </a:solidFill>
                <a:latin typeface="Arial"/>
                <a:ea typeface="Arial"/>
                <a:cs typeface="Arial"/>
              </a:defRPr>
            </a:defPPr>
          </a:lstStyle>
          <a:p xmlns:a="http://schemas.openxmlformats.org/drawingml/2006/main">
            <a:pPr algn="l">
              <a:defRPr sz="1275" b="0">
                <a:solidFill>
                  <a:srgbClr val="72675F"/>
                </a:solidFill>
                <a:latin typeface="Arial"/>
                <a:ea typeface="Arial"/>
                <a:cs typeface="Arial"/>
              </a:defRPr>
            </a:pPr>
            <a:r>
              <a:rPr sz="1275" b="0">
                <a:solidFill>
                  <a:srgbClr val="72675F"/>
                </a:solidFill>
                <a:latin typeface="Arial"/>
                <a:ea typeface="Arial"/>
                <a:cs typeface="Arial"/>
              </a:rPr>
              <a:t>Katalog minuman dengan filter Milk &amp; Tea atau Coffee.</a:t>
            </a:r>
          </a:p>
        </p:txBody>
      </p:sp>
      <p:sp>
        <p:nvSpPr>
          <p:cNvPr id="18" name="">
            <a:extLst xmlns:a="http://schemas.openxmlformats.org/drawingml/2006/main">
              <a:ext uri="{FF2B5EF4-FFF2-40B4-BE49-F238E27FC236}">
                <a16:creationId xmlns:a16="http://schemas.microsoft.com/office/drawing/2014/main" id="{AC66CD7C-6CB8-48A6-B857-60F6FE11AC16}"/>
              </a:ext>
            </a:extLst>
          </p:cNvPr>
          <p:cNvSpPr>
            <a:spLocks xmlns:a="http://schemas.openxmlformats.org/drawingml/2006/main" noGrp="1"/>
          </p:cNvSpPr>
          <p:nvPr/>
        </p:nvSpPr>
        <p:spPr>
          <a:xfrm xmlns:a="http://schemas.openxmlformats.org/drawingml/2006/main">
            <a:off x="6400800" y="470535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3A2015"/>
                </a:solidFill>
                <a:latin typeface="Arial"/>
                <a:ea typeface="Arial"/>
                <a:cs typeface="Arial"/>
              </a:defRPr>
            </a:defPPr>
          </a:lstStyle>
          <a:p xmlns:a="http://schemas.openxmlformats.org/drawingml/2006/main">
            <a:pPr algn="l">
              <a:defRPr sz="1500" b="1">
                <a:solidFill>
                  <a:srgbClr val="3A2015"/>
                </a:solidFill>
                <a:latin typeface="Arial"/>
                <a:ea typeface="Arial"/>
                <a:cs typeface="Arial"/>
              </a:defRPr>
            </a:pPr>
            <a:r>
              <a:rPr sz="1500" b="1">
                <a:solidFill>
                  <a:srgbClr val="3A2015"/>
                </a:solidFill>
                <a:latin typeface="Arial"/>
                <a:ea typeface="Arial"/>
                <a:cs typeface="Arial"/>
              </a:rPr>
              <a:t>Video dan Review</a:t>
            </a:r>
          </a:p>
        </p:txBody>
      </p:sp>
      <p:sp>
        <p:nvSpPr>
          <p:cNvPr id="19" name="">
            <a:extLst xmlns:a="http://schemas.openxmlformats.org/drawingml/2006/main">
              <a:ext uri="{FF2B5EF4-FFF2-40B4-BE49-F238E27FC236}">
                <a16:creationId xmlns:a16="http://schemas.microsoft.com/office/drawing/2014/main" id="{D39642E9-07F8-4D2E-8DAB-FAB14AC16566}"/>
              </a:ext>
            </a:extLst>
          </p:cNvPr>
          <p:cNvSpPr>
            <a:spLocks xmlns:a="http://schemas.openxmlformats.org/drawingml/2006/main" noGrp="1"/>
          </p:cNvSpPr>
          <p:nvPr/>
        </p:nvSpPr>
        <p:spPr>
          <a:xfrm xmlns:a="http://schemas.openxmlformats.org/drawingml/2006/main">
            <a:off x="6400800" y="498157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275" b="0">
                <a:solidFill>
                  <a:srgbClr val="72675F"/>
                </a:solidFill>
                <a:latin typeface="Arial"/>
                <a:ea typeface="Arial"/>
                <a:cs typeface="Arial"/>
              </a:defRPr>
            </a:defPPr>
          </a:lstStyle>
          <a:p xmlns:a="http://schemas.openxmlformats.org/drawingml/2006/main">
            <a:pPr algn="l">
              <a:defRPr sz="1275" b="0">
                <a:solidFill>
                  <a:srgbClr val="72675F"/>
                </a:solidFill>
                <a:latin typeface="Arial"/>
                <a:ea typeface="Arial"/>
                <a:cs typeface="Arial"/>
              </a:defRPr>
            </a:pPr>
            <a:r>
              <a:rPr sz="1275" b="0">
                <a:solidFill>
                  <a:srgbClr val="72675F"/>
                </a:solidFill>
                <a:latin typeface="Arial"/>
                <a:ea typeface="Arial"/>
                <a:cs typeface="Arial"/>
              </a:rPr>
              <a:t>Area video review serta carousel ulasan pelanggan.</a:t>
            </a:r>
          </a:p>
        </p:txBody>
      </p:sp>
      <p:sp>
        <p:nvSpPr>
          <p:cNvPr id="20" name="">
            <a:extLst xmlns:a="http://schemas.openxmlformats.org/drawingml/2006/main">
              <a:ext uri="{FF2B5EF4-FFF2-40B4-BE49-F238E27FC236}">
                <a16:creationId xmlns:a16="http://schemas.microsoft.com/office/drawing/2014/main" id="{BAAFD0EC-3E09-4226-B3DB-EF7891D43DDF}"/>
              </a:ext>
            </a:extLst>
          </p:cNvPr>
          <p:cNvSpPr>
            <a:spLocks xmlns:a="http://schemas.openxmlformats.org/drawingml/2006/main" noGrp="1"/>
          </p:cNvSpPr>
          <p:nvPr/>
        </p:nvSpPr>
        <p:spPr>
          <a:xfrm xmlns:a="http://schemas.openxmlformats.org/drawingml/2006/main">
            <a:off x="6400800" y="5372100"/>
            <a:ext cx="1809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00" b="1">
                <a:solidFill>
                  <a:srgbClr val="3A2015"/>
                </a:solidFill>
                <a:latin typeface="Arial"/>
                <a:ea typeface="Arial"/>
                <a:cs typeface="Arial"/>
              </a:defRPr>
            </a:defPPr>
          </a:lstStyle>
          <a:p xmlns:a="http://schemas.openxmlformats.org/drawingml/2006/main">
            <a:pPr algn="l">
              <a:defRPr sz="1500" b="1">
                <a:solidFill>
                  <a:srgbClr val="3A2015"/>
                </a:solidFill>
                <a:latin typeface="Arial"/>
                <a:ea typeface="Arial"/>
                <a:cs typeface="Arial"/>
              </a:defRPr>
            </a:pPr>
            <a:r>
              <a:rPr sz="1500" b="1">
                <a:solidFill>
                  <a:srgbClr val="3A2015"/>
                </a:solidFill>
                <a:latin typeface="Arial"/>
                <a:ea typeface="Arial"/>
                <a:cs typeface="Arial"/>
              </a:rPr>
              <a:t>CTA dan footer</a:t>
            </a:r>
          </a:p>
        </p:txBody>
      </p:sp>
      <p:sp>
        <p:nvSpPr>
          <p:cNvPr id="21" name="">
            <a:extLst xmlns:a="http://schemas.openxmlformats.org/drawingml/2006/main">
              <a:ext uri="{FF2B5EF4-FFF2-40B4-BE49-F238E27FC236}">
                <a16:creationId xmlns:a16="http://schemas.microsoft.com/office/drawing/2014/main" id="{C3748C06-4FE4-4329-A493-CD90DD73A8CA}"/>
              </a:ext>
            </a:extLst>
          </p:cNvPr>
          <p:cNvSpPr>
            <a:spLocks xmlns:a="http://schemas.openxmlformats.org/drawingml/2006/main" noGrp="1"/>
          </p:cNvSpPr>
          <p:nvPr/>
        </p:nvSpPr>
        <p:spPr>
          <a:xfrm xmlns:a="http://schemas.openxmlformats.org/drawingml/2006/main">
            <a:off x="6400800" y="56483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137"/>
          </a:bodyPr>
          <a:lstStyle xmlns:a="http://schemas.openxmlformats.org/drawingml/2006/main">
            <a:defPPr algn="l">
              <a:defRPr sz="1275" b="0">
                <a:solidFill>
                  <a:srgbClr val="72675F"/>
                </a:solidFill>
                <a:latin typeface="Arial"/>
                <a:ea typeface="Arial"/>
                <a:cs typeface="Arial"/>
              </a:defRPr>
            </a:defPPr>
          </a:lstStyle>
          <a:p xmlns:a="http://schemas.openxmlformats.org/drawingml/2006/main">
            <a:pPr algn="l">
              <a:defRPr sz="1275" b="0">
                <a:solidFill>
                  <a:srgbClr val="72675F"/>
                </a:solidFill>
                <a:latin typeface="Arial"/>
                <a:ea typeface="Arial"/>
                <a:cs typeface="Arial"/>
              </a:defRPr>
            </a:pPr>
            <a:r>
              <a:rPr sz="1275" b="0">
                <a:solidFill>
                  <a:srgbClr val="72675F"/>
                </a:solidFill>
                <a:latin typeface="Arial"/>
                <a:ea typeface="Arial"/>
                <a:cs typeface="Arial"/>
              </a:rPr>
              <a:t>Ajakan brand, identitas Freshly Crafted Beverages, Instagram, dan WhatsApp.</a:t>
            </a:r>
          </a:p>
        </p:txBody>
      </p:sp>
    </p:spTree>
    <p:extLst>
      <p:ext uri="{BB962C8B-B14F-4D97-AF65-F5344CB8AC3E}">
        <p14:creationId xmlns:p14="http://schemas.microsoft.com/office/powerpoint/2010/main" val="1715764101"/>
      </p:ext>
    </p:extLst>
  </p:cSld>
</p:sld>
</file>

<file path=ppt/slides/slide4.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0DED987A-3B47-4336-BA3D-EEE6EF56F961}"/>
              </a:ext>
            </a:extLst>
          </p:cNvPr>
          <p:cNvSpPr>
            <a:spLocks xmlns:a="http://schemas.openxmlformats.org/drawingml/2006/main" noGrp="1"/>
          </p:cNvSpPr>
          <p:nvPr/>
        </p:nvSpPr>
        <p:spPr>
          <a:xfrm xmlns:a="http://schemas.openxmlformats.org/drawingml/2006/main">
            <a:off x="552450" y="209550"/>
            <a:ext cx="542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3A2015"/>
                </a:solidFill>
                <a:latin typeface="Arial"/>
                <a:ea typeface="Arial"/>
                <a:cs typeface="Arial"/>
              </a:defRPr>
            </a:defPPr>
          </a:lstStyle>
          <a:p xmlns:a="http://schemas.openxmlformats.org/drawingml/2006/main">
            <a:pPr algn="l">
              <a:defRPr sz="1050" b="1">
                <a:solidFill>
                  <a:srgbClr val="3A2015"/>
                </a:solidFill>
                <a:latin typeface="Arial"/>
                <a:ea typeface="Arial"/>
                <a:cs typeface="Arial"/>
              </a:defRPr>
            </a:pPr>
            <a:r>
              <a:rPr sz="1050" b="1">
                <a:solidFill>
                  <a:srgbClr val="3A2015"/>
                </a:solidFill>
                <a:latin typeface="Arial"/>
                <a:ea typeface="Arial"/>
                <a:cs typeface="Arial"/>
              </a:rPr>
              <a:t>FD CULINARY  /  DOKUMENTASI WEBSITE</a:t>
            </a:r>
          </a:p>
        </p:txBody>
      </p:sp>
      <p:sp>
        <p:nvSpPr>
          <p:cNvPr id="2" name="">
            <a:extLst xmlns:a="http://schemas.openxmlformats.org/drawingml/2006/main">
              <a:ext uri="{FF2B5EF4-FFF2-40B4-BE49-F238E27FC236}">
                <a16:creationId xmlns:a16="http://schemas.microsoft.com/office/drawing/2014/main" id="{68202B8B-FF8C-4F8E-9392-34EF50BA75DD}"/>
              </a:ext>
            </a:extLst>
          </p:cNvPr>
          <p:cNvSpPr>
            <a:spLocks xmlns:a="http://schemas.openxmlformats.org/drawingml/2006/main" noGrp="1"/>
          </p:cNvSpPr>
          <p:nvPr/>
        </p:nvSpPr>
        <p:spPr>
          <a:xfrm xmlns:a="http://schemas.openxmlformats.org/drawingml/2006/main">
            <a:off x="552450" y="533400"/>
            <a:ext cx="1066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KATALOG</a:t>
            </a:r>
          </a:p>
        </p:txBody>
      </p:sp>
      <p:sp>
        <p:nvSpPr>
          <p:cNvPr id="3" name="">
            <a:extLst xmlns:a="http://schemas.openxmlformats.org/drawingml/2006/main">
              <a:ext uri="{FF2B5EF4-FFF2-40B4-BE49-F238E27FC236}">
                <a16:creationId xmlns:a16="http://schemas.microsoft.com/office/drawing/2014/main" id="{21DA865E-A609-4D0A-86AB-728FEBFF82AE}"/>
              </a:ext>
            </a:extLst>
          </p:cNvPr>
          <p:cNvSpPr>
            <a:spLocks xmlns:a="http://schemas.openxmlformats.org/drawingml/2006/main" noGrp="1"/>
          </p:cNvSpPr>
          <p:nvPr/>
        </p:nvSpPr>
        <p:spPr>
          <a:xfrm xmlns:a="http://schemas.openxmlformats.org/drawingml/2006/main">
            <a:off x="552450" y="8001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3150" b="1">
                <a:solidFill>
                  <a:srgbClr val="281E18"/>
                </a:solidFill>
                <a:latin typeface="Georgia"/>
                <a:ea typeface="Georgia"/>
                <a:cs typeface="Georgia"/>
              </a:defRPr>
            </a:defPPr>
          </a:lstStyle>
          <a:p xmlns:a="http://schemas.openxmlformats.org/drawingml/2006/main">
            <a:pPr algn="l">
              <a:defRPr sz="3150" b="1">
                <a:solidFill>
                  <a:srgbClr val="281E18"/>
                </a:solidFill>
                <a:latin typeface="Georgia"/>
                <a:ea typeface="Georgia"/>
                <a:cs typeface="Georgia"/>
              </a:defRPr>
            </a:pPr>
            <a:r>
              <a:rPr sz="3150" b="1">
                <a:solidFill>
                  <a:srgbClr val="281E18"/>
                </a:solidFill>
                <a:latin typeface="Georgia"/>
                <a:ea typeface="Georgia"/>
                <a:cs typeface="Georgia"/>
              </a:rPr>
              <a:t>Katalog minuman</a:t>
            </a:r>
          </a:p>
        </p:txBody>
      </p:sp>
      <p:sp>
        <p:nvSpPr>
          <p:cNvPr id="4" name="">
            <a:extLst xmlns:a="http://schemas.openxmlformats.org/drawingml/2006/main">
              <a:ext uri="{FF2B5EF4-FFF2-40B4-BE49-F238E27FC236}">
                <a16:creationId xmlns:a16="http://schemas.microsoft.com/office/drawing/2014/main" id="{CAD5B529-5ACA-45DD-95DB-6C95B13AA51C}"/>
              </a:ext>
            </a:extLst>
          </p:cNvPr>
          <p:cNvSpPr>
            <a:spLocks xmlns:a="http://schemas.openxmlformats.org/drawingml/2006/main" noGrp="1"/>
          </p:cNvSpPr>
          <p:nvPr/>
        </p:nvSpPr>
        <p:spPr>
          <a:xfrm xmlns:a="http://schemas.openxmlformats.org/drawingml/2006/main">
            <a:off x="571500" y="136207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Delapan minuman dibagi menjadi dua kelompok. Semua kartu mulai dari ukuran 250 ml.</a:t>
            </a:r>
          </a:p>
        </p:txBody>
      </p:sp>
      <p:sp>
        <p:nvSpPr>
          <p:cNvPr id="5" name="">
            <a:extLst xmlns:a="http://schemas.openxmlformats.org/drawingml/2006/main">
              <a:ext uri="{FF2B5EF4-FFF2-40B4-BE49-F238E27FC236}">
                <a16:creationId xmlns:a16="http://schemas.microsoft.com/office/drawing/2014/main" id="{7CB4C883-D10D-40F9-AE11-F609C19144E4}"/>
              </a:ext>
            </a:extLst>
          </p:cNvPr>
          <p:cNvSpPr>
            <a:spLocks xmlns:a="http://schemas.openxmlformats.org/drawingml/2006/main" noGrp="1"/>
          </p:cNvSpPr>
          <p:nvPr/>
        </p:nvSpPr>
        <p:spPr>
          <a:xfrm xmlns:a="http://schemas.openxmlformats.org/drawingml/2006/main">
            <a:off x="552450" y="1752600"/>
            <a:ext cx="1108710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B8A855E-63A4-4716-9237-8B8680C50EB7}"/>
              </a:ext>
            </a:extLst>
          </p:cNvPr>
          <p:cNvSpPr>
            <a:spLocks xmlns:a="http://schemas.openxmlformats.org/drawingml/2006/main" noGrp="1"/>
          </p:cNvSpPr>
          <p:nvPr/>
        </p:nvSpPr>
        <p:spPr>
          <a:xfrm xmlns:a="http://schemas.openxmlformats.org/drawingml/2006/main">
            <a:off x="552450" y="6448425"/>
            <a:ext cx="11087100" cy="952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9C2984-8B02-4038-A628-70DE8D1A464E}"/>
              </a:ext>
            </a:extLst>
          </p:cNvPr>
          <p:cNvSpPr>
            <a:spLocks xmlns:a="http://schemas.openxmlformats.org/drawingml/2006/main" noGrp="1"/>
          </p:cNvSpPr>
          <p:nvPr/>
        </p:nvSpPr>
        <p:spPr>
          <a:xfrm xmlns:a="http://schemas.openxmlformats.org/drawingml/2006/main">
            <a:off x="552450" y="65246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0">
                <a:solidFill>
                  <a:srgbClr val="72675F"/>
                </a:solidFill>
                <a:latin typeface="Arial"/>
                <a:ea typeface="Arial"/>
                <a:cs typeface="Arial"/>
              </a:defRPr>
            </a:defPPr>
          </a:lstStyle>
          <a:p xmlns:a="http://schemas.openxmlformats.org/drawingml/2006/main">
            <a:pPr algn="l">
              <a:defRPr sz="900" b="0">
                <a:solidFill>
                  <a:srgbClr val="72675F"/>
                </a:solidFill>
                <a:latin typeface="Arial"/>
                <a:ea typeface="Arial"/>
                <a:cs typeface="Arial"/>
              </a:defRPr>
            </a:pPr>
            <a:r>
              <a:rPr sz="900" b="0">
                <a:solidFill>
                  <a:srgbClr val="72675F"/>
                </a:solidFill>
                <a:latin typeface="Arial"/>
                <a:ea typeface="Arial"/>
                <a:cs typeface="Arial"/>
              </a:rPr>
              <a:t>Dokumentasi berdasarkan versi website saat ini</a:t>
            </a:r>
          </a:p>
        </p:txBody>
      </p:sp>
      <p:sp>
        <p:nvSpPr>
          <p:cNvPr id="8" name="">
            <a:extLst xmlns:a="http://schemas.openxmlformats.org/drawingml/2006/main">
              <a:ext uri="{FF2B5EF4-FFF2-40B4-BE49-F238E27FC236}">
                <a16:creationId xmlns:a16="http://schemas.microsoft.com/office/drawing/2014/main" id="{3D547346-652B-41EB-912D-052648A4A629}"/>
              </a:ext>
            </a:extLst>
          </p:cNvPr>
          <p:cNvSpPr>
            <a:spLocks xmlns:a="http://schemas.openxmlformats.org/drawingml/2006/main" noGrp="1"/>
          </p:cNvSpPr>
          <p:nvPr/>
        </p:nvSpPr>
        <p:spPr>
          <a:xfrm xmlns:a="http://schemas.openxmlformats.org/drawingml/2006/main">
            <a:off x="1118235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75" b="1">
                <a:solidFill>
                  <a:srgbClr val="3A2015"/>
                </a:solidFill>
                <a:latin typeface="Arial"/>
                <a:ea typeface="Arial"/>
                <a:cs typeface="Arial"/>
              </a:defRPr>
            </a:defPPr>
          </a:lstStyle>
          <a:p xmlns:a="http://schemas.openxmlformats.org/drawingml/2006/main">
            <a:pPr algn="r">
              <a:defRPr sz="975" b="1">
                <a:solidFill>
                  <a:srgbClr val="3A2015"/>
                </a:solidFill>
                <a:latin typeface="Arial"/>
                <a:ea typeface="Arial"/>
                <a:cs typeface="Arial"/>
              </a:defRPr>
            </a:pPr>
            <a:r>
              <a:rPr sz="975" b="1">
                <a:solidFill>
                  <a:srgbClr val="3A2015"/>
                </a:solidFill>
                <a:latin typeface="Arial"/>
                <a:ea typeface="Arial"/>
                <a:cs typeface="Arial"/>
              </a:rPr>
              <a:t>04</a:t>
            </a:r>
          </a:p>
        </p:txBody>
      </p:sp>
      <p:pic>
        <p:nvPicPr>
          <p:cNvPr id="9" name="">
            <a:extLst xmlns:a="http://schemas.openxmlformats.org/drawingml/2006/main">
              <a:ext uri="{FF2B5EF4-FFF2-40B4-BE49-F238E27FC236}">
                <a16:creationId xmlns:a16="http://schemas.microsoft.com/office/drawing/2014/main" id="{CD6F48AF-375C-4CC0-8F4F-19DE89BC72FB}"/>
              </a:ext>
            </a:extLst>
          </p:cNvPr>
          <p:cNvPicPr>
            <a:picLocks xmlns:a="http://schemas.openxmlformats.org/drawingml/2006/main" noChangeAspect="1"/>
          </p:cNvPicPr>
          <p:nvPr/>
        </p:nvPicPr>
        <p:blipFill>
          <a:blip xmlns:r="http://schemas.openxmlformats.org/officeDocument/2006/relationships" xmlns:a="http://schemas.openxmlformats.org/drawingml/2006/main" r:embed="R512f5de35ab84640"/>
          <a:srcRect xmlns:a="http://schemas.openxmlformats.org/drawingml/2006/main" l="0" t="39" r="0" b="39"/>
          <a:stretch xmlns:a="http://schemas.openxmlformats.org/drawingml/2006/main">
            <a:fillRect l="0" t="0" r="0" b="0"/>
          </a:stretch>
        </p:blipFill>
        <p:spPr>
          <a:xfrm xmlns:a="http://schemas.openxmlformats.org/drawingml/2006/main">
            <a:off x="552450" y="1971675"/>
            <a:ext cx="5372100" cy="3019425"/>
          </a:xfrm>
          <a:prstGeom xmlns:a="http://schemas.openxmlformats.org/drawingml/2006/main" prst="roundRect">
            <a:avLst>
              <a:gd name="adj" fmla="val 5047"/>
            </a:avLst>
          </a:prstGeom>
        </p:spPr>
      </p:pic>
      <p:pic>
        <p:nvPicPr>
          <p:cNvPr id="10" name="">
            <a:extLst xmlns:a="http://schemas.openxmlformats.org/drawingml/2006/main">
              <a:ext uri="{FF2B5EF4-FFF2-40B4-BE49-F238E27FC236}">
                <a16:creationId xmlns:a16="http://schemas.microsoft.com/office/drawing/2014/main" id="{AFA40FF8-EBC0-4109-9EE2-79676DBB34DC}"/>
              </a:ext>
            </a:extLst>
          </p:cNvPr>
          <p:cNvPicPr>
            <a:picLocks xmlns:a="http://schemas.openxmlformats.org/drawingml/2006/main" noChangeAspect="1"/>
          </p:cNvPicPr>
          <p:nvPr/>
        </p:nvPicPr>
        <p:blipFill>
          <a:blip xmlns:r="http://schemas.openxmlformats.org/officeDocument/2006/relationships" xmlns:a="http://schemas.openxmlformats.org/drawingml/2006/main" r:embed="R259f9edb57e44874"/>
          <a:srcRect xmlns:a="http://schemas.openxmlformats.org/drawingml/2006/main" l="0" t="39" r="0" b="39"/>
          <a:stretch xmlns:a="http://schemas.openxmlformats.org/drawingml/2006/main">
            <a:fillRect l="0" t="0" r="0" b="0"/>
          </a:stretch>
        </p:blipFill>
        <p:spPr>
          <a:xfrm xmlns:a="http://schemas.openxmlformats.org/drawingml/2006/main">
            <a:off x="6267450" y="1971675"/>
            <a:ext cx="5372100" cy="3019425"/>
          </a:xfrm>
          <a:prstGeom xmlns:a="http://schemas.openxmlformats.org/drawingml/2006/main" prst="roundRect">
            <a:avLst>
              <a:gd name="adj" fmla="val 5047"/>
            </a:avLst>
          </a:prstGeom>
        </p:spPr>
      </p:pic>
      <p:sp>
        <p:nvSpPr>
          <p:cNvPr id="11" name="">
            <a:extLst xmlns:a="http://schemas.openxmlformats.org/drawingml/2006/main">
              <a:ext uri="{FF2B5EF4-FFF2-40B4-BE49-F238E27FC236}">
                <a16:creationId xmlns:a16="http://schemas.microsoft.com/office/drawing/2014/main" id="{76B93183-25AC-406B-9439-9F451FC3D534}"/>
              </a:ext>
            </a:extLst>
          </p:cNvPr>
          <p:cNvSpPr>
            <a:spLocks xmlns:a="http://schemas.openxmlformats.org/drawingml/2006/main" noGrp="1"/>
          </p:cNvSpPr>
          <p:nvPr/>
        </p:nvSpPr>
        <p:spPr>
          <a:xfrm xmlns:a="http://schemas.openxmlformats.org/drawingml/2006/main">
            <a:off x="742950" y="50958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747"/>
                </a:solidFill>
                <a:latin typeface="Arial"/>
                <a:ea typeface="Arial"/>
                <a:cs typeface="Arial"/>
              </a:defRPr>
            </a:defPPr>
          </a:lstStyle>
          <a:p xmlns:a="http://schemas.openxmlformats.org/drawingml/2006/main">
            <a:pPr algn="l">
              <a:defRPr sz="1275" b="1">
                <a:solidFill>
                  <a:srgbClr val="526747"/>
                </a:solidFill>
                <a:latin typeface="Arial"/>
                <a:ea typeface="Arial"/>
                <a:cs typeface="Arial"/>
              </a:defRPr>
            </a:pPr>
            <a:r>
              <a:rPr sz="1275" b="1">
                <a:solidFill>
                  <a:srgbClr val="526747"/>
                </a:solidFill>
                <a:latin typeface="Arial"/>
                <a:ea typeface="Arial"/>
                <a:cs typeface="Arial"/>
              </a:rPr>
              <a:t>MILK &amp; TEA  ·  5 MENU</a:t>
            </a:r>
          </a:p>
        </p:txBody>
      </p:sp>
      <p:sp>
        <p:nvSpPr>
          <p:cNvPr id="12" name="">
            <a:extLst xmlns:a="http://schemas.openxmlformats.org/drawingml/2006/main">
              <a:ext uri="{FF2B5EF4-FFF2-40B4-BE49-F238E27FC236}">
                <a16:creationId xmlns:a16="http://schemas.microsoft.com/office/drawing/2014/main" id="{0C8AB6C1-6FC2-40E4-98F9-4BE776002FD3}"/>
              </a:ext>
            </a:extLst>
          </p:cNvPr>
          <p:cNvSpPr>
            <a:spLocks xmlns:a="http://schemas.openxmlformats.org/drawingml/2006/main" noGrp="1"/>
          </p:cNvSpPr>
          <p:nvPr/>
        </p:nvSpPr>
        <p:spPr>
          <a:xfrm xmlns:a="http://schemas.openxmlformats.org/drawingml/2006/main">
            <a:off x="6457950" y="50958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747"/>
                </a:solidFill>
                <a:latin typeface="Arial"/>
                <a:ea typeface="Arial"/>
                <a:cs typeface="Arial"/>
              </a:defRPr>
            </a:defPPr>
          </a:lstStyle>
          <a:p xmlns:a="http://schemas.openxmlformats.org/drawingml/2006/main">
            <a:pPr algn="l">
              <a:defRPr sz="1275" b="1">
                <a:solidFill>
                  <a:srgbClr val="526747"/>
                </a:solidFill>
                <a:latin typeface="Arial"/>
                <a:ea typeface="Arial"/>
                <a:cs typeface="Arial"/>
              </a:defRPr>
            </a:pPr>
            <a:r>
              <a:rPr sz="1275" b="1">
                <a:solidFill>
                  <a:srgbClr val="526747"/>
                </a:solidFill>
                <a:latin typeface="Arial"/>
                <a:ea typeface="Arial"/>
                <a:cs typeface="Arial"/>
              </a:rPr>
              <a:t>COFFEE  ·  3 MENU</a:t>
            </a:r>
          </a:p>
        </p:txBody>
      </p:sp>
      <p:sp>
        <p:nvSpPr>
          <p:cNvPr id="13" name="">
            <a:extLst xmlns:a="http://schemas.openxmlformats.org/drawingml/2006/main">
              <a:ext uri="{FF2B5EF4-FFF2-40B4-BE49-F238E27FC236}">
                <a16:creationId xmlns:a16="http://schemas.microsoft.com/office/drawing/2014/main" id="{0A5505CC-240E-4935-A491-A08B35E4FBA6}"/>
              </a:ext>
            </a:extLst>
          </p:cNvPr>
          <p:cNvSpPr>
            <a:spLocks xmlns:a="http://schemas.openxmlformats.org/drawingml/2006/main" noGrp="1"/>
          </p:cNvSpPr>
          <p:nvPr/>
        </p:nvSpPr>
        <p:spPr>
          <a:xfrm xmlns:a="http://schemas.openxmlformats.org/drawingml/2006/main">
            <a:off x="742950" y="5534025"/>
            <a:ext cx="85725" cy="85725"/>
          </a:xfrm>
          <a:prstGeom xmlns:a="http://schemas.openxmlformats.org/drawingml/2006/main" prst="ellipse">
            <a:avLst/>
          </a:prstGeom>
          <a:solidFill xmlns:a="http://schemas.openxmlformats.org/drawingml/2006/main">
            <a:srgbClr val="B18A48"/>
          </a:solidFill>
          <a:ln xmlns:a="http://schemas.openxmlformats.org/drawingml/2006/main" w="0">
            <a:solidFill>
              <a:srgbClr val="B18A48"/>
            </a:solidFill>
          </a:ln>
        </p:spPr>
      </p:sp>
      <p:sp>
        <p:nvSpPr>
          <p:cNvPr id="14" name="">
            <a:extLst xmlns:a="http://schemas.openxmlformats.org/drawingml/2006/main">
              <a:ext uri="{FF2B5EF4-FFF2-40B4-BE49-F238E27FC236}">
                <a16:creationId xmlns:a16="http://schemas.microsoft.com/office/drawing/2014/main" id="{BB7122F8-AA3E-44BF-9BD5-F40CD09413BA}"/>
              </a:ext>
            </a:extLst>
          </p:cNvPr>
          <p:cNvSpPr>
            <a:spLocks xmlns:a="http://schemas.openxmlformats.org/drawingml/2006/main" noGrp="1"/>
          </p:cNvSpPr>
          <p:nvPr/>
        </p:nvSpPr>
        <p:spPr>
          <a:xfrm xmlns:a="http://schemas.openxmlformats.org/drawingml/2006/main">
            <a:off x="952500" y="5429250"/>
            <a:ext cx="4552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0">
                <a:solidFill>
                  <a:srgbClr val="281E18"/>
                </a:solidFill>
                <a:latin typeface="Arial"/>
                <a:ea typeface="Arial"/>
                <a:cs typeface="Arial"/>
              </a:defRPr>
            </a:defPPr>
          </a:lstStyle>
          <a:p xmlns:a="http://schemas.openxmlformats.org/drawingml/2006/main">
            <a:pPr algn="l">
              <a:defRPr sz="1350" b="0">
                <a:solidFill>
                  <a:srgbClr val="281E18"/>
                </a:solidFill>
                <a:latin typeface="Arial"/>
                <a:ea typeface="Arial"/>
                <a:cs typeface="Arial"/>
              </a:defRPr>
            </a:pPr>
            <a:r>
              <a:rPr sz="1350" b="0">
                <a:solidFill>
                  <a:srgbClr val="281E18"/>
                </a:solidFill>
                <a:latin typeface="Arial"/>
                <a:ea typeface="Arial"/>
                <a:cs typeface="Arial"/>
              </a:rPr>
              <a:t>Pencarian membantu menemukan produk.</a:t>
            </a:r>
          </a:p>
        </p:txBody>
      </p:sp>
      <p:sp>
        <p:nvSpPr>
          <p:cNvPr id="15" name="">
            <a:extLst xmlns:a="http://schemas.openxmlformats.org/drawingml/2006/main">
              <a:ext uri="{FF2B5EF4-FFF2-40B4-BE49-F238E27FC236}">
                <a16:creationId xmlns:a16="http://schemas.microsoft.com/office/drawing/2014/main" id="{8F6CF5C4-85E3-4540-B207-66C8A4296B27}"/>
              </a:ext>
            </a:extLst>
          </p:cNvPr>
          <p:cNvSpPr>
            <a:spLocks xmlns:a="http://schemas.openxmlformats.org/drawingml/2006/main" noGrp="1"/>
          </p:cNvSpPr>
          <p:nvPr/>
        </p:nvSpPr>
        <p:spPr>
          <a:xfrm xmlns:a="http://schemas.openxmlformats.org/drawingml/2006/main">
            <a:off x="6457950" y="5534025"/>
            <a:ext cx="85725" cy="85725"/>
          </a:xfrm>
          <a:prstGeom xmlns:a="http://schemas.openxmlformats.org/drawingml/2006/main" prst="ellipse">
            <a:avLst/>
          </a:prstGeom>
          <a:solidFill xmlns:a="http://schemas.openxmlformats.org/drawingml/2006/main">
            <a:srgbClr val="B18A48"/>
          </a:solidFill>
          <a:ln xmlns:a="http://schemas.openxmlformats.org/drawingml/2006/main" w="0">
            <a:solidFill>
              <a:srgbClr val="B18A48"/>
            </a:solidFill>
          </a:ln>
        </p:spPr>
      </p:sp>
      <p:sp>
        <p:nvSpPr>
          <p:cNvPr id="16" name="">
            <a:extLst xmlns:a="http://schemas.openxmlformats.org/drawingml/2006/main">
              <a:ext uri="{FF2B5EF4-FFF2-40B4-BE49-F238E27FC236}">
                <a16:creationId xmlns:a16="http://schemas.microsoft.com/office/drawing/2014/main" id="{7C0CC93B-6ED7-4272-B1AB-E538EF164121}"/>
              </a:ext>
            </a:extLst>
          </p:cNvPr>
          <p:cNvSpPr>
            <a:spLocks xmlns:a="http://schemas.openxmlformats.org/drawingml/2006/main" noGrp="1"/>
          </p:cNvSpPr>
          <p:nvPr/>
        </p:nvSpPr>
        <p:spPr>
          <a:xfrm xmlns:a="http://schemas.openxmlformats.org/drawingml/2006/main">
            <a:off x="6667500" y="5429250"/>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0">
                <a:solidFill>
                  <a:srgbClr val="281E18"/>
                </a:solidFill>
                <a:latin typeface="Arial"/>
                <a:ea typeface="Arial"/>
                <a:cs typeface="Arial"/>
              </a:defRPr>
            </a:defPPr>
          </a:lstStyle>
          <a:p xmlns:a="http://schemas.openxmlformats.org/drawingml/2006/main">
            <a:pPr algn="l">
              <a:defRPr sz="1350" b="0">
                <a:solidFill>
                  <a:srgbClr val="281E18"/>
                </a:solidFill>
                <a:latin typeface="Arial"/>
                <a:ea typeface="Arial"/>
                <a:cs typeface="Arial"/>
              </a:defRPr>
            </a:pPr>
            <a:r>
              <a:rPr sz="1350" b="0">
                <a:solidFill>
                  <a:srgbClr val="281E18"/>
                </a:solidFill>
                <a:latin typeface="Arial"/>
                <a:ea typeface="Arial"/>
                <a:cs typeface="Arial"/>
              </a:rPr>
              <a:t>Pilihan 250 ml / 1 L mengubah harga dan skala botol tanpa memuat ulang katalog.</a:t>
            </a:r>
          </a:p>
        </p:txBody>
      </p:sp>
    </p:spTree>
    <p:extLst>
      <p:ext uri="{BB962C8B-B14F-4D97-AF65-F5344CB8AC3E}">
        <p14:creationId xmlns:p14="http://schemas.microsoft.com/office/powerpoint/2010/main" val="687843099"/>
      </p:ext>
    </p:extLst>
  </p:cSld>
</p:sld>
</file>

<file path=ppt/slides/slide5.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BC72D36-1635-4FDF-861A-BA9FF27F0132}"/>
              </a:ext>
            </a:extLst>
          </p:cNvPr>
          <p:cNvSpPr>
            <a:spLocks xmlns:a="http://schemas.openxmlformats.org/drawingml/2006/main" noGrp="1"/>
          </p:cNvSpPr>
          <p:nvPr/>
        </p:nvSpPr>
        <p:spPr>
          <a:xfrm xmlns:a="http://schemas.openxmlformats.org/drawingml/2006/main">
            <a:off x="552450" y="209550"/>
            <a:ext cx="542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3A2015"/>
                </a:solidFill>
                <a:latin typeface="Arial"/>
                <a:ea typeface="Arial"/>
                <a:cs typeface="Arial"/>
              </a:defRPr>
            </a:defPPr>
          </a:lstStyle>
          <a:p xmlns:a="http://schemas.openxmlformats.org/drawingml/2006/main">
            <a:pPr algn="l">
              <a:defRPr sz="1050" b="1">
                <a:solidFill>
                  <a:srgbClr val="3A2015"/>
                </a:solidFill>
                <a:latin typeface="Arial"/>
                <a:ea typeface="Arial"/>
                <a:cs typeface="Arial"/>
              </a:defRPr>
            </a:pPr>
            <a:r>
              <a:rPr sz="1050" b="1">
                <a:solidFill>
                  <a:srgbClr val="3A2015"/>
                </a:solidFill>
                <a:latin typeface="Arial"/>
                <a:ea typeface="Arial"/>
                <a:cs typeface="Arial"/>
              </a:rPr>
              <a:t>FD CULINARY  /  DOKUMENTASI WEBSITE</a:t>
            </a:r>
          </a:p>
        </p:txBody>
      </p:sp>
      <p:sp>
        <p:nvSpPr>
          <p:cNvPr id="2" name="">
            <a:extLst xmlns:a="http://schemas.openxmlformats.org/drawingml/2006/main">
              <a:ext uri="{FF2B5EF4-FFF2-40B4-BE49-F238E27FC236}">
                <a16:creationId xmlns:a16="http://schemas.microsoft.com/office/drawing/2014/main" id="{D9E95A39-7E15-4E6E-9366-169203DC7363}"/>
              </a:ext>
            </a:extLst>
          </p:cNvPr>
          <p:cNvSpPr>
            <a:spLocks xmlns:a="http://schemas.openxmlformats.org/drawingml/2006/main" noGrp="1"/>
          </p:cNvSpPr>
          <p:nvPr/>
        </p:nvSpPr>
        <p:spPr>
          <a:xfrm xmlns:a="http://schemas.openxmlformats.org/drawingml/2006/main">
            <a:off x="552450" y="533400"/>
            <a:ext cx="1066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KERANJANG</a:t>
            </a:r>
          </a:p>
        </p:txBody>
      </p:sp>
      <p:sp>
        <p:nvSpPr>
          <p:cNvPr id="3" name="">
            <a:extLst xmlns:a="http://schemas.openxmlformats.org/drawingml/2006/main">
              <a:ext uri="{FF2B5EF4-FFF2-40B4-BE49-F238E27FC236}">
                <a16:creationId xmlns:a16="http://schemas.microsoft.com/office/drawing/2014/main" id="{62278400-21CE-4813-8CF9-EE2C0BECB72E}"/>
              </a:ext>
            </a:extLst>
          </p:cNvPr>
          <p:cNvSpPr>
            <a:spLocks xmlns:a="http://schemas.openxmlformats.org/drawingml/2006/main" noGrp="1"/>
          </p:cNvSpPr>
          <p:nvPr/>
        </p:nvSpPr>
        <p:spPr>
          <a:xfrm xmlns:a="http://schemas.openxmlformats.org/drawingml/2006/main">
            <a:off x="552450" y="8001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3150" b="1">
                <a:solidFill>
                  <a:srgbClr val="281E18"/>
                </a:solidFill>
                <a:latin typeface="Georgia"/>
                <a:ea typeface="Georgia"/>
                <a:cs typeface="Georgia"/>
              </a:defRPr>
            </a:defPPr>
          </a:lstStyle>
          <a:p xmlns:a="http://schemas.openxmlformats.org/drawingml/2006/main">
            <a:pPr algn="l">
              <a:defRPr sz="3150" b="1">
                <a:solidFill>
                  <a:srgbClr val="281E18"/>
                </a:solidFill>
                <a:latin typeface="Georgia"/>
                <a:ea typeface="Georgia"/>
                <a:cs typeface="Georgia"/>
              </a:defRPr>
            </a:pPr>
            <a:r>
              <a:rPr sz="3150" b="1">
                <a:solidFill>
                  <a:srgbClr val="281E18"/>
                </a:solidFill>
                <a:latin typeface="Georgia"/>
                <a:ea typeface="Georgia"/>
                <a:cs typeface="Georgia"/>
              </a:rPr>
              <a:t>Keranjang dan pemeriksaan order</a:t>
            </a:r>
          </a:p>
        </p:txBody>
      </p:sp>
      <p:sp>
        <p:nvSpPr>
          <p:cNvPr id="4" name="">
            <a:extLst xmlns:a="http://schemas.openxmlformats.org/drawingml/2006/main">
              <a:ext uri="{FF2B5EF4-FFF2-40B4-BE49-F238E27FC236}">
                <a16:creationId xmlns:a16="http://schemas.microsoft.com/office/drawing/2014/main" id="{85A060F1-E3A9-43ED-9EDD-BE92C5E6FBF9}"/>
              </a:ext>
            </a:extLst>
          </p:cNvPr>
          <p:cNvSpPr>
            <a:spLocks xmlns:a="http://schemas.openxmlformats.org/drawingml/2006/main" noGrp="1"/>
          </p:cNvSpPr>
          <p:nvPr/>
        </p:nvSpPr>
        <p:spPr>
          <a:xfrm xmlns:a="http://schemas.openxmlformats.org/drawingml/2006/main">
            <a:off x="571500" y="136207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Pelanggan memilih produk dan ukuran sebelum membuat draft invoice.</a:t>
            </a:r>
          </a:p>
        </p:txBody>
      </p:sp>
      <p:sp>
        <p:nvSpPr>
          <p:cNvPr id="5" name="">
            <a:extLst xmlns:a="http://schemas.openxmlformats.org/drawingml/2006/main">
              <a:ext uri="{FF2B5EF4-FFF2-40B4-BE49-F238E27FC236}">
                <a16:creationId xmlns:a16="http://schemas.microsoft.com/office/drawing/2014/main" id="{70DCF20B-BFEA-4A54-A811-5D84DDFAEA44}"/>
              </a:ext>
            </a:extLst>
          </p:cNvPr>
          <p:cNvSpPr>
            <a:spLocks xmlns:a="http://schemas.openxmlformats.org/drawingml/2006/main" noGrp="1"/>
          </p:cNvSpPr>
          <p:nvPr/>
        </p:nvSpPr>
        <p:spPr>
          <a:xfrm xmlns:a="http://schemas.openxmlformats.org/drawingml/2006/main">
            <a:off x="552450" y="1752600"/>
            <a:ext cx="1108710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B715E5D-46E7-432F-BF12-75D7F2A6A206}"/>
              </a:ext>
            </a:extLst>
          </p:cNvPr>
          <p:cNvSpPr>
            <a:spLocks xmlns:a="http://schemas.openxmlformats.org/drawingml/2006/main" noGrp="1"/>
          </p:cNvSpPr>
          <p:nvPr/>
        </p:nvSpPr>
        <p:spPr>
          <a:xfrm xmlns:a="http://schemas.openxmlformats.org/drawingml/2006/main">
            <a:off x="552450" y="6448425"/>
            <a:ext cx="11087100" cy="952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7093C8B-2C60-492E-ADD2-914F1C31182E}"/>
              </a:ext>
            </a:extLst>
          </p:cNvPr>
          <p:cNvSpPr>
            <a:spLocks xmlns:a="http://schemas.openxmlformats.org/drawingml/2006/main" noGrp="1"/>
          </p:cNvSpPr>
          <p:nvPr/>
        </p:nvSpPr>
        <p:spPr>
          <a:xfrm xmlns:a="http://schemas.openxmlformats.org/drawingml/2006/main">
            <a:off x="552450" y="65246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0">
                <a:solidFill>
                  <a:srgbClr val="72675F"/>
                </a:solidFill>
                <a:latin typeface="Arial"/>
                <a:ea typeface="Arial"/>
                <a:cs typeface="Arial"/>
              </a:defRPr>
            </a:defPPr>
          </a:lstStyle>
          <a:p xmlns:a="http://schemas.openxmlformats.org/drawingml/2006/main">
            <a:pPr algn="l">
              <a:defRPr sz="900" b="0">
                <a:solidFill>
                  <a:srgbClr val="72675F"/>
                </a:solidFill>
                <a:latin typeface="Arial"/>
                <a:ea typeface="Arial"/>
                <a:cs typeface="Arial"/>
              </a:defRPr>
            </a:pPr>
            <a:r>
              <a:rPr sz="900" b="0">
                <a:solidFill>
                  <a:srgbClr val="72675F"/>
                </a:solidFill>
                <a:latin typeface="Arial"/>
                <a:ea typeface="Arial"/>
                <a:cs typeface="Arial"/>
              </a:rPr>
              <a:t>Dokumentasi berdasarkan versi website saat ini</a:t>
            </a:r>
          </a:p>
        </p:txBody>
      </p:sp>
      <p:sp>
        <p:nvSpPr>
          <p:cNvPr id="8" name="">
            <a:extLst xmlns:a="http://schemas.openxmlformats.org/drawingml/2006/main">
              <a:ext uri="{FF2B5EF4-FFF2-40B4-BE49-F238E27FC236}">
                <a16:creationId xmlns:a16="http://schemas.microsoft.com/office/drawing/2014/main" id="{AA37110A-A28F-4571-A735-9FA7AA44914C}"/>
              </a:ext>
            </a:extLst>
          </p:cNvPr>
          <p:cNvSpPr>
            <a:spLocks xmlns:a="http://schemas.openxmlformats.org/drawingml/2006/main" noGrp="1"/>
          </p:cNvSpPr>
          <p:nvPr/>
        </p:nvSpPr>
        <p:spPr>
          <a:xfrm xmlns:a="http://schemas.openxmlformats.org/drawingml/2006/main">
            <a:off x="1118235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75" b="1">
                <a:solidFill>
                  <a:srgbClr val="3A2015"/>
                </a:solidFill>
                <a:latin typeface="Arial"/>
                <a:ea typeface="Arial"/>
                <a:cs typeface="Arial"/>
              </a:defRPr>
            </a:defPPr>
          </a:lstStyle>
          <a:p xmlns:a="http://schemas.openxmlformats.org/drawingml/2006/main">
            <a:pPr algn="r">
              <a:defRPr sz="975" b="1">
                <a:solidFill>
                  <a:srgbClr val="3A2015"/>
                </a:solidFill>
                <a:latin typeface="Arial"/>
                <a:ea typeface="Arial"/>
                <a:cs typeface="Arial"/>
              </a:defRPr>
            </a:pPr>
            <a:r>
              <a:rPr sz="975" b="1">
                <a:solidFill>
                  <a:srgbClr val="3A2015"/>
                </a:solidFill>
                <a:latin typeface="Arial"/>
                <a:ea typeface="Arial"/>
                <a:cs typeface="Arial"/>
              </a:rPr>
              <a:t>05</a:t>
            </a:r>
          </a:p>
        </p:txBody>
      </p:sp>
      <p:pic>
        <p:nvPicPr>
          <p:cNvPr id="9" name="">
            <a:extLst xmlns:a="http://schemas.openxmlformats.org/drawingml/2006/main">
              <a:ext uri="{FF2B5EF4-FFF2-40B4-BE49-F238E27FC236}">
                <a16:creationId xmlns:a16="http://schemas.microsoft.com/office/drawing/2014/main" id="{5E2F9EE5-73F9-4BCE-8A79-5E0EE349E400}"/>
              </a:ext>
            </a:extLst>
          </p:cNvPr>
          <p:cNvPicPr>
            <a:picLocks xmlns:a="http://schemas.openxmlformats.org/drawingml/2006/main" noChangeAspect="1"/>
          </p:cNvPicPr>
          <p:nvPr/>
        </p:nvPicPr>
        <p:blipFill>
          <a:blip xmlns:r="http://schemas.openxmlformats.org/officeDocument/2006/relationships" xmlns:a="http://schemas.openxmlformats.org/drawingml/2006/main" r:embed="Rb5e18b2796b24126"/>
          <a:srcRect xmlns:a="http://schemas.openxmlformats.org/drawingml/2006/main" l="62" t="0" r="62" b="0"/>
          <a:stretch xmlns:a="http://schemas.openxmlformats.org/drawingml/2006/main">
            <a:fillRect l="0" t="0" r="0" b="0"/>
          </a:stretch>
        </p:blipFill>
        <p:spPr>
          <a:xfrm xmlns:a="http://schemas.openxmlformats.org/drawingml/2006/main">
            <a:off x="552450" y="2009775"/>
            <a:ext cx="5124450" cy="2886075"/>
          </a:xfrm>
          <a:prstGeom xmlns:a="http://schemas.openxmlformats.org/drawingml/2006/main" prst="roundRect">
            <a:avLst>
              <a:gd name="adj" fmla="val 5281"/>
            </a:avLst>
          </a:prstGeom>
        </p:spPr>
      </p:pic>
      <p:pic>
        <p:nvPicPr>
          <p:cNvPr id="10" name="">
            <a:extLst xmlns:a="http://schemas.openxmlformats.org/drawingml/2006/main">
              <a:ext uri="{FF2B5EF4-FFF2-40B4-BE49-F238E27FC236}">
                <a16:creationId xmlns:a16="http://schemas.microsoft.com/office/drawing/2014/main" id="{90ABD482-5CB3-485B-9517-EDBAC4079408}"/>
              </a:ext>
            </a:extLst>
          </p:cNvPr>
          <p:cNvPicPr>
            <a:picLocks xmlns:a="http://schemas.openxmlformats.org/drawingml/2006/main" noChangeAspect="1"/>
          </p:cNvPicPr>
          <p:nvPr/>
        </p:nvPicPr>
        <p:blipFill>
          <a:blip xmlns:r="http://schemas.openxmlformats.org/officeDocument/2006/relationships" xmlns:a="http://schemas.openxmlformats.org/drawingml/2006/main" r:embed="R5838420f1d954bff"/>
          <a:srcRect xmlns:a="http://schemas.openxmlformats.org/drawingml/2006/main" l="29" t="0" r="29" b="0"/>
          <a:stretch xmlns:a="http://schemas.openxmlformats.org/drawingml/2006/main">
            <a:fillRect l="0" t="0" r="0" b="0"/>
          </a:stretch>
        </p:blipFill>
        <p:spPr>
          <a:xfrm xmlns:a="http://schemas.openxmlformats.org/drawingml/2006/main">
            <a:off x="6257925" y="2009775"/>
            <a:ext cx="5381625" cy="3028950"/>
          </a:xfrm>
          <a:prstGeom xmlns:a="http://schemas.openxmlformats.org/drawingml/2006/main" prst="roundRect">
            <a:avLst>
              <a:gd name="adj" fmla="val 5031"/>
            </a:avLst>
          </a:prstGeom>
        </p:spPr>
      </p:pic>
      <p:sp>
        <p:nvSpPr>
          <p:cNvPr id="11" name="">
            <a:extLst xmlns:a="http://schemas.openxmlformats.org/drawingml/2006/main">
              <a:ext uri="{FF2B5EF4-FFF2-40B4-BE49-F238E27FC236}">
                <a16:creationId xmlns:a16="http://schemas.microsoft.com/office/drawing/2014/main" id="{95CDAADA-C7C7-43CE-AFDF-36D4F46D545D}"/>
              </a:ext>
            </a:extLst>
          </p:cNvPr>
          <p:cNvSpPr>
            <a:spLocks xmlns:a="http://schemas.openxmlformats.org/drawingml/2006/main" noGrp="1"/>
          </p:cNvSpPr>
          <p:nvPr/>
        </p:nvSpPr>
        <p:spPr>
          <a:xfrm xmlns:a="http://schemas.openxmlformats.org/drawingml/2006/main">
            <a:off x="762000" y="5219700"/>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1">
                <a:solidFill>
                  <a:srgbClr val="3A2015"/>
                </a:solidFill>
                <a:latin typeface="Arial"/>
                <a:ea typeface="Arial"/>
                <a:cs typeface="Arial"/>
              </a:defRPr>
            </a:defPPr>
          </a:lstStyle>
          <a:p xmlns:a="http://schemas.openxmlformats.org/drawingml/2006/main">
            <a:pPr algn="l">
              <a:defRPr sz="1575" b="1">
                <a:solidFill>
                  <a:srgbClr val="3A2015"/>
                </a:solidFill>
                <a:latin typeface="Arial"/>
                <a:ea typeface="Arial"/>
                <a:cs typeface="Arial"/>
              </a:defRPr>
            </a:pPr>
            <a:r>
              <a:rPr sz="1575" b="1">
                <a:solidFill>
                  <a:srgbClr val="3A2015"/>
                </a:solidFill>
                <a:latin typeface="Arial"/>
                <a:ea typeface="Arial"/>
                <a:cs typeface="Arial"/>
              </a:rPr>
              <a:t>1  Pilih ikon plus</a:t>
            </a:r>
          </a:p>
        </p:txBody>
      </p:sp>
      <p:sp>
        <p:nvSpPr>
          <p:cNvPr id="12" name="">
            <a:extLst xmlns:a="http://schemas.openxmlformats.org/drawingml/2006/main">
              <a:ext uri="{FF2B5EF4-FFF2-40B4-BE49-F238E27FC236}">
                <a16:creationId xmlns:a16="http://schemas.microsoft.com/office/drawing/2014/main" id="{DFFE3AF1-C544-4EB3-96E4-F4CC0C8C5960}"/>
              </a:ext>
            </a:extLst>
          </p:cNvPr>
          <p:cNvSpPr>
            <a:spLocks xmlns:a="http://schemas.openxmlformats.org/drawingml/2006/main" noGrp="1"/>
          </p:cNvSpPr>
          <p:nvPr/>
        </p:nvSpPr>
        <p:spPr>
          <a:xfrm xmlns:a="http://schemas.openxmlformats.org/drawingml/2006/main">
            <a:off x="762000" y="55530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0">
                <a:solidFill>
                  <a:srgbClr val="72675F"/>
                </a:solidFill>
                <a:latin typeface="Arial"/>
                <a:ea typeface="Arial"/>
                <a:cs typeface="Arial"/>
              </a:defRPr>
            </a:defPPr>
          </a:lstStyle>
          <a:p xmlns:a="http://schemas.openxmlformats.org/drawingml/2006/main">
            <a:pPr algn="l">
              <a:defRPr sz="1350" b="0">
                <a:solidFill>
                  <a:srgbClr val="72675F"/>
                </a:solidFill>
                <a:latin typeface="Arial"/>
                <a:ea typeface="Arial"/>
                <a:cs typeface="Arial"/>
              </a:defRPr>
            </a:pPr>
            <a:r>
              <a:rPr sz="1350" b="0">
                <a:solidFill>
                  <a:srgbClr val="72675F"/>
                </a:solidFill>
                <a:latin typeface="Arial"/>
                <a:ea typeface="Arial"/>
                <a:cs typeface="Arial"/>
              </a:rPr>
              <a:t>Popup mengonfirmasi produk, ukuran, dan harga.</a:t>
            </a:r>
          </a:p>
        </p:txBody>
      </p:sp>
      <p:sp>
        <p:nvSpPr>
          <p:cNvPr id="13" name="">
            <a:extLst xmlns:a="http://schemas.openxmlformats.org/drawingml/2006/main">
              <a:ext uri="{FF2B5EF4-FFF2-40B4-BE49-F238E27FC236}">
                <a16:creationId xmlns:a16="http://schemas.microsoft.com/office/drawing/2014/main" id="{6B52EB6E-5EAD-4F48-A61F-E469C1F095E6}"/>
              </a:ext>
            </a:extLst>
          </p:cNvPr>
          <p:cNvSpPr>
            <a:spLocks xmlns:a="http://schemas.openxmlformats.org/drawingml/2006/main" noGrp="1"/>
          </p:cNvSpPr>
          <p:nvPr/>
        </p:nvSpPr>
        <p:spPr>
          <a:xfrm xmlns:a="http://schemas.openxmlformats.org/drawingml/2006/main">
            <a:off x="6448425" y="521970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1">
                <a:solidFill>
                  <a:srgbClr val="3A2015"/>
                </a:solidFill>
                <a:latin typeface="Arial"/>
                <a:ea typeface="Arial"/>
                <a:cs typeface="Arial"/>
              </a:defRPr>
            </a:defPPr>
          </a:lstStyle>
          <a:p xmlns:a="http://schemas.openxmlformats.org/drawingml/2006/main">
            <a:pPr algn="l">
              <a:defRPr sz="1575" b="1">
                <a:solidFill>
                  <a:srgbClr val="3A2015"/>
                </a:solidFill>
                <a:latin typeface="Arial"/>
                <a:ea typeface="Arial"/>
                <a:cs typeface="Arial"/>
              </a:defRPr>
            </a:pPr>
            <a:r>
              <a:rPr sz="1575" b="1">
                <a:solidFill>
                  <a:srgbClr val="3A2015"/>
                </a:solidFill>
                <a:latin typeface="Arial"/>
                <a:ea typeface="Arial"/>
                <a:cs typeface="Arial"/>
              </a:rPr>
              <a:t>2  Periksa keranjang</a:t>
            </a:r>
          </a:p>
        </p:txBody>
      </p:sp>
      <p:sp>
        <p:nvSpPr>
          <p:cNvPr id="14" name="">
            <a:extLst xmlns:a="http://schemas.openxmlformats.org/drawingml/2006/main">
              <a:ext uri="{FF2B5EF4-FFF2-40B4-BE49-F238E27FC236}">
                <a16:creationId xmlns:a16="http://schemas.microsoft.com/office/drawing/2014/main" id="{78E0083C-956C-48C6-9CAD-63CC80329412}"/>
              </a:ext>
            </a:extLst>
          </p:cNvPr>
          <p:cNvSpPr>
            <a:spLocks xmlns:a="http://schemas.openxmlformats.org/drawingml/2006/main" noGrp="1"/>
          </p:cNvSpPr>
          <p:nvPr/>
        </p:nvSpPr>
        <p:spPr>
          <a:xfrm xmlns:a="http://schemas.openxmlformats.org/drawingml/2006/main">
            <a:off x="6448425" y="55530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0">
                <a:solidFill>
                  <a:srgbClr val="72675F"/>
                </a:solidFill>
                <a:latin typeface="Arial"/>
                <a:ea typeface="Arial"/>
                <a:cs typeface="Arial"/>
              </a:defRPr>
            </a:defPPr>
          </a:lstStyle>
          <a:p xmlns:a="http://schemas.openxmlformats.org/drawingml/2006/main">
            <a:pPr algn="l">
              <a:defRPr sz="1350" b="0">
                <a:solidFill>
                  <a:srgbClr val="72675F"/>
                </a:solidFill>
                <a:latin typeface="Arial"/>
                <a:ea typeface="Arial"/>
                <a:cs typeface="Arial"/>
              </a:defRPr>
            </a:pPr>
            <a:r>
              <a:rPr sz="1350" b="0">
                <a:solidFill>
                  <a:srgbClr val="72675F"/>
                </a:solidFill>
                <a:latin typeface="Arial"/>
                <a:ea typeface="Arial"/>
                <a:cs typeface="Arial"/>
              </a:rPr>
              <a:t>Atur jumlah, lihat harga per item, lalu periksa subtotal.</a:t>
            </a:r>
          </a:p>
        </p:txBody>
      </p:sp>
    </p:spTree>
    <p:extLst>
      <p:ext uri="{BB962C8B-B14F-4D97-AF65-F5344CB8AC3E}">
        <p14:creationId xmlns:p14="http://schemas.microsoft.com/office/powerpoint/2010/main" val="2070976874"/>
      </p:ext>
    </p:extLst>
  </p:cSld>
</p:sld>
</file>

<file path=ppt/slides/slide6.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0F40070-1E46-4F6D-89ED-39E40623D1F4}"/>
              </a:ext>
            </a:extLst>
          </p:cNvPr>
          <p:cNvSpPr>
            <a:spLocks xmlns:a="http://schemas.openxmlformats.org/drawingml/2006/main" noGrp="1"/>
          </p:cNvSpPr>
          <p:nvPr/>
        </p:nvSpPr>
        <p:spPr>
          <a:xfrm xmlns:a="http://schemas.openxmlformats.org/drawingml/2006/main">
            <a:off x="552450" y="209550"/>
            <a:ext cx="542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3A2015"/>
                </a:solidFill>
                <a:latin typeface="Arial"/>
                <a:ea typeface="Arial"/>
                <a:cs typeface="Arial"/>
              </a:defRPr>
            </a:defPPr>
          </a:lstStyle>
          <a:p xmlns:a="http://schemas.openxmlformats.org/drawingml/2006/main">
            <a:pPr algn="l">
              <a:defRPr sz="1050" b="1">
                <a:solidFill>
                  <a:srgbClr val="3A2015"/>
                </a:solidFill>
                <a:latin typeface="Arial"/>
                <a:ea typeface="Arial"/>
                <a:cs typeface="Arial"/>
              </a:defRPr>
            </a:pPr>
            <a:r>
              <a:rPr sz="1050" b="1">
                <a:solidFill>
                  <a:srgbClr val="3A2015"/>
                </a:solidFill>
                <a:latin typeface="Arial"/>
                <a:ea typeface="Arial"/>
                <a:cs typeface="Arial"/>
              </a:rPr>
              <a:t>FD CULINARY  /  DOKUMENTASI WEBSITE</a:t>
            </a:r>
          </a:p>
        </p:txBody>
      </p:sp>
      <p:sp>
        <p:nvSpPr>
          <p:cNvPr id="2" name="">
            <a:extLst xmlns:a="http://schemas.openxmlformats.org/drawingml/2006/main">
              <a:ext uri="{FF2B5EF4-FFF2-40B4-BE49-F238E27FC236}">
                <a16:creationId xmlns:a16="http://schemas.microsoft.com/office/drawing/2014/main" id="{602A71E9-5041-46B2-9827-8FF291FF8260}"/>
              </a:ext>
            </a:extLst>
          </p:cNvPr>
          <p:cNvSpPr>
            <a:spLocks xmlns:a="http://schemas.openxmlformats.org/drawingml/2006/main" noGrp="1"/>
          </p:cNvSpPr>
          <p:nvPr/>
        </p:nvSpPr>
        <p:spPr>
          <a:xfrm xmlns:a="http://schemas.openxmlformats.org/drawingml/2006/main">
            <a:off x="552450" y="533400"/>
            <a:ext cx="1066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INVOICE PNG</a:t>
            </a:r>
          </a:p>
        </p:txBody>
      </p:sp>
      <p:sp>
        <p:nvSpPr>
          <p:cNvPr id="3" name="">
            <a:extLst xmlns:a="http://schemas.openxmlformats.org/drawingml/2006/main">
              <a:ext uri="{FF2B5EF4-FFF2-40B4-BE49-F238E27FC236}">
                <a16:creationId xmlns:a16="http://schemas.microsoft.com/office/drawing/2014/main" id="{D343DDD9-9CB6-4158-9663-C77D89DD3301}"/>
              </a:ext>
            </a:extLst>
          </p:cNvPr>
          <p:cNvSpPr>
            <a:spLocks xmlns:a="http://schemas.openxmlformats.org/drawingml/2006/main" noGrp="1"/>
          </p:cNvSpPr>
          <p:nvPr/>
        </p:nvSpPr>
        <p:spPr>
          <a:xfrm xmlns:a="http://schemas.openxmlformats.org/drawingml/2006/main">
            <a:off x="552450" y="8001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3150" b="1">
                <a:solidFill>
                  <a:srgbClr val="281E18"/>
                </a:solidFill>
                <a:latin typeface="Georgia"/>
                <a:ea typeface="Georgia"/>
                <a:cs typeface="Georgia"/>
              </a:defRPr>
            </a:defPPr>
          </a:lstStyle>
          <a:p xmlns:a="http://schemas.openxmlformats.org/drawingml/2006/main">
            <a:pPr algn="l">
              <a:defRPr sz="3150" b="1">
                <a:solidFill>
                  <a:srgbClr val="281E18"/>
                </a:solidFill>
                <a:latin typeface="Georgia"/>
                <a:ea typeface="Georgia"/>
                <a:cs typeface="Georgia"/>
              </a:defRPr>
            </a:pPr>
            <a:r>
              <a:rPr sz="3150" b="1">
                <a:solidFill>
                  <a:srgbClr val="281E18"/>
                </a:solidFill>
                <a:latin typeface="Georgia"/>
                <a:ea typeface="Georgia"/>
                <a:cs typeface="Georgia"/>
              </a:rPr>
              <a:t>Draft menjadi invoice final</a:t>
            </a:r>
          </a:p>
        </p:txBody>
      </p:sp>
      <p:sp>
        <p:nvSpPr>
          <p:cNvPr id="4" name="">
            <a:extLst xmlns:a="http://schemas.openxmlformats.org/drawingml/2006/main">
              <a:ext uri="{FF2B5EF4-FFF2-40B4-BE49-F238E27FC236}">
                <a16:creationId xmlns:a16="http://schemas.microsoft.com/office/drawing/2014/main" id="{52F1FECA-C6B5-4DDE-9EB5-F69ED1F47BC7}"/>
              </a:ext>
            </a:extLst>
          </p:cNvPr>
          <p:cNvSpPr>
            <a:spLocks xmlns:a="http://schemas.openxmlformats.org/drawingml/2006/main" noGrp="1"/>
          </p:cNvSpPr>
          <p:nvPr/>
        </p:nvSpPr>
        <p:spPr>
          <a:xfrm xmlns:a="http://schemas.openxmlformats.org/drawingml/2006/main">
            <a:off x="571500" y="136207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Desain invoice mengikuti contoh invoice FD Culinary yang diberikan klien.</a:t>
            </a:r>
          </a:p>
        </p:txBody>
      </p:sp>
      <p:sp>
        <p:nvSpPr>
          <p:cNvPr id="5" name="">
            <a:extLst xmlns:a="http://schemas.openxmlformats.org/drawingml/2006/main">
              <a:ext uri="{FF2B5EF4-FFF2-40B4-BE49-F238E27FC236}">
                <a16:creationId xmlns:a16="http://schemas.microsoft.com/office/drawing/2014/main" id="{ACFDDFD9-3DFE-4192-A96A-86F9D87D0F1A}"/>
              </a:ext>
            </a:extLst>
          </p:cNvPr>
          <p:cNvSpPr>
            <a:spLocks xmlns:a="http://schemas.openxmlformats.org/drawingml/2006/main" noGrp="1"/>
          </p:cNvSpPr>
          <p:nvPr/>
        </p:nvSpPr>
        <p:spPr>
          <a:xfrm xmlns:a="http://schemas.openxmlformats.org/drawingml/2006/main">
            <a:off x="552450" y="1752600"/>
            <a:ext cx="1108710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59DE96A-F3AE-481F-B764-36DF3DF06016}"/>
              </a:ext>
            </a:extLst>
          </p:cNvPr>
          <p:cNvSpPr>
            <a:spLocks xmlns:a="http://schemas.openxmlformats.org/drawingml/2006/main" noGrp="1"/>
          </p:cNvSpPr>
          <p:nvPr/>
        </p:nvSpPr>
        <p:spPr>
          <a:xfrm xmlns:a="http://schemas.openxmlformats.org/drawingml/2006/main">
            <a:off x="552450" y="6448425"/>
            <a:ext cx="11087100" cy="952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78D2ACA-5D6D-4E44-86E2-3F5FE9CA7A3D}"/>
              </a:ext>
            </a:extLst>
          </p:cNvPr>
          <p:cNvSpPr>
            <a:spLocks xmlns:a="http://schemas.openxmlformats.org/drawingml/2006/main" noGrp="1"/>
          </p:cNvSpPr>
          <p:nvPr/>
        </p:nvSpPr>
        <p:spPr>
          <a:xfrm xmlns:a="http://schemas.openxmlformats.org/drawingml/2006/main">
            <a:off x="552450" y="65246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0">
                <a:solidFill>
                  <a:srgbClr val="72675F"/>
                </a:solidFill>
                <a:latin typeface="Arial"/>
                <a:ea typeface="Arial"/>
                <a:cs typeface="Arial"/>
              </a:defRPr>
            </a:defPPr>
          </a:lstStyle>
          <a:p xmlns:a="http://schemas.openxmlformats.org/drawingml/2006/main">
            <a:pPr algn="l">
              <a:defRPr sz="900" b="0">
                <a:solidFill>
                  <a:srgbClr val="72675F"/>
                </a:solidFill>
                <a:latin typeface="Arial"/>
                <a:ea typeface="Arial"/>
                <a:cs typeface="Arial"/>
              </a:defRPr>
            </a:pPr>
            <a:r>
              <a:rPr sz="900" b="0">
                <a:solidFill>
                  <a:srgbClr val="72675F"/>
                </a:solidFill>
                <a:latin typeface="Arial"/>
                <a:ea typeface="Arial"/>
                <a:cs typeface="Arial"/>
              </a:rPr>
              <a:t>Dokumentasi berdasarkan versi website saat ini</a:t>
            </a:r>
          </a:p>
        </p:txBody>
      </p:sp>
      <p:sp>
        <p:nvSpPr>
          <p:cNvPr id="8" name="">
            <a:extLst xmlns:a="http://schemas.openxmlformats.org/drawingml/2006/main">
              <a:ext uri="{FF2B5EF4-FFF2-40B4-BE49-F238E27FC236}">
                <a16:creationId xmlns:a16="http://schemas.microsoft.com/office/drawing/2014/main" id="{268E0DC4-3195-499D-8FB5-FC511A99744C}"/>
              </a:ext>
            </a:extLst>
          </p:cNvPr>
          <p:cNvSpPr>
            <a:spLocks xmlns:a="http://schemas.openxmlformats.org/drawingml/2006/main" noGrp="1"/>
          </p:cNvSpPr>
          <p:nvPr/>
        </p:nvSpPr>
        <p:spPr>
          <a:xfrm xmlns:a="http://schemas.openxmlformats.org/drawingml/2006/main">
            <a:off x="1118235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75" b="1">
                <a:solidFill>
                  <a:srgbClr val="3A2015"/>
                </a:solidFill>
                <a:latin typeface="Arial"/>
                <a:ea typeface="Arial"/>
                <a:cs typeface="Arial"/>
              </a:defRPr>
            </a:defPPr>
          </a:lstStyle>
          <a:p xmlns:a="http://schemas.openxmlformats.org/drawingml/2006/main">
            <a:pPr algn="r">
              <a:defRPr sz="975" b="1">
                <a:solidFill>
                  <a:srgbClr val="3A2015"/>
                </a:solidFill>
                <a:latin typeface="Arial"/>
                <a:ea typeface="Arial"/>
                <a:cs typeface="Arial"/>
              </a:defRPr>
            </a:pPr>
            <a:r>
              <a:rPr sz="975" b="1">
                <a:solidFill>
                  <a:srgbClr val="3A2015"/>
                </a:solidFill>
                <a:latin typeface="Arial"/>
                <a:ea typeface="Arial"/>
                <a:cs typeface="Arial"/>
              </a:rPr>
              <a:t>06</a:t>
            </a:r>
          </a:p>
        </p:txBody>
      </p:sp>
      <p:pic>
        <p:nvPicPr>
          <p:cNvPr id="9" name="">
            <a:extLst xmlns:a="http://schemas.openxmlformats.org/drawingml/2006/main">
              <a:ext uri="{FF2B5EF4-FFF2-40B4-BE49-F238E27FC236}">
                <a16:creationId xmlns:a16="http://schemas.microsoft.com/office/drawing/2014/main" id="{565E4CEF-C561-4CF6-B276-AD1CD77D100C}"/>
              </a:ext>
            </a:extLst>
          </p:cNvPr>
          <p:cNvPicPr>
            <a:picLocks xmlns:a="http://schemas.openxmlformats.org/drawingml/2006/main" noChangeAspect="1"/>
          </p:cNvPicPr>
          <p:nvPr/>
        </p:nvPicPr>
        <p:blipFill>
          <a:blip xmlns:r="http://schemas.openxmlformats.org/officeDocument/2006/relationships" xmlns:a="http://schemas.openxmlformats.org/drawingml/2006/main" r:embed="R0f6aaa2c351f4f03"/>
          <a:stretch xmlns:a="http://schemas.openxmlformats.org/drawingml/2006/main"/>
        </p:blipFill>
        <p:spPr>
          <a:xfrm xmlns:a="http://schemas.openxmlformats.org/drawingml/2006/main">
            <a:off x="666750" y="1847850"/>
            <a:ext cx="3048000" cy="45720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4A513CC3-6E68-4AB7-BFD2-F1B80566B356}"/>
              </a:ext>
            </a:extLst>
          </p:cNvPr>
          <p:cNvSpPr>
            <a:spLocks xmlns:a="http://schemas.openxmlformats.org/drawingml/2006/main" noGrp="1"/>
          </p:cNvSpPr>
          <p:nvPr/>
        </p:nvSpPr>
        <p:spPr>
          <a:xfrm xmlns:a="http://schemas.openxmlformats.org/drawingml/2006/main">
            <a:off x="4619625" y="2085975"/>
            <a:ext cx="361950" cy="361950"/>
          </a:xfrm>
          <a:prstGeom xmlns:a="http://schemas.openxmlformats.org/drawingml/2006/main" prst="ellipse">
            <a:avLst/>
          </a:prstGeom>
          <a:solidFill xmlns:a="http://schemas.openxmlformats.org/drawingml/2006/main">
            <a:srgbClr val="3A201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DB9C6E-A5D7-4128-95BA-005C94848371}"/>
              </a:ext>
            </a:extLst>
          </p:cNvPr>
          <p:cNvSpPr>
            <a:spLocks xmlns:a="http://schemas.openxmlformats.org/drawingml/2006/main" noGrp="1"/>
          </p:cNvSpPr>
          <p:nvPr/>
        </p:nvSpPr>
        <p:spPr>
          <a:xfrm xmlns:a="http://schemas.openxmlformats.org/drawingml/2006/main">
            <a:off x="4619625" y="211455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EFB"/>
                </a:solidFill>
                <a:latin typeface="Arial"/>
                <a:ea typeface="Arial"/>
                <a:cs typeface="Arial"/>
              </a:defRPr>
            </a:defPPr>
          </a:lstStyle>
          <a:p xmlns:a="http://schemas.openxmlformats.org/drawingml/2006/main">
            <a:pPr algn="ctr">
              <a:defRPr sz="1200" b="1">
                <a:solidFill>
                  <a:srgbClr val="FFFEFB"/>
                </a:solidFill>
                <a:latin typeface="Arial"/>
                <a:ea typeface="Arial"/>
                <a:cs typeface="Arial"/>
              </a:defRPr>
            </a:pPr>
            <a:r>
              <a:rPr sz="1200" b="1">
                <a:solidFill>
                  <a:srgbClr val="FFFEFB"/>
                </a:solidFill>
                <a:latin typeface="Arial"/>
                <a:ea typeface="Arial"/>
                <a:cs typeface="Arial"/>
              </a:rPr>
              <a:t>1</a:t>
            </a:r>
          </a:p>
        </p:txBody>
      </p:sp>
      <p:sp>
        <p:nvSpPr>
          <p:cNvPr id="12" name="">
            <a:extLst xmlns:a="http://schemas.openxmlformats.org/drawingml/2006/main">
              <a:ext uri="{FF2B5EF4-FFF2-40B4-BE49-F238E27FC236}">
                <a16:creationId xmlns:a16="http://schemas.microsoft.com/office/drawing/2014/main" id="{1CBE9F98-A629-49CB-98C8-31995F7874DF}"/>
              </a:ext>
            </a:extLst>
          </p:cNvPr>
          <p:cNvSpPr>
            <a:spLocks xmlns:a="http://schemas.openxmlformats.org/drawingml/2006/main" noGrp="1"/>
          </p:cNvSpPr>
          <p:nvPr/>
        </p:nvSpPr>
        <p:spPr>
          <a:xfrm xmlns:a="http://schemas.openxmlformats.org/drawingml/2006/main">
            <a:off x="5200650" y="205740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1">
                <a:solidFill>
                  <a:srgbClr val="281E18"/>
                </a:solidFill>
                <a:latin typeface="Georgia"/>
                <a:ea typeface="Georgia"/>
                <a:cs typeface="Georgia"/>
              </a:defRPr>
            </a:defPPr>
          </a:lstStyle>
          <a:p xmlns:a="http://schemas.openxmlformats.org/drawingml/2006/main">
            <a:pPr algn="l">
              <a:defRPr sz="1725" b="1">
                <a:solidFill>
                  <a:srgbClr val="281E18"/>
                </a:solidFill>
                <a:latin typeface="Georgia"/>
                <a:ea typeface="Georgia"/>
                <a:cs typeface="Georgia"/>
              </a:defRPr>
            </a:pPr>
            <a:r>
              <a:rPr sz="1725" b="1">
                <a:solidFill>
                  <a:srgbClr val="281E18"/>
                </a:solidFill>
                <a:latin typeface="Georgia"/>
                <a:ea typeface="Georgia"/>
                <a:cs typeface="Georgia"/>
              </a:rPr>
              <a:t>Draft</a:t>
            </a:r>
          </a:p>
        </p:txBody>
      </p:sp>
      <p:sp>
        <p:nvSpPr>
          <p:cNvPr id="13" name="">
            <a:extLst xmlns:a="http://schemas.openxmlformats.org/drawingml/2006/main">
              <a:ext uri="{FF2B5EF4-FFF2-40B4-BE49-F238E27FC236}">
                <a16:creationId xmlns:a16="http://schemas.microsoft.com/office/drawing/2014/main" id="{4F9B34B1-16E4-4655-88EE-E991A5A4B610}"/>
              </a:ext>
            </a:extLst>
          </p:cNvPr>
          <p:cNvSpPr>
            <a:spLocks xmlns:a="http://schemas.openxmlformats.org/drawingml/2006/main" noGrp="1"/>
          </p:cNvSpPr>
          <p:nvPr/>
        </p:nvSpPr>
        <p:spPr>
          <a:xfrm xmlns:a="http://schemas.openxmlformats.org/drawingml/2006/main">
            <a:off x="5200650" y="238125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Pratinjau bertanda Draft Invoice dan belum memiliki nomor.</a:t>
            </a:r>
          </a:p>
        </p:txBody>
      </p:sp>
      <p:sp>
        <p:nvSpPr>
          <p:cNvPr id="14" name="">
            <a:extLst xmlns:a="http://schemas.openxmlformats.org/drawingml/2006/main">
              <a:ext uri="{FF2B5EF4-FFF2-40B4-BE49-F238E27FC236}">
                <a16:creationId xmlns:a16="http://schemas.microsoft.com/office/drawing/2014/main" id="{678732FA-CA7E-4EA1-8171-5B4F562D3BB4}"/>
              </a:ext>
            </a:extLst>
          </p:cNvPr>
          <p:cNvSpPr>
            <a:spLocks xmlns:a="http://schemas.openxmlformats.org/drawingml/2006/main" noGrp="1"/>
          </p:cNvSpPr>
          <p:nvPr/>
        </p:nvSpPr>
        <p:spPr>
          <a:xfrm xmlns:a="http://schemas.openxmlformats.org/drawingml/2006/main">
            <a:off x="4619625" y="3067050"/>
            <a:ext cx="361950" cy="361950"/>
          </a:xfrm>
          <a:prstGeom xmlns:a="http://schemas.openxmlformats.org/drawingml/2006/main" prst="ellipse">
            <a:avLst/>
          </a:prstGeom>
          <a:solidFill xmlns:a="http://schemas.openxmlformats.org/drawingml/2006/main">
            <a:srgbClr val="3A201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0D6E7C1-5FF6-470E-A508-629188325C8A}"/>
              </a:ext>
            </a:extLst>
          </p:cNvPr>
          <p:cNvSpPr>
            <a:spLocks xmlns:a="http://schemas.openxmlformats.org/drawingml/2006/main" noGrp="1"/>
          </p:cNvSpPr>
          <p:nvPr/>
        </p:nvSpPr>
        <p:spPr>
          <a:xfrm xmlns:a="http://schemas.openxmlformats.org/drawingml/2006/main">
            <a:off x="4619625" y="309562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EFB"/>
                </a:solidFill>
                <a:latin typeface="Arial"/>
                <a:ea typeface="Arial"/>
                <a:cs typeface="Arial"/>
              </a:defRPr>
            </a:defPPr>
          </a:lstStyle>
          <a:p xmlns:a="http://schemas.openxmlformats.org/drawingml/2006/main">
            <a:pPr algn="ctr">
              <a:defRPr sz="1200" b="1">
                <a:solidFill>
                  <a:srgbClr val="FFFEFB"/>
                </a:solidFill>
                <a:latin typeface="Arial"/>
                <a:ea typeface="Arial"/>
                <a:cs typeface="Arial"/>
              </a:defRPr>
            </a:pPr>
            <a:r>
              <a:rPr sz="1200" b="1">
                <a:solidFill>
                  <a:srgbClr val="FFFEFB"/>
                </a:solidFill>
                <a:latin typeface="Arial"/>
                <a:ea typeface="Arial"/>
                <a:cs typeface="Arial"/>
              </a:rPr>
              <a:t>2</a:t>
            </a:r>
          </a:p>
        </p:txBody>
      </p:sp>
      <p:sp>
        <p:nvSpPr>
          <p:cNvPr id="16" name="">
            <a:extLst xmlns:a="http://schemas.openxmlformats.org/drawingml/2006/main">
              <a:ext uri="{FF2B5EF4-FFF2-40B4-BE49-F238E27FC236}">
                <a16:creationId xmlns:a16="http://schemas.microsoft.com/office/drawing/2014/main" id="{2B4A0245-DCCE-4B5F-9734-C581B5D4E7ED}"/>
              </a:ext>
            </a:extLst>
          </p:cNvPr>
          <p:cNvSpPr>
            <a:spLocks xmlns:a="http://schemas.openxmlformats.org/drawingml/2006/main" noGrp="1"/>
          </p:cNvSpPr>
          <p:nvPr/>
        </p:nvSpPr>
        <p:spPr>
          <a:xfrm xmlns:a="http://schemas.openxmlformats.org/drawingml/2006/main">
            <a:off x="5200650" y="30384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1">
                <a:solidFill>
                  <a:srgbClr val="281E18"/>
                </a:solidFill>
                <a:latin typeface="Georgia"/>
                <a:ea typeface="Georgia"/>
                <a:cs typeface="Georgia"/>
              </a:defRPr>
            </a:defPPr>
          </a:lstStyle>
          <a:p xmlns:a="http://schemas.openxmlformats.org/drawingml/2006/main">
            <a:pPr algn="l">
              <a:defRPr sz="1725" b="1">
                <a:solidFill>
                  <a:srgbClr val="281E18"/>
                </a:solidFill>
                <a:latin typeface="Georgia"/>
                <a:ea typeface="Georgia"/>
                <a:cs typeface="Georgia"/>
              </a:defRPr>
            </a:pPr>
            <a:r>
              <a:rPr sz="1725" b="1">
                <a:solidFill>
                  <a:srgbClr val="281E18"/>
                </a:solidFill>
                <a:latin typeface="Georgia"/>
                <a:ea typeface="Georgia"/>
                <a:cs typeface="Georgia"/>
              </a:rPr>
              <a:t>Periksa</a:t>
            </a:r>
          </a:p>
        </p:txBody>
      </p:sp>
      <p:sp>
        <p:nvSpPr>
          <p:cNvPr id="17" name="">
            <a:extLst xmlns:a="http://schemas.openxmlformats.org/drawingml/2006/main">
              <a:ext uri="{FF2B5EF4-FFF2-40B4-BE49-F238E27FC236}">
                <a16:creationId xmlns:a16="http://schemas.microsoft.com/office/drawing/2014/main" id="{9758209B-E861-434B-9140-1B02FA3E0086}"/>
              </a:ext>
            </a:extLst>
          </p:cNvPr>
          <p:cNvSpPr>
            <a:spLocks xmlns:a="http://schemas.openxmlformats.org/drawingml/2006/main" noGrp="1"/>
          </p:cNvSpPr>
          <p:nvPr/>
        </p:nvSpPr>
        <p:spPr>
          <a:xfrm xmlns:a="http://schemas.openxmlformats.org/drawingml/2006/main">
            <a:off x="5200650" y="3362325"/>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Pastikan produk, ukuran, jumlah, harga, dan total sudah benar.</a:t>
            </a:r>
          </a:p>
        </p:txBody>
      </p:sp>
      <p:sp>
        <p:nvSpPr>
          <p:cNvPr id="18" name="">
            <a:extLst xmlns:a="http://schemas.openxmlformats.org/drawingml/2006/main">
              <a:ext uri="{FF2B5EF4-FFF2-40B4-BE49-F238E27FC236}">
                <a16:creationId xmlns:a16="http://schemas.microsoft.com/office/drawing/2014/main" id="{F6F9911B-E720-48E3-ACB4-9D7022CCD588}"/>
              </a:ext>
            </a:extLst>
          </p:cNvPr>
          <p:cNvSpPr>
            <a:spLocks xmlns:a="http://schemas.openxmlformats.org/drawingml/2006/main" noGrp="1"/>
          </p:cNvSpPr>
          <p:nvPr/>
        </p:nvSpPr>
        <p:spPr>
          <a:xfrm xmlns:a="http://schemas.openxmlformats.org/drawingml/2006/main">
            <a:off x="4619625" y="4048125"/>
            <a:ext cx="361950" cy="361950"/>
          </a:xfrm>
          <a:prstGeom xmlns:a="http://schemas.openxmlformats.org/drawingml/2006/main" prst="ellipse">
            <a:avLst/>
          </a:prstGeom>
          <a:solidFill xmlns:a="http://schemas.openxmlformats.org/drawingml/2006/main">
            <a:srgbClr val="3A2015"/>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65D403A-ED52-4FE1-9FAA-3E717E40EAF9}"/>
              </a:ext>
            </a:extLst>
          </p:cNvPr>
          <p:cNvSpPr>
            <a:spLocks xmlns:a="http://schemas.openxmlformats.org/drawingml/2006/main" noGrp="1"/>
          </p:cNvSpPr>
          <p:nvPr/>
        </p:nvSpPr>
        <p:spPr>
          <a:xfrm xmlns:a="http://schemas.openxmlformats.org/drawingml/2006/main">
            <a:off x="4619625" y="4076700"/>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EFB"/>
                </a:solidFill>
                <a:latin typeface="Arial"/>
                <a:ea typeface="Arial"/>
                <a:cs typeface="Arial"/>
              </a:defRPr>
            </a:defPPr>
          </a:lstStyle>
          <a:p xmlns:a="http://schemas.openxmlformats.org/drawingml/2006/main">
            <a:pPr algn="ctr">
              <a:defRPr sz="1200" b="1">
                <a:solidFill>
                  <a:srgbClr val="FFFEFB"/>
                </a:solidFill>
                <a:latin typeface="Arial"/>
                <a:ea typeface="Arial"/>
                <a:cs typeface="Arial"/>
              </a:defRPr>
            </a:pPr>
            <a:r>
              <a:rPr sz="1200" b="1">
                <a:solidFill>
                  <a:srgbClr val="FFFEFB"/>
                </a:solidFill>
                <a:latin typeface="Arial"/>
                <a:ea typeface="Arial"/>
                <a:cs typeface="Arial"/>
              </a:rPr>
              <a:t>3</a:t>
            </a:r>
          </a:p>
        </p:txBody>
      </p:sp>
      <p:sp>
        <p:nvSpPr>
          <p:cNvPr id="20" name="">
            <a:extLst xmlns:a="http://schemas.openxmlformats.org/drawingml/2006/main">
              <a:ext uri="{FF2B5EF4-FFF2-40B4-BE49-F238E27FC236}">
                <a16:creationId xmlns:a16="http://schemas.microsoft.com/office/drawing/2014/main" id="{5887975C-25D5-4D4D-B22C-7430B72E8BB0}"/>
              </a:ext>
            </a:extLst>
          </p:cNvPr>
          <p:cNvSpPr>
            <a:spLocks xmlns:a="http://schemas.openxmlformats.org/drawingml/2006/main" noGrp="1"/>
          </p:cNvSpPr>
          <p:nvPr/>
        </p:nvSpPr>
        <p:spPr>
          <a:xfrm xmlns:a="http://schemas.openxmlformats.org/drawingml/2006/main">
            <a:off x="5200650" y="4019550"/>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1">
                <a:solidFill>
                  <a:srgbClr val="281E18"/>
                </a:solidFill>
                <a:latin typeface="Georgia"/>
                <a:ea typeface="Georgia"/>
                <a:cs typeface="Georgia"/>
              </a:defRPr>
            </a:defPPr>
          </a:lstStyle>
          <a:p xmlns:a="http://schemas.openxmlformats.org/drawingml/2006/main">
            <a:pPr algn="l">
              <a:defRPr sz="1725" b="1">
                <a:solidFill>
                  <a:srgbClr val="281E18"/>
                </a:solidFill>
                <a:latin typeface="Georgia"/>
                <a:ea typeface="Georgia"/>
                <a:cs typeface="Georgia"/>
              </a:defRPr>
            </a:pPr>
            <a:r>
              <a:rPr sz="1725" b="1">
                <a:solidFill>
                  <a:srgbClr val="281E18"/>
                </a:solidFill>
                <a:latin typeface="Georgia"/>
                <a:ea typeface="Georgia"/>
                <a:cs typeface="Georgia"/>
              </a:rPr>
              <a:t>Konfirmasi</a:t>
            </a:r>
          </a:p>
        </p:txBody>
      </p:sp>
      <p:sp>
        <p:nvSpPr>
          <p:cNvPr id="21" name="">
            <a:extLst xmlns:a="http://schemas.openxmlformats.org/drawingml/2006/main">
              <a:ext uri="{FF2B5EF4-FFF2-40B4-BE49-F238E27FC236}">
                <a16:creationId xmlns:a16="http://schemas.microsoft.com/office/drawing/2014/main" id="{749DC32F-A36E-4CA4-B47F-E52928492377}"/>
              </a:ext>
            </a:extLst>
          </p:cNvPr>
          <p:cNvSpPr>
            <a:spLocks xmlns:a="http://schemas.openxmlformats.org/drawingml/2006/main" noGrp="1"/>
          </p:cNvSpPr>
          <p:nvPr/>
        </p:nvSpPr>
        <p:spPr>
          <a:xfrm xmlns:a="http://schemas.openxmlformats.org/drawingml/2006/main">
            <a:off x="5200650" y="4343400"/>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Unduh invoice PNG final dengan nomor FD-DDMMYY-HHMM.</a:t>
            </a:r>
          </a:p>
        </p:txBody>
      </p:sp>
      <p:sp>
        <p:nvSpPr>
          <p:cNvPr id="22" name="">
            <a:extLst xmlns:a="http://schemas.openxmlformats.org/drawingml/2006/main">
              <a:ext uri="{FF2B5EF4-FFF2-40B4-BE49-F238E27FC236}">
                <a16:creationId xmlns:a16="http://schemas.microsoft.com/office/drawing/2014/main" id="{8978AE1B-F320-40B6-831B-CD76FB0EFC28}"/>
              </a:ext>
            </a:extLst>
          </p:cNvPr>
          <p:cNvSpPr>
            <a:spLocks xmlns:a="http://schemas.openxmlformats.org/drawingml/2006/main" noGrp="1"/>
          </p:cNvSpPr>
          <p:nvPr/>
        </p:nvSpPr>
        <p:spPr>
          <a:xfrm xmlns:a="http://schemas.openxmlformats.org/drawingml/2006/main">
            <a:off x="4619625" y="5029200"/>
            <a:ext cx="361950" cy="361950"/>
          </a:xfrm>
          <a:prstGeom xmlns:a="http://schemas.openxmlformats.org/drawingml/2006/main" prst="ellipse">
            <a:avLst/>
          </a:prstGeom>
          <a:solidFill xmlns:a="http://schemas.openxmlformats.org/drawingml/2006/main">
            <a:srgbClr val="526747"/>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45BA65A9-7CB5-4423-AC52-21BC19963E1B}"/>
              </a:ext>
            </a:extLst>
          </p:cNvPr>
          <p:cNvSpPr>
            <a:spLocks xmlns:a="http://schemas.openxmlformats.org/drawingml/2006/main" noGrp="1"/>
          </p:cNvSpPr>
          <p:nvPr/>
        </p:nvSpPr>
        <p:spPr>
          <a:xfrm xmlns:a="http://schemas.openxmlformats.org/drawingml/2006/main">
            <a:off x="4619625" y="5057775"/>
            <a:ext cx="361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200" b="1">
                <a:solidFill>
                  <a:srgbClr val="FFFEFB"/>
                </a:solidFill>
                <a:latin typeface="Arial"/>
                <a:ea typeface="Arial"/>
                <a:cs typeface="Arial"/>
              </a:defRPr>
            </a:defPPr>
          </a:lstStyle>
          <a:p xmlns:a="http://schemas.openxmlformats.org/drawingml/2006/main">
            <a:pPr algn="ctr">
              <a:defRPr sz="1200" b="1">
                <a:solidFill>
                  <a:srgbClr val="FFFEFB"/>
                </a:solidFill>
                <a:latin typeface="Arial"/>
                <a:ea typeface="Arial"/>
                <a:cs typeface="Arial"/>
              </a:defRPr>
            </a:pPr>
            <a:r>
              <a:rPr sz="1200" b="1">
                <a:solidFill>
                  <a:srgbClr val="FFFEFB"/>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BAABF71B-47F9-4220-AC19-0FFC66160B3C}"/>
              </a:ext>
            </a:extLst>
          </p:cNvPr>
          <p:cNvSpPr>
            <a:spLocks xmlns:a="http://schemas.openxmlformats.org/drawingml/2006/main" noGrp="1"/>
          </p:cNvSpPr>
          <p:nvPr/>
        </p:nvSpPr>
        <p:spPr>
          <a:xfrm xmlns:a="http://schemas.openxmlformats.org/drawingml/2006/main">
            <a:off x="5200650" y="500062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1">
                <a:solidFill>
                  <a:srgbClr val="281E18"/>
                </a:solidFill>
                <a:latin typeface="Georgia"/>
                <a:ea typeface="Georgia"/>
                <a:cs typeface="Georgia"/>
              </a:defRPr>
            </a:defPPr>
          </a:lstStyle>
          <a:p xmlns:a="http://schemas.openxmlformats.org/drawingml/2006/main">
            <a:pPr algn="l">
              <a:defRPr sz="1725" b="1">
                <a:solidFill>
                  <a:srgbClr val="281E18"/>
                </a:solidFill>
                <a:latin typeface="Georgia"/>
                <a:ea typeface="Georgia"/>
                <a:cs typeface="Georgia"/>
              </a:defRPr>
            </a:pPr>
            <a:r>
              <a:rPr sz="1725" b="1">
                <a:solidFill>
                  <a:srgbClr val="281E18"/>
                </a:solidFill>
                <a:latin typeface="Georgia"/>
                <a:ea typeface="Georgia"/>
                <a:cs typeface="Georgia"/>
              </a:rPr>
              <a:t>Selesai</a:t>
            </a:r>
          </a:p>
        </p:txBody>
      </p:sp>
      <p:sp>
        <p:nvSpPr>
          <p:cNvPr id="25" name="">
            <a:extLst xmlns:a="http://schemas.openxmlformats.org/drawingml/2006/main">
              <a:ext uri="{FF2B5EF4-FFF2-40B4-BE49-F238E27FC236}">
                <a16:creationId xmlns:a16="http://schemas.microsoft.com/office/drawing/2014/main" id="{2BEDEEBD-4860-4ED9-BEDA-035A03E3989E}"/>
              </a:ext>
            </a:extLst>
          </p:cNvPr>
          <p:cNvSpPr>
            <a:spLocks xmlns:a="http://schemas.openxmlformats.org/drawingml/2006/main" noGrp="1"/>
          </p:cNvSpPr>
          <p:nvPr/>
        </p:nvSpPr>
        <p:spPr>
          <a:xfrm xmlns:a="http://schemas.openxmlformats.org/drawingml/2006/main">
            <a:off x="5200650" y="5324475"/>
            <a:ext cx="5715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Setelah terunduh, keranjang kembali kosong. Simpan PNG untuk WhatsApp.</a:t>
            </a:r>
          </a:p>
        </p:txBody>
      </p:sp>
    </p:spTree>
    <p:extLst>
      <p:ext uri="{BB962C8B-B14F-4D97-AF65-F5344CB8AC3E}">
        <p14:creationId xmlns:p14="http://schemas.microsoft.com/office/powerpoint/2010/main" val="331919232"/>
      </p:ext>
    </p:extLst>
  </p:cSld>
</p:sld>
</file>

<file path=ppt/slides/slide7.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B2DF52C-5155-42E3-A482-5ABA34E6CE6D}"/>
              </a:ext>
            </a:extLst>
          </p:cNvPr>
          <p:cNvSpPr>
            <a:spLocks xmlns:a="http://schemas.openxmlformats.org/drawingml/2006/main" noGrp="1"/>
          </p:cNvSpPr>
          <p:nvPr/>
        </p:nvSpPr>
        <p:spPr>
          <a:xfrm xmlns:a="http://schemas.openxmlformats.org/drawingml/2006/main">
            <a:off x="552450" y="209550"/>
            <a:ext cx="542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3A2015"/>
                </a:solidFill>
                <a:latin typeface="Arial"/>
                <a:ea typeface="Arial"/>
                <a:cs typeface="Arial"/>
              </a:defRPr>
            </a:defPPr>
          </a:lstStyle>
          <a:p xmlns:a="http://schemas.openxmlformats.org/drawingml/2006/main">
            <a:pPr algn="l">
              <a:defRPr sz="1050" b="1">
                <a:solidFill>
                  <a:srgbClr val="3A2015"/>
                </a:solidFill>
                <a:latin typeface="Arial"/>
                <a:ea typeface="Arial"/>
                <a:cs typeface="Arial"/>
              </a:defRPr>
            </a:pPr>
            <a:r>
              <a:rPr sz="1050" b="1">
                <a:solidFill>
                  <a:srgbClr val="3A2015"/>
                </a:solidFill>
                <a:latin typeface="Arial"/>
                <a:ea typeface="Arial"/>
                <a:cs typeface="Arial"/>
              </a:rPr>
              <a:t>FD CULINARY  /  DOKUMENTASI WEBSITE</a:t>
            </a:r>
          </a:p>
        </p:txBody>
      </p:sp>
      <p:sp>
        <p:nvSpPr>
          <p:cNvPr id="2" name="">
            <a:extLst xmlns:a="http://schemas.openxmlformats.org/drawingml/2006/main">
              <a:ext uri="{FF2B5EF4-FFF2-40B4-BE49-F238E27FC236}">
                <a16:creationId xmlns:a16="http://schemas.microsoft.com/office/drawing/2014/main" id="{1C62F42D-1BD0-4FE3-B445-8415615AC8FC}"/>
              </a:ext>
            </a:extLst>
          </p:cNvPr>
          <p:cNvSpPr>
            <a:spLocks xmlns:a="http://schemas.openxmlformats.org/drawingml/2006/main" noGrp="1"/>
          </p:cNvSpPr>
          <p:nvPr/>
        </p:nvSpPr>
        <p:spPr>
          <a:xfrm xmlns:a="http://schemas.openxmlformats.org/drawingml/2006/main">
            <a:off x="552450" y="533400"/>
            <a:ext cx="1066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LANJUTAN PEMESANAN</a:t>
            </a:r>
          </a:p>
        </p:txBody>
      </p:sp>
      <p:sp>
        <p:nvSpPr>
          <p:cNvPr id="3" name="">
            <a:extLst xmlns:a="http://schemas.openxmlformats.org/drawingml/2006/main">
              <a:ext uri="{FF2B5EF4-FFF2-40B4-BE49-F238E27FC236}">
                <a16:creationId xmlns:a16="http://schemas.microsoft.com/office/drawing/2014/main" id="{8D3F1DAD-6FE5-4427-9183-E20703BE451E}"/>
              </a:ext>
            </a:extLst>
          </p:cNvPr>
          <p:cNvSpPr>
            <a:spLocks xmlns:a="http://schemas.openxmlformats.org/drawingml/2006/main" noGrp="1"/>
          </p:cNvSpPr>
          <p:nvPr/>
        </p:nvSpPr>
        <p:spPr>
          <a:xfrm xmlns:a="http://schemas.openxmlformats.org/drawingml/2006/main">
            <a:off x="552450" y="8001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3150" b="1">
                <a:solidFill>
                  <a:srgbClr val="281E18"/>
                </a:solidFill>
                <a:latin typeface="Georgia"/>
                <a:ea typeface="Georgia"/>
                <a:cs typeface="Georgia"/>
              </a:defRPr>
            </a:defPPr>
          </a:lstStyle>
          <a:p xmlns:a="http://schemas.openxmlformats.org/drawingml/2006/main">
            <a:pPr algn="l">
              <a:defRPr sz="3150" b="1">
                <a:solidFill>
                  <a:srgbClr val="281E18"/>
                </a:solidFill>
                <a:latin typeface="Georgia"/>
                <a:ea typeface="Georgia"/>
                <a:cs typeface="Georgia"/>
              </a:defRPr>
            </a:pPr>
            <a:r>
              <a:rPr sz="3150" b="1">
                <a:solidFill>
                  <a:srgbClr val="281E18"/>
                </a:solidFill>
                <a:latin typeface="Georgia"/>
                <a:ea typeface="Georgia"/>
                <a:cs typeface="Georgia"/>
              </a:rPr>
              <a:t>Invoice dibawa ke chat WhatsApp</a:t>
            </a:r>
          </a:p>
        </p:txBody>
      </p:sp>
      <p:sp>
        <p:nvSpPr>
          <p:cNvPr id="4" name="">
            <a:extLst xmlns:a="http://schemas.openxmlformats.org/drawingml/2006/main">
              <a:ext uri="{FF2B5EF4-FFF2-40B4-BE49-F238E27FC236}">
                <a16:creationId xmlns:a16="http://schemas.microsoft.com/office/drawing/2014/main" id="{26628DE6-63C1-4055-B802-5DD27708967C}"/>
              </a:ext>
            </a:extLst>
          </p:cNvPr>
          <p:cNvSpPr>
            <a:spLocks xmlns:a="http://schemas.openxmlformats.org/drawingml/2006/main" noGrp="1"/>
          </p:cNvSpPr>
          <p:nvPr/>
        </p:nvSpPr>
        <p:spPr>
          <a:xfrm xmlns:a="http://schemas.openxmlformats.org/drawingml/2006/main">
            <a:off x="571500" y="136207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Website menyiapkan pesanan. Percakapan dan konfirmasi akhir berlangsung bersama owner.</a:t>
            </a:r>
          </a:p>
        </p:txBody>
      </p:sp>
      <p:sp>
        <p:nvSpPr>
          <p:cNvPr id="5" name="">
            <a:extLst xmlns:a="http://schemas.openxmlformats.org/drawingml/2006/main">
              <a:ext uri="{FF2B5EF4-FFF2-40B4-BE49-F238E27FC236}">
                <a16:creationId xmlns:a16="http://schemas.microsoft.com/office/drawing/2014/main" id="{91C97BF0-BC0E-4326-9971-1517404E9C90}"/>
              </a:ext>
            </a:extLst>
          </p:cNvPr>
          <p:cNvSpPr>
            <a:spLocks xmlns:a="http://schemas.openxmlformats.org/drawingml/2006/main" noGrp="1"/>
          </p:cNvSpPr>
          <p:nvPr/>
        </p:nvSpPr>
        <p:spPr>
          <a:xfrm xmlns:a="http://schemas.openxmlformats.org/drawingml/2006/main">
            <a:off x="552450" y="1752600"/>
            <a:ext cx="1108710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7B7880-2F04-4D1B-8E8E-8CC153F2BF70}"/>
              </a:ext>
            </a:extLst>
          </p:cNvPr>
          <p:cNvSpPr>
            <a:spLocks xmlns:a="http://schemas.openxmlformats.org/drawingml/2006/main" noGrp="1"/>
          </p:cNvSpPr>
          <p:nvPr/>
        </p:nvSpPr>
        <p:spPr>
          <a:xfrm xmlns:a="http://schemas.openxmlformats.org/drawingml/2006/main">
            <a:off x="552450" y="6448425"/>
            <a:ext cx="11087100" cy="952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392A862-6B06-4273-849C-413070E5F338}"/>
              </a:ext>
            </a:extLst>
          </p:cNvPr>
          <p:cNvSpPr>
            <a:spLocks xmlns:a="http://schemas.openxmlformats.org/drawingml/2006/main" noGrp="1"/>
          </p:cNvSpPr>
          <p:nvPr/>
        </p:nvSpPr>
        <p:spPr>
          <a:xfrm xmlns:a="http://schemas.openxmlformats.org/drawingml/2006/main">
            <a:off x="552450" y="65246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0">
                <a:solidFill>
                  <a:srgbClr val="72675F"/>
                </a:solidFill>
                <a:latin typeface="Arial"/>
                <a:ea typeface="Arial"/>
                <a:cs typeface="Arial"/>
              </a:defRPr>
            </a:defPPr>
          </a:lstStyle>
          <a:p xmlns:a="http://schemas.openxmlformats.org/drawingml/2006/main">
            <a:pPr algn="l">
              <a:defRPr sz="900" b="0">
                <a:solidFill>
                  <a:srgbClr val="72675F"/>
                </a:solidFill>
                <a:latin typeface="Arial"/>
                <a:ea typeface="Arial"/>
                <a:cs typeface="Arial"/>
              </a:defRPr>
            </a:pPr>
            <a:r>
              <a:rPr sz="900" b="0">
                <a:solidFill>
                  <a:srgbClr val="72675F"/>
                </a:solidFill>
                <a:latin typeface="Arial"/>
                <a:ea typeface="Arial"/>
                <a:cs typeface="Arial"/>
              </a:rPr>
              <a:t>Dokumentasi berdasarkan versi website saat ini</a:t>
            </a:r>
          </a:p>
        </p:txBody>
      </p:sp>
      <p:sp>
        <p:nvSpPr>
          <p:cNvPr id="8" name="">
            <a:extLst xmlns:a="http://schemas.openxmlformats.org/drawingml/2006/main">
              <a:ext uri="{FF2B5EF4-FFF2-40B4-BE49-F238E27FC236}">
                <a16:creationId xmlns:a16="http://schemas.microsoft.com/office/drawing/2014/main" id="{633E83DA-DC94-4C33-8FFF-C2BFDCAEFBDE}"/>
              </a:ext>
            </a:extLst>
          </p:cNvPr>
          <p:cNvSpPr>
            <a:spLocks xmlns:a="http://schemas.openxmlformats.org/drawingml/2006/main" noGrp="1"/>
          </p:cNvSpPr>
          <p:nvPr/>
        </p:nvSpPr>
        <p:spPr>
          <a:xfrm xmlns:a="http://schemas.openxmlformats.org/drawingml/2006/main">
            <a:off x="1118235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75" b="1">
                <a:solidFill>
                  <a:srgbClr val="3A2015"/>
                </a:solidFill>
                <a:latin typeface="Arial"/>
                <a:ea typeface="Arial"/>
                <a:cs typeface="Arial"/>
              </a:defRPr>
            </a:defPPr>
          </a:lstStyle>
          <a:p xmlns:a="http://schemas.openxmlformats.org/drawingml/2006/main">
            <a:pPr algn="r">
              <a:defRPr sz="975" b="1">
                <a:solidFill>
                  <a:srgbClr val="3A2015"/>
                </a:solidFill>
                <a:latin typeface="Arial"/>
                <a:ea typeface="Arial"/>
                <a:cs typeface="Arial"/>
              </a:defRPr>
            </a:pPr>
            <a:r>
              <a:rPr sz="975" b="1">
                <a:solidFill>
                  <a:srgbClr val="3A2015"/>
                </a:solidFill>
                <a:latin typeface="Arial"/>
                <a:ea typeface="Arial"/>
                <a:cs typeface="Arial"/>
              </a:rPr>
              <a:t>07</a:t>
            </a:r>
          </a:p>
        </p:txBody>
      </p:sp>
      <p:sp>
        <p:nvSpPr>
          <p:cNvPr id="9" name="">
            <a:extLst xmlns:a="http://schemas.openxmlformats.org/drawingml/2006/main">
              <a:ext uri="{FF2B5EF4-FFF2-40B4-BE49-F238E27FC236}">
                <a16:creationId xmlns:a16="http://schemas.microsoft.com/office/drawing/2014/main" id="{CBFA85D7-A6F4-4CD2-97E6-4B22BF374D88}"/>
              </a:ext>
            </a:extLst>
          </p:cNvPr>
          <p:cNvSpPr>
            <a:spLocks xmlns:a="http://schemas.openxmlformats.org/drawingml/2006/main" noGrp="1"/>
          </p:cNvSpPr>
          <p:nvPr/>
        </p:nvSpPr>
        <p:spPr>
          <a:xfrm xmlns:a="http://schemas.openxmlformats.org/drawingml/2006/main">
            <a:off x="628650" y="2085975"/>
            <a:ext cx="4829175" cy="990600"/>
          </a:xfrm>
          <a:prstGeom xmlns:a="http://schemas.openxmlformats.org/drawingml/2006/main" prst="roundRect">
            <a:avLst>
              <a:gd name="adj" fmla="val 13462"/>
            </a:avLst>
          </a:prstGeom>
          <a:solidFill xmlns:a="http://schemas.openxmlformats.org/drawingml/2006/main">
            <a:srgbClr val="EFE4D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4E9FC59-9FF7-4A9B-9A37-DCC8D17CC816}"/>
              </a:ext>
            </a:extLst>
          </p:cNvPr>
          <p:cNvSpPr>
            <a:spLocks xmlns:a="http://schemas.openxmlformats.org/drawingml/2006/main" noGrp="1"/>
          </p:cNvSpPr>
          <p:nvPr/>
        </p:nvSpPr>
        <p:spPr>
          <a:xfrm xmlns:a="http://schemas.openxmlformats.org/drawingml/2006/main">
            <a:off x="819150" y="2219325"/>
            <a:ext cx="4286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PESAN AWAL</a:t>
            </a:r>
          </a:p>
        </p:txBody>
      </p:sp>
      <p:sp>
        <p:nvSpPr>
          <p:cNvPr id="11" name="">
            <a:extLst xmlns:a="http://schemas.openxmlformats.org/drawingml/2006/main">
              <a:ext uri="{FF2B5EF4-FFF2-40B4-BE49-F238E27FC236}">
                <a16:creationId xmlns:a16="http://schemas.microsoft.com/office/drawing/2014/main" id="{44C0B309-E36B-4220-88C9-187F808AD1C9}"/>
              </a:ext>
            </a:extLst>
          </p:cNvPr>
          <p:cNvSpPr>
            <a:spLocks xmlns:a="http://schemas.openxmlformats.org/drawingml/2006/main" noGrp="1"/>
          </p:cNvSpPr>
          <p:nvPr/>
        </p:nvSpPr>
        <p:spPr>
          <a:xfrm xmlns:a="http://schemas.openxmlformats.org/drawingml/2006/main">
            <a:off x="819150" y="2505075"/>
            <a:ext cx="428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4728"/>
          </a:bodyPr>
          <a:lstStyle xmlns:a="http://schemas.openxmlformats.org/drawingml/2006/main">
            <a:defPPr algn="l">
              <a:defRPr sz="1725" b="1">
                <a:solidFill>
                  <a:srgbClr val="3A2015"/>
                </a:solidFill>
                <a:latin typeface="Georgia"/>
                <a:ea typeface="Georgia"/>
                <a:cs typeface="Georgia"/>
              </a:defRPr>
            </a:defPPr>
          </a:lstStyle>
          <a:p xmlns:a="http://schemas.openxmlformats.org/drawingml/2006/main">
            <a:pPr algn="l">
              <a:defRPr sz="1725" b="1">
                <a:solidFill>
                  <a:srgbClr val="3A2015"/>
                </a:solidFill>
                <a:latin typeface="Georgia"/>
                <a:ea typeface="Georgia"/>
                <a:cs typeface="Georgia"/>
              </a:defRPr>
            </a:pPr>
            <a:r>
              <a:rPr sz="1725" b="1">
                <a:solidFill>
                  <a:srgbClr val="3A2015"/>
                </a:solidFill>
                <a:latin typeface="Georgia"/>
                <a:ea typeface="Georgia"/>
                <a:cs typeface="Georgia"/>
              </a:rPr>
              <a:t>“Hay Kak FD Kulinary, aku ingin pesan”</a:t>
            </a:r>
          </a:p>
        </p:txBody>
      </p:sp>
      <p:sp>
        <p:nvSpPr>
          <p:cNvPr id="12" name="">
            <a:extLst xmlns:a="http://schemas.openxmlformats.org/drawingml/2006/main">
              <a:ext uri="{FF2B5EF4-FFF2-40B4-BE49-F238E27FC236}">
                <a16:creationId xmlns:a16="http://schemas.microsoft.com/office/drawing/2014/main" id="{BAD2CEFD-70B0-4F7C-8961-98FD5F4844BF}"/>
              </a:ext>
            </a:extLst>
          </p:cNvPr>
          <p:cNvSpPr>
            <a:spLocks xmlns:a="http://schemas.openxmlformats.org/drawingml/2006/main" noGrp="1"/>
          </p:cNvSpPr>
          <p:nvPr/>
        </p:nvSpPr>
        <p:spPr>
          <a:xfrm xmlns:a="http://schemas.openxmlformats.org/drawingml/2006/main">
            <a:off x="762000" y="3486150"/>
            <a:ext cx="85725" cy="85725"/>
          </a:xfrm>
          <a:prstGeom xmlns:a="http://schemas.openxmlformats.org/drawingml/2006/main" prst="ellipse">
            <a:avLst/>
          </a:prstGeom>
          <a:solidFill xmlns:a="http://schemas.openxmlformats.org/drawingml/2006/main">
            <a:srgbClr val="B18A48"/>
          </a:solidFill>
          <a:ln xmlns:a="http://schemas.openxmlformats.org/drawingml/2006/main" w="0">
            <a:solidFill>
              <a:srgbClr val="B18A48"/>
            </a:solidFill>
          </a:ln>
        </p:spPr>
      </p:sp>
      <p:sp>
        <p:nvSpPr>
          <p:cNvPr id="13" name="">
            <a:extLst xmlns:a="http://schemas.openxmlformats.org/drawingml/2006/main">
              <a:ext uri="{FF2B5EF4-FFF2-40B4-BE49-F238E27FC236}">
                <a16:creationId xmlns:a16="http://schemas.microsoft.com/office/drawing/2014/main" id="{5CBC4D71-726D-4ABB-8B51-3B854A4560F8}"/>
              </a:ext>
            </a:extLst>
          </p:cNvPr>
          <p:cNvSpPr>
            <a:spLocks xmlns:a="http://schemas.openxmlformats.org/drawingml/2006/main" noGrp="1"/>
          </p:cNvSpPr>
          <p:nvPr/>
        </p:nvSpPr>
        <p:spPr>
          <a:xfrm xmlns:a="http://schemas.openxmlformats.org/drawingml/2006/main">
            <a:off x="971550" y="3381375"/>
            <a:ext cx="4552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0">
                <a:solidFill>
                  <a:srgbClr val="281E18"/>
                </a:solidFill>
                <a:latin typeface="Arial"/>
                <a:ea typeface="Arial"/>
                <a:cs typeface="Arial"/>
              </a:defRPr>
            </a:defPPr>
          </a:lstStyle>
          <a:p xmlns:a="http://schemas.openxmlformats.org/drawingml/2006/main">
            <a:pPr algn="l">
              <a:defRPr sz="1425" b="0">
                <a:solidFill>
                  <a:srgbClr val="281E18"/>
                </a:solidFill>
                <a:latin typeface="Arial"/>
                <a:ea typeface="Arial"/>
                <a:cs typeface="Arial"/>
              </a:defRPr>
            </a:pPr>
            <a:r>
              <a:rPr sz="1425" b="0">
                <a:solidFill>
                  <a:srgbClr val="281E18"/>
                </a:solidFill>
                <a:latin typeface="Arial"/>
                <a:ea typeface="Arial"/>
                <a:cs typeface="Arial"/>
              </a:rPr>
              <a:t>Pilih Lanjut ke WhatsApp setelah invoice terunduh.</a:t>
            </a:r>
          </a:p>
        </p:txBody>
      </p:sp>
      <p:sp>
        <p:nvSpPr>
          <p:cNvPr id="14" name="">
            <a:extLst xmlns:a="http://schemas.openxmlformats.org/drawingml/2006/main">
              <a:ext uri="{FF2B5EF4-FFF2-40B4-BE49-F238E27FC236}">
                <a16:creationId xmlns:a16="http://schemas.microsoft.com/office/drawing/2014/main" id="{5ABE84FC-021F-4F66-A9E2-8C9F7CF1374A}"/>
              </a:ext>
            </a:extLst>
          </p:cNvPr>
          <p:cNvSpPr>
            <a:spLocks xmlns:a="http://schemas.openxmlformats.org/drawingml/2006/main" noGrp="1"/>
          </p:cNvSpPr>
          <p:nvPr/>
        </p:nvSpPr>
        <p:spPr>
          <a:xfrm xmlns:a="http://schemas.openxmlformats.org/drawingml/2006/main">
            <a:off x="762000" y="4057650"/>
            <a:ext cx="85725" cy="85725"/>
          </a:xfrm>
          <a:prstGeom xmlns:a="http://schemas.openxmlformats.org/drawingml/2006/main" prst="ellipse">
            <a:avLst/>
          </a:prstGeom>
          <a:solidFill xmlns:a="http://schemas.openxmlformats.org/drawingml/2006/main">
            <a:srgbClr val="B18A48"/>
          </a:solidFill>
          <a:ln xmlns:a="http://schemas.openxmlformats.org/drawingml/2006/main" w="0">
            <a:solidFill>
              <a:srgbClr val="B18A48"/>
            </a:solidFill>
          </a:ln>
        </p:spPr>
      </p:sp>
      <p:sp>
        <p:nvSpPr>
          <p:cNvPr id="15" name="">
            <a:extLst xmlns:a="http://schemas.openxmlformats.org/drawingml/2006/main">
              <a:ext uri="{FF2B5EF4-FFF2-40B4-BE49-F238E27FC236}">
                <a16:creationId xmlns:a16="http://schemas.microsoft.com/office/drawing/2014/main" id="{220EBC5A-9F66-49EA-B716-966645F48002}"/>
              </a:ext>
            </a:extLst>
          </p:cNvPr>
          <p:cNvSpPr>
            <a:spLocks xmlns:a="http://schemas.openxmlformats.org/drawingml/2006/main" noGrp="1"/>
          </p:cNvSpPr>
          <p:nvPr/>
        </p:nvSpPr>
        <p:spPr>
          <a:xfrm xmlns:a="http://schemas.openxmlformats.org/drawingml/2006/main">
            <a:off x="971550" y="3952875"/>
            <a:ext cx="4552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0">
                <a:solidFill>
                  <a:srgbClr val="281E18"/>
                </a:solidFill>
                <a:latin typeface="Arial"/>
                <a:ea typeface="Arial"/>
                <a:cs typeface="Arial"/>
              </a:defRPr>
            </a:defPPr>
          </a:lstStyle>
          <a:p xmlns:a="http://schemas.openxmlformats.org/drawingml/2006/main">
            <a:pPr algn="l">
              <a:defRPr sz="1425" b="0">
                <a:solidFill>
                  <a:srgbClr val="281E18"/>
                </a:solidFill>
                <a:latin typeface="Arial"/>
                <a:ea typeface="Arial"/>
                <a:cs typeface="Arial"/>
              </a:defRPr>
            </a:pPr>
            <a:r>
              <a:rPr sz="1425" b="0">
                <a:solidFill>
                  <a:srgbClr val="281E18"/>
                </a:solidFill>
                <a:latin typeface="Arial"/>
                <a:ea typeface="Arial"/>
                <a:cs typeface="Arial"/>
              </a:rPr>
              <a:t>Lampirkan sendiri file invoice PNG pada chat.</a:t>
            </a:r>
          </a:p>
        </p:txBody>
      </p:sp>
      <p:sp>
        <p:nvSpPr>
          <p:cNvPr id="16" name="">
            <a:extLst xmlns:a="http://schemas.openxmlformats.org/drawingml/2006/main">
              <a:ext uri="{FF2B5EF4-FFF2-40B4-BE49-F238E27FC236}">
                <a16:creationId xmlns:a16="http://schemas.microsoft.com/office/drawing/2014/main" id="{CE08FA88-2885-4738-995F-3060A0ADC57D}"/>
              </a:ext>
            </a:extLst>
          </p:cNvPr>
          <p:cNvSpPr>
            <a:spLocks xmlns:a="http://schemas.openxmlformats.org/drawingml/2006/main" noGrp="1"/>
          </p:cNvSpPr>
          <p:nvPr/>
        </p:nvSpPr>
        <p:spPr>
          <a:xfrm xmlns:a="http://schemas.openxmlformats.org/drawingml/2006/main">
            <a:off x="762000" y="4629150"/>
            <a:ext cx="85725" cy="85725"/>
          </a:xfrm>
          <a:prstGeom xmlns:a="http://schemas.openxmlformats.org/drawingml/2006/main" prst="ellipse">
            <a:avLst/>
          </a:prstGeom>
          <a:solidFill xmlns:a="http://schemas.openxmlformats.org/drawingml/2006/main">
            <a:srgbClr val="B18A48"/>
          </a:solidFill>
          <a:ln xmlns:a="http://schemas.openxmlformats.org/drawingml/2006/main" w="0">
            <a:solidFill>
              <a:srgbClr val="B18A48"/>
            </a:solidFill>
          </a:ln>
        </p:spPr>
      </p:sp>
      <p:sp>
        <p:nvSpPr>
          <p:cNvPr id="17" name="">
            <a:extLst xmlns:a="http://schemas.openxmlformats.org/drawingml/2006/main">
              <a:ext uri="{FF2B5EF4-FFF2-40B4-BE49-F238E27FC236}">
                <a16:creationId xmlns:a16="http://schemas.microsoft.com/office/drawing/2014/main" id="{9F85D397-857D-4783-8CFD-6643FDF176AE}"/>
              </a:ext>
            </a:extLst>
          </p:cNvPr>
          <p:cNvSpPr>
            <a:spLocks xmlns:a="http://schemas.openxmlformats.org/drawingml/2006/main" noGrp="1"/>
          </p:cNvSpPr>
          <p:nvPr/>
        </p:nvSpPr>
        <p:spPr>
          <a:xfrm xmlns:a="http://schemas.openxmlformats.org/drawingml/2006/main">
            <a:off x="971550" y="4524375"/>
            <a:ext cx="4552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425" b="0">
                <a:solidFill>
                  <a:srgbClr val="281E18"/>
                </a:solidFill>
                <a:latin typeface="Arial"/>
                <a:ea typeface="Arial"/>
                <a:cs typeface="Arial"/>
              </a:defRPr>
            </a:defPPr>
          </a:lstStyle>
          <a:p xmlns:a="http://schemas.openxmlformats.org/drawingml/2006/main">
            <a:pPr algn="l">
              <a:defRPr sz="1425" b="0">
                <a:solidFill>
                  <a:srgbClr val="281E18"/>
                </a:solidFill>
                <a:latin typeface="Arial"/>
                <a:ea typeface="Arial"/>
                <a:cs typeface="Arial"/>
              </a:defRPr>
            </a:pPr>
            <a:r>
              <a:rPr sz="1425" b="0">
                <a:solidFill>
                  <a:srgbClr val="281E18"/>
                </a:solidFill>
                <a:latin typeface="Arial"/>
                <a:ea typeface="Arial"/>
                <a:cs typeface="Arial"/>
              </a:rPr>
              <a:t>Kirim pesan, lalu lanjutkan konfirmasi dengan owner.</a:t>
            </a:r>
          </a:p>
        </p:txBody>
      </p:sp>
      <p:pic>
        <p:nvPicPr>
          <p:cNvPr id="18" name="">
            <a:extLst xmlns:a="http://schemas.openxmlformats.org/drawingml/2006/main">
              <a:ext uri="{FF2B5EF4-FFF2-40B4-BE49-F238E27FC236}">
                <a16:creationId xmlns:a16="http://schemas.microsoft.com/office/drawing/2014/main" id="{47528C02-2266-41C2-BB09-94D57608D737}"/>
              </a:ext>
            </a:extLst>
          </p:cNvPr>
          <p:cNvPicPr>
            <a:picLocks xmlns:a="http://schemas.openxmlformats.org/drawingml/2006/main" noChangeAspect="1"/>
          </p:cNvPicPr>
          <p:nvPr/>
        </p:nvPicPr>
        <p:blipFill>
          <a:blip xmlns:r="http://schemas.openxmlformats.org/officeDocument/2006/relationships" xmlns:a="http://schemas.openxmlformats.org/drawingml/2006/main" r:embed="R9ba4a4d9352247f0"/>
          <a:srcRect xmlns:a="http://schemas.openxmlformats.org/drawingml/2006/main" l="19" t="0" r="19" b="0"/>
          <a:stretch xmlns:a="http://schemas.openxmlformats.org/drawingml/2006/main">
            <a:fillRect l="0" t="0" r="0" b="0"/>
          </a:stretch>
        </p:blipFill>
        <p:spPr>
          <a:xfrm xmlns:a="http://schemas.openxmlformats.org/drawingml/2006/main">
            <a:off x="6000750" y="2133600"/>
            <a:ext cx="5619750" cy="3162300"/>
          </a:xfrm>
          <a:prstGeom xmlns:a="http://schemas.openxmlformats.org/drawingml/2006/main" prst="roundRect">
            <a:avLst>
              <a:gd name="adj" fmla="val 4819"/>
            </a:avLst>
          </a:prstGeom>
        </p:spPr>
      </p:pic>
      <p:sp>
        <p:nvSpPr>
          <p:cNvPr id="19" name="">
            <a:extLst xmlns:a="http://schemas.openxmlformats.org/drawingml/2006/main">
              <a:ext uri="{FF2B5EF4-FFF2-40B4-BE49-F238E27FC236}">
                <a16:creationId xmlns:a16="http://schemas.microsoft.com/office/drawing/2014/main" id="{7F256ACC-A9AF-4505-8187-94548C885AAB}"/>
              </a:ext>
            </a:extLst>
          </p:cNvPr>
          <p:cNvSpPr>
            <a:spLocks xmlns:a="http://schemas.openxmlformats.org/drawingml/2006/main" noGrp="1"/>
          </p:cNvSpPr>
          <p:nvPr/>
        </p:nvSpPr>
        <p:spPr>
          <a:xfrm xmlns:a="http://schemas.openxmlformats.org/drawingml/2006/main">
            <a:off x="6191250" y="5486400"/>
            <a:ext cx="523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72675F"/>
                </a:solidFill>
                <a:latin typeface="Arial"/>
                <a:ea typeface="Arial"/>
                <a:cs typeface="Arial"/>
              </a:defRPr>
            </a:defPPr>
          </a:lstStyle>
          <a:p xmlns:a="http://schemas.openxmlformats.org/drawingml/2006/main">
            <a:pPr algn="ctr">
              <a:defRPr sz="1275" b="0">
                <a:solidFill>
                  <a:srgbClr val="72675F"/>
                </a:solidFill>
                <a:latin typeface="Arial"/>
                <a:ea typeface="Arial"/>
                <a:cs typeface="Arial"/>
              </a:defRPr>
            </a:pPr>
            <a:r>
              <a:rPr sz="1275" b="0">
                <a:solidFill>
                  <a:srgbClr val="72675F"/>
                </a:solidFill>
                <a:latin typeface="Arial"/>
                <a:ea typeface="Arial"/>
                <a:cs typeface="Arial"/>
              </a:rPr>
              <a:t>Lampiran invoice dilakukan manual oleh pelanggan.</a:t>
            </a:r>
          </a:p>
        </p:txBody>
      </p:sp>
    </p:spTree>
    <p:extLst>
      <p:ext uri="{BB962C8B-B14F-4D97-AF65-F5344CB8AC3E}">
        <p14:creationId xmlns:p14="http://schemas.microsoft.com/office/powerpoint/2010/main" val="1883242801"/>
      </p:ext>
    </p:extLst>
  </p:cSld>
</p:sld>
</file>

<file path=ppt/slides/slide8.xml><?xml version="1.0" encoding="utf-8"?>
<p:sld xmlns:p="http://schemas.openxmlformats.org/presentationml/2006/main">
  <p:cSld>
    <p:bg>
      <p:bgPr>
        <a:solidFill xmlns:a="http://schemas.openxmlformats.org/drawingml/2006/main">
          <a:srgbClr val="FBF6E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2AC7C05-3861-46E7-B2DC-8C52E072EBC7}"/>
              </a:ext>
            </a:extLst>
          </p:cNvPr>
          <p:cNvSpPr>
            <a:spLocks xmlns:a="http://schemas.openxmlformats.org/drawingml/2006/main" noGrp="1"/>
          </p:cNvSpPr>
          <p:nvPr/>
        </p:nvSpPr>
        <p:spPr>
          <a:xfrm xmlns:a="http://schemas.openxmlformats.org/drawingml/2006/main">
            <a:off x="552450" y="209550"/>
            <a:ext cx="542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3A2015"/>
                </a:solidFill>
                <a:latin typeface="Arial"/>
                <a:ea typeface="Arial"/>
                <a:cs typeface="Arial"/>
              </a:defRPr>
            </a:defPPr>
          </a:lstStyle>
          <a:p xmlns:a="http://schemas.openxmlformats.org/drawingml/2006/main">
            <a:pPr algn="l">
              <a:defRPr sz="1050" b="1">
                <a:solidFill>
                  <a:srgbClr val="3A2015"/>
                </a:solidFill>
                <a:latin typeface="Arial"/>
                <a:ea typeface="Arial"/>
                <a:cs typeface="Arial"/>
              </a:defRPr>
            </a:pPr>
            <a:r>
              <a:rPr sz="1050" b="1">
                <a:solidFill>
                  <a:srgbClr val="3A2015"/>
                </a:solidFill>
                <a:latin typeface="Arial"/>
                <a:ea typeface="Arial"/>
                <a:cs typeface="Arial"/>
              </a:rPr>
              <a:t>FD CULINARY  /  DOKUMENTASI WEBSITE</a:t>
            </a:r>
          </a:p>
        </p:txBody>
      </p:sp>
      <p:sp>
        <p:nvSpPr>
          <p:cNvPr id="2" name="">
            <a:extLst xmlns:a="http://schemas.openxmlformats.org/drawingml/2006/main">
              <a:ext uri="{FF2B5EF4-FFF2-40B4-BE49-F238E27FC236}">
                <a16:creationId xmlns:a16="http://schemas.microsoft.com/office/drawing/2014/main" id="{E040E8BD-FEF7-466F-BCB0-EBD33D2967AD}"/>
              </a:ext>
            </a:extLst>
          </p:cNvPr>
          <p:cNvSpPr>
            <a:spLocks xmlns:a="http://schemas.openxmlformats.org/drawingml/2006/main" noGrp="1"/>
          </p:cNvSpPr>
          <p:nvPr/>
        </p:nvSpPr>
        <p:spPr>
          <a:xfrm xmlns:a="http://schemas.openxmlformats.org/drawingml/2006/main">
            <a:off x="552450" y="533400"/>
            <a:ext cx="106680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050" b="1">
                <a:solidFill>
                  <a:srgbClr val="526747"/>
                </a:solidFill>
                <a:latin typeface="Arial"/>
                <a:ea typeface="Arial"/>
                <a:cs typeface="Arial"/>
              </a:defRPr>
            </a:defPPr>
          </a:lstStyle>
          <a:p xmlns:a="http://schemas.openxmlformats.org/drawingml/2006/main">
            <a:pPr algn="l">
              <a:defRPr sz="1050" b="1">
                <a:solidFill>
                  <a:srgbClr val="526747"/>
                </a:solidFill>
                <a:latin typeface="Arial"/>
                <a:ea typeface="Arial"/>
                <a:cs typeface="Arial"/>
              </a:defRPr>
            </a:pPr>
            <a:r>
              <a:rPr sz="1050" b="1">
                <a:solidFill>
                  <a:srgbClr val="526747"/>
                </a:solidFill>
                <a:latin typeface="Arial"/>
                <a:ea typeface="Arial"/>
                <a:cs typeface="Arial"/>
              </a:rPr>
              <a:t>RUANG LINGKUP</a:t>
            </a:r>
          </a:p>
        </p:txBody>
      </p:sp>
      <p:sp>
        <p:nvSpPr>
          <p:cNvPr id="3" name="">
            <a:extLst xmlns:a="http://schemas.openxmlformats.org/drawingml/2006/main">
              <a:ext uri="{FF2B5EF4-FFF2-40B4-BE49-F238E27FC236}">
                <a16:creationId xmlns:a16="http://schemas.microsoft.com/office/drawing/2014/main" id="{FFA21024-1AF2-4671-98F2-EBEAF3AFBA2B}"/>
              </a:ext>
            </a:extLst>
          </p:cNvPr>
          <p:cNvSpPr>
            <a:spLocks xmlns:a="http://schemas.openxmlformats.org/drawingml/2006/main" noGrp="1"/>
          </p:cNvSpPr>
          <p:nvPr/>
        </p:nvSpPr>
        <p:spPr>
          <a:xfrm xmlns:a="http://schemas.openxmlformats.org/drawingml/2006/main">
            <a:off x="552450" y="800100"/>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3150" b="1">
                <a:solidFill>
                  <a:srgbClr val="281E18"/>
                </a:solidFill>
                <a:latin typeface="Georgia"/>
                <a:ea typeface="Georgia"/>
                <a:cs typeface="Georgia"/>
              </a:defRPr>
            </a:defPPr>
          </a:lstStyle>
          <a:p xmlns:a="http://schemas.openxmlformats.org/drawingml/2006/main">
            <a:pPr algn="l">
              <a:defRPr sz="3150" b="1">
                <a:solidFill>
                  <a:srgbClr val="281E18"/>
                </a:solidFill>
                <a:latin typeface="Georgia"/>
                <a:ea typeface="Georgia"/>
                <a:cs typeface="Georgia"/>
              </a:defRPr>
            </a:pPr>
            <a:r>
              <a:rPr sz="3150" b="1">
                <a:solidFill>
                  <a:srgbClr val="281E18"/>
                </a:solidFill>
                <a:latin typeface="Georgia"/>
                <a:ea typeface="Georgia"/>
                <a:cs typeface="Georgia"/>
              </a:rPr>
              <a:t>Peran website dan owner</a:t>
            </a:r>
          </a:p>
        </p:txBody>
      </p:sp>
      <p:sp>
        <p:nvSpPr>
          <p:cNvPr id="4" name="">
            <a:extLst xmlns:a="http://schemas.openxmlformats.org/drawingml/2006/main">
              <a:ext uri="{FF2B5EF4-FFF2-40B4-BE49-F238E27FC236}">
                <a16:creationId xmlns:a16="http://schemas.microsoft.com/office/drawing/2014/main" id="{BEE7CE89-E4E7-4765-8AAE-6C252F1D848C}"/>
              </a:ext>
            </a:extLst>
          </p:cNvPr>
          <p:cNvSpPr>
            <a:spLocks xmlns:a="http://schemas.openxmlformats.org/drawingml/2006/main" noGrp="1"/>
          </p:cNvSpPr>
          <p:nvPr/>
        </p:nvSpPr>
        <p:spPr>
          <a:xfrm xmlns:a="http://schemas.openxmlformats.org/drawingml/2006/main">
            <a:off x="571500" y="1362075"/>
            <a:ext cx="11001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425" b="0">
                <a:solidFill>
                  <a:srgbClr val="72675F"/>
                </a:solidFill>
                <a:latin typeface="Arial"/>
                <a:ea typeface="Arial"/>
                <a:cs typeface="Arial"/>
              </a:defRPr>
            </a:defPPr>
          </a:lstStyle>
          <a:p xmlns:a="http://schemas.openxmlformats.org/drawingml/2006/main">
            <a:pPr algn="l">
              <a:defRPr sz="1425" b="0">
                <a:solidFill>
                  <a:srgbClr val="72675F"/>
                </a:solidFill>
                <a:latin typeface="Arial"/>
                <a:ea typeface="Arial"/>
                <a:cs typeface="Arial"/>
              </a:defRPr>
            </a:pPr>
            <a:r>
              <a:rPr sz="1425" b="0">
                <a:solidFill>
                  <a:srgbClr val="72675F"/>
                </a:solidFill>
                <a:latin typeface="Arial"/>
                <a:ea typeface="Arial"/>
                <a:cs typeface="Arial"/>
              </a:rPr>
              <a:t>Batas fungsi yang perlu diketahui saat pelanggan menggunakan katalog.</a:t>
            </a:r>
          </a:p>
        </p:txBody>
      </p:sp>
      <p:sp>
        <p:nvSpPr>
          <p:cNvPr id="5" name="">
            <a:extLst xmlns:a="http://schemas.openxmlformats.org/drawingml/2006/main">
              <a:ext uri="{FF2B5EF4-FFF2-40B4-BE49-F238E27FC236}">
                <a16:creationId xmlns:a16="http://schemas.microsoft.com/office/drawing/2014/main" id="{6A3D8D4E-D2E7-4101-974E-16726FB275FE}"/>
              </a:ext>
            </a:extLst>
          </p:cNvPr>
          <p:cNvSpPr>
            <a:spLocks xmlns:a="http://schemas.openxmlformats.org/drawingml/2006/main" noGrp="1"/>
          </p:cNvSpPr>
          <p:nvPr/>
        </p:nvSpPr>
        <p:spPr>
          <a:xfrm xmlns:a="http://schemas.openxmlformats.org/drawingml/2006/main">
            <a:off x="552450" y="1752600"/>
            <a:ext cx="1108710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FC12C58-71AB-485B-8113-CF9384F87576}"/>
              </a:ext>
            </a:extLst>
          </p:cNvPr>
          <p:cNvSpPr>
            <a:spLocks xmlns:a="http://schemas.openxmlformats.org/drawingml/2006/main" noGrp="1"/>
          </p:cNvSpPr>
          <p:nvPr/>
        </p:nvSpPr>
        <p:spPr>
          <a:xfrm xmlns:a="http://schemas.openxmlformats.org/drawingml/2006/main">
            <a:off x="552450" y="6448425"/>
            <a:ext cx="11087100" cy="9525"/>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6081CD-11B5-4B5D-9901-E3F5351DF75A}"/>
              </a:ext>
            </a:extLst>
          </p:cNvPr>
          <p:cNvSpPr>
            <a:spLocks xmlns:a="http://schemas.openxmlformats.org/drawingml/2006/main" noGrp="1"/>
          </p:cNvSpPr>
          <p:nvPr/>
        </p:nvSpPr>
        <p:spPr>
          <a:xfrm xmlns:a="http://schemas.openxmlformats.org/drawingml/2006/main">
            <a:off x="552450" y="6524625"/>
            <a:ext cx="8572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900" b="0">
                <a:solidFill>
                  <a:srgbClr val="72675F"/>
                </a:solidFill>
                <a:latin typeface="Arial"/>
                <a:ea typeface="Arial"/>
                <a:cs typeface="Arial"/>
              </a:defRPr>
            </a:defPPr>
          </a:lstStyle>
          <a:p xmlns:a="http://schemas.openxmlformats.org/drawingml/2006/main">
            <a:pPr algn="l">
              <a:defRPr sz="900" b="0">
                <a:solidFill>
                  <a:srgbClr val="72675F"/>
                </a:solidFill>
                <a:latin typeface="Arial"/>
                <a:ea typeface="Arial"/>
                <a:cs typeface="Arial"/>
              </a:defRPr>
            </a:pPr>
            <a:r>
              <a:rPr sz="900" b="0">
                <a:solidFill>
                  <a:srgbClr val="72675F"/>
                </a:solidFill>
                <a:latin typeface="Arial"/>
                <a:ea typeface="Arial"/>
                <a:cs typeface="Arial"/>
              </a:rPr>
              <a:t>Dokumentasi berdasarkan versi website saat ini</a:t>
            </a:r>
          </a:p>
        </p:txBody>
      </p:sp>
      <p:sp>
        <p:nvSpPr>
          <p:cNvPr id="8" name="">
            <a:extLst xmlns:a="http://schemas.openxmlformats.org/drawingml/2006/main">
              <a:ext uri="{FF2B5EF4-FFF2-40B4-BE49-F238E27FC236}">
                <a16:creationId xmlns:a16="http://schemas.microsoft.com/office/drawing/2014/main" id="{886DC084-D152-46FC-A9EA-1ECD25D51C65}"/>
              </a:ext>
            </a:extLst>
          </p:cNvPr>
          <p:cNvSpPr>
            <a:spLocks xmlns:a="http://schemas.openxmlformats.org/drawingml/2006/main" noGrp="1"/>
          </p:cNvSpPr>
          <p:nvPr/>
        </p:nvSpPr>
        <p:spPr>
          <a:xfrm xmlns:a="http://schemas.openxmlformats.org/drawingml/2006/main">
            <a:off x="11182350" y="6505575"/>
            <a:ext cx="4572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r">
              <a:defRPr sz="975" b="1">
                <a:solidFill>
                  <a:srgbClr val="3A2015"/>
                </a:solidFill>
                <a:latin typeface="Arial"/>
                <a:ea typeface="Arial"/>
                <a:cs typeface="Arial"/>
              </a:defRPr>
            </a:defPPr>
          </a:lstStyle>
          <a:p xmlns:a="http://schemas.openxmlformats.org/drawingml/2006/main">
            <a:pPr algn="r">
              <a:defRPr sz="975" b="1">
                <a:solidFill>
                  <a:srgbClr val="3A2015"/>
                </a:solidFill>
                <a:latin typeface="Arial"/>
                <a:ea typeface="Arial"/>
                <a:cs typeface="Arial"/>
              </a:defRPr>
            </a:pPr>
            <a:r>
              <a:rPr sz="975" b="1">
                <a:solidFill>
                  <a:srgbClr val="3A2015"/>
                </a:solidFill>
                <a:latin typeface="Arial"/>
                <a:ea typeface="Arial"/>
                <a:cs typeface="Arial"/>
              </a:rPr>
              <a:t>08</a:t>
            </a:r>
          </a:p>
        </p:txBody>
      </p:sp>
      <p:sp>
        <p:nvSpPr>
          <p:cNvPr id="9" name="">
            <a:extLst xmlns:a="http://schemas.openxmlformats.org/drawingml/2006/main">
              <a:ext uri="{FF2B5EF4-FFF2-40B4-BE49-F238E27FC236}">
                <a16:creationId xmlns:a16="http://schemas.microsoft.com/office/drawing/2014/main" id="{8B1EFCB7-23E1-4B2F-AD28-73F4A8983EF2}"/>
              </a:ext>
            </a:extLst>
          </p:cNvPr>
          <p:cNvSpPr>
            <a:spLocks xmlns:a="http://schemas.openxmlformats.org/drawingml/2006/main" noGrp="1"/>
          </p:cNvSpPr>
          <p:nvPr/>
        </p:nvSpPr>
        <p:spPr>
          <a:xfrm xmlns:a="http://schemas.openxmlformats.org/drawingml/2006/main">
            <a:off x="742950" y="2114550"/>
            <a:ext cx="57150" cy="3190875"/>
          </a:xfrm>
          <a:prstGeom xmlns:a="http://schemas.openxmlformats.org/drawingml/2006/main" prst="rect">
            <a:avLst/>
          </a:prstGeom>
          <a:solidFill xmlns:a="http://schemas.openxmlformats.org/drawingml/2006/main">
            <a:srgbClr val="B18A4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F84D2FC-0988-4D15-BD23-0C2F5821AA89}"/>
              </a:ext>
            </a:extLst>
          </p:cNvPr>
          <p:cNvSpPr>
            <a:spLocks xmlns:a="http://schemas.openxmlformats.org/drawingml/2006/main" noGrp="1"/>
          </p:cNvSpPr>
          <p:nvPr/>
        </p:nvSpPr>
        <p:spPr>
          <a:xfrm xmlns:a="http://schemas.openxmlformats.org/drawingml/2006/main">
            <a:off x="1028700" y="2095500"/>
            <a:ext cx="438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747"/>
                </a:solidFill>
                <a:latin typeface="Arial"/>
                <a:ea typeface="Arial"/>
                <a:cs typeface="Arial"/>
              </a:defRPr>
            </a:defPPr>
          </a:lstStyle>
          <a:p xmlns:a="http://schemas.openxmlformats.org/drawingml/2006/main">
            <a:pPr algn="l">
              <a:defRPr sz="1275" b="1">
                <a:solidFill>
                  <a:srgbClr val="526747"/>
                </a:solidFill>
                <a:latin typeface="Arial"/>
                <a:ea typeface="Arial"/>
                <a:cs typeface="Arial"/>
              </a:defRPr>
            </a:pPr>
            <a:r>
              <a:rPr sz="1275" b="1">
                <a:solidFill>
                  <a:srgbClr val="526747"/>
                </a:solidFill>
                <a:latin typeface="Arial"/>
                <a:ea typeface="Arial"/>
                <a:cs typeface="Arial"/>
              </a:rPr>
              <a:t>WEBSITE FD CULINARY</a:t>
            </a:r>
          </a:p>
        </p:txBody>
      </p:sp>
      <p:sp>
        <p:nvSpPr>
          <p:cNvPr id="11" name="">
            <a:extLst xmlns:a="http://schemas.openxmlformats.org/drawingml/2006/main">
              <a:ext uri="{FF2B5EF4-FFF2-40B4-BE49-F238E27FC236}">
                <a16:creationId xmlns:a16="http://schemas.microsoft.com/office/drawing/2014/main" id="{691171EA-06D7-47F1-8B9A-041D2D9BC356}"/>
              </a:ext>
            </a:extLst>
          </p:cNvPr>
          <p:cNvSpPr>
            <a:spLocks xmlns:a="http://schemas.openxmlformats.org/drawingml/2006/main" noGrp="1"/>
          </p:cNvSpPr>
          <p:nvPr/>
        </p:nvSpPr>
        <p:spPr>
          <a:xfrm xmlns:a="http://schemas.openxmlformats.org/drawingml/2006/main">
            <a:off x="1028700" y="26003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124"/>
          </a:bodyPr>
          <a:lstStyle xmlns:a="http://schemas.openxmlformats.org/drawingml/2006/main">
            <a:defPPr algn="l">
              <a:defRPr sz="1725" b="1">
                <a:solidFill>
                  <a:srgbClr val="281E18"/>
                </a:solidFill>
                <a:latin typeface="Arial"/>
                <a:ea typeface="Arial"/>
                <a:cs typeface="Arial"/>
              </a:defRPr>
            </a:defPPr>
          </a:lstStyle>
          <a:p xmlns:a="http://schemas.openxmlformats.org/drawingml/2006/main">
            <a:pPr algn="l">
              <a:defRPr sz="1725" b="1">
                <a:solidFill>
                  <a:srgbClr val="281E18"/>
                </a:solidFill>
                <a:latin typeface="Arial"/>
                <a:ea typeface="Arial"/>
                <a:cs typeface="Arial"/>
              </a:defRPr>
            </a:pPr>
            <a:r>
              <a:rPr sz="1725" b="1">
                <a:solidFill>
                  <a:srgbClr val="281E18"/>
                </a:solidFill>
                <a:latin typeface="Arial"/>
                <a:ea typeface="Arial"/>
                <a:cs typeface="Arial"/>
              </a:rPr>
              <a:t>Menampilkan profil, katalog, review, dan harga.</a:t>
            </a:r>
          </a:p>
        </p:txBody>
      </p:sp>
      <p:sp>
        <p:nvSpPr>
          <p:cNvPr id="12" name="">
            <a:extLst xmlns:a="http://schemas.openxmlformats.org/drawingml/2006/main">
              <a:ext uri="{FF2B5EF4-FFF2-40B4-BE49-F238E27FC236}">
                <a16:creationId xmlns:a16="http://schemas.microsoft.com/office/drawing/2014/main" id="{B58AA832-2E57-4FC0-878A-72360E52A4B1}"/>
              </a:ext>
            </a:extLst>
          </p:cNvPr>
          <p:cNvSpPr>
            <a:spLocks xmlns:a="http://schemas.openxmlformats.org/drawingml/2006/main" noGrp="1"/>
          </p:cNvSpPr>
          <p:nvPr/>
        </p:nvSpPr>
        <p:spPr>
          <a:xfrm xmlns:a="http://schemas.openxmlformats.org/drawingml/2006/main">
            <a:off x="1028700" y="3190875"/>
            <a:ext cx="466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0">
                <a:solidFill>
                  <a:srgbClr val="281E18"/>
                </a:solidFill>
                <a:latin typeface="Arial"/>
                <a:ea typeface="Arial"/>
                <a:cs typeface="Arial"/>
              </a:defRPr>
            </a:defPPr>
          </a:lstStyle>
          <a:p xmlns:a="http://schemas.openxmlformats.org/drawingml/2006/main">
            <a:pPr algn="l">
              <a:defRPr sz="1575" b="0">
                <a:solidFill>
                  <a:srgbClr val="281E18"/>
                </a:solidFill>
                <a:latin typeface="Arial"/>
                <a:ea typeface="Arial"/>
                <a:cs typeface="Arial"/>
              </a:defRPr>
            </a:pPr>
            <a:r>
              <a:rPr sz="1575" b="0">
                <a:solidFill>
                  <a:srgbClr val="281E18"/>
                </a:solidFill>
                <a:latin typeface="Arial"/>
                <a:ea typeface="Arial"/>
                <a:cs typeface="Arial"/>
              </a:rPr>
              <a:t>Mengatur pilihan ukuran, keranjang, dan draft invoice.</a:t>
            </a:r>
          </a:p>
        </p:txBody>
      </p:sp>
      <p:sp>
        <p:nvSpPr>
          <p:cNvPr id="13" name="">
            <a:extLst xmlns:a="http://schemas.openxmlformats.org/drawingml/2006/main">
              <a:ext uri="{FF2B5EF4-FFF2-40B4-BE49-F238E27FC236}">
                <a16:creationId xmlns:a16="http://schemas.microsoft.com/office/drawing/2014/main" id="{7275674B-C616-4A94-B676-F41139D1454A}"/>
              </a:ext>
            </a:extLst>
          </p:cNvPr>
          <p:cNvSpPr>
            <a:spLocks xmlns:a="http://schemas.openxmlformats.org/drawingml/2006/main" noGrp="1"/>
          </p:cNvSpPr>
          <p:nvPr/>
        </p:nvSpPr>
        <p:spPr>
          <a:xfrm xmlns:a="http://schemas.openxmlformats.org/drawingml/2006/main">
            <a:off x="1028700" y="3943350"/>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0">
                <a:solidFill>
                  <a:srgbClr val="281E18"/>
                </a:solidFill>
                <a:latin typeface="Arial"/>
                <a:ea typeface="Arial"/>
                <a:cs typeface="Arial"/>
              </a:defRPr>
            </a:defPPr>
          </a:lstStyle>
          <a:p xmlns:a="http://schemas.openxmlformats.org/drawingml/2006/main">
            <a:pPr algn="l">
              <a:defRPr sz="1575" b="0">
                <a:solidFill>
                  <a:srgbClr val="281E18"/>
                </a:solidFill>
                <a:latin typeface="Arial"/>
                <a:ea typeface="Arial"/>
                <a:cs typeface="Arial"/>
              </a:defRPr>
            </a:pPr>
            <a:r>
              <a:rPr sz="1575" b="0">
                <a:solidFill>
                  <a:srgbClr val="281E18"/>
                </a:solidFill>
                <a:latin typeface="Arial"/>
                <a:ea typeface="Arial"/>
                <a:cs typeface="Arial"/>
              </a:rPr>
              <a:t>Mengunduh invoice PNG dan membuka WhatsApp dengan pesan awal.</a:t>
            </a:r>
          </a:p>
        </p:txBody>
      </p:sp>
      <p:sp>
        <p:nvSpPr>
          <p:cNvPr id="14" name="">
            <a:extLst xmlns:a="http://schemas.openxmlformats.org/drawingml/2006/main">
              <a:ext uri="{FF2B5EF4-FFF2-40B4-BE49-F238E27FC236}">
                <a16:creationId xmlns:a16="http://schemas.microsoft.com/office/drawing/2014/main" id="{B4CA5E0D-1BA9-444C-B3C8-4674EC390DC2}"/>
              </a:ext>
            </a:extLst>
          </p:cNvPr>
          <p:cNvSpPr>
            <a:spLocks xmlns:a="http://schemas.openxmlformats.org/drawingml/2006/main" noGrp="1"/>
          </p:cNvSpPr>
          <p:nvPr/>
        </p:nvSpPr>
        <p:spPr>
          <a:xfrm xmlns:a="http://schemas.openxmlformats.org/drawingml/2006/main">
            <a:off x="6076950" y="2114550"/>
            <a:ext cx="57150" cy="3190875"/>
          </a:xfrm>
          <a:prstGeom xmlns:a="http://schemas.openxmlformats.org/drawingml/2006/main" prst="rect">
            <a:avLst/>
          </a:prstGeom>
          <a:solidFill xmlns:a="http://schemas.openxmlformats.org/drawingml/2006/main">
            <a:srgbClr val="526747"/>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645718D-B163-4EE6-9666-B1A3D117B7BD}"/>
              </a:ext>
            </a:extLst>
          </p:cNvPr>
          <p:cNvSpPr>
            <a:spLocks xmlns:a="http://schemas.openxmlformats.org/drawingml/2006/main" noGrp="1"/>
          </p:cNvSpPr>
          <p:nvPr/>
        </p:nvSpPr>
        <p:spPr>
          <a:xfrm xmlns:a="http://schemas.openxmlformats.org/drawingml/2006/main">
            <a:off x="6362700" y="2095500"/>
            <a:ext cx="476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275" b="1">
                <a:solidFill>
                  <a:srgbClr val="526747"/>
                </a:solidFill>
                <a:latin typeface="Arial"/>
                <a:ea typeface="Arial"/>
                <a:cs typeface="Arial"/>
              </a:defRPr>
            </a:defPPr>
          </a:lstStyle>
          <a:p xmlns:a="http://schemas.openxmlformats.org/drawingml/2006/main">
            <a:pPr algn="l">
              <a:defRPr sz="1275" b="1">
                <a:solidFill>
                  <a:srgbClr val="526747"/>
                </a:solidFill>
                <a:latin typeface="Arial"/>
                <a:ea typeface="Arial"/>
                <a:cs typeface="Arial"/>
              </a:defRPr>
            </a:pPr>
            <a:r>
              <a:rPr sz="1275" b="1">
                <a:solidFill>
                  <a:srgbClr val="526747"/>
                </a:solidFill>
                <a:latin typeface="Arial"/>
                <a:ea typeface="Arial"/>
                <a:cs typeface="Arial"/>
              </a:rPr>
              <a:t>PELANGGAN DAN OWNER</a:t>
            </a:r>
          </a:p>
        </p:txBody>
      </p:sp>
      <p:sp>
        <p:nvSpPr>
          <p:cNvPr id="16" name="">
            <a:extLst xmlns:a="http://schemas.openxmlformats.org/drawingml/2006/main">
              <a:ext uri="{FF2B5EF4-FFF2-40B4-BE49-F238E27FC236}">
                <a16:creationId xmlns:a16="http://schemas.microsoft.com/office/drawing/2014/main" id="{22162AAF-417A-4891-93B1-2D6E87D94F99}"/>
              </a:ext>
            </a:extLst>
          </p:cNvPr>
          <p:cNvSpPr>
            <a:spLocks xmlns:a="http://schemas.openxmlformats.org/drawingml/2006/main" noGrp="1"/>
          </p:cNvSpPr>
          <p:nvPr/>
        </p:nvSpPr>
        <p:spPr>
          <a:xfrm xmlns:a="http://schemas.openxmlformats.org/drawingml/2006/main">
            <a:off x="6362700" y="2600325"/>
            <a:ext cx="476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725" b="1">
                <a:solidFill>
                  <a:srgbClr val="281E18"/>
                </a:solidFill>
                <a:latin typeface="Arial"/>
                <a:ea typeface="Arial"/>
                <a:cs typeface="Arial"/>
              </a:defRPr>
            </a:defPPr>
          </a:lstStyle>
          <a:p xmlns:a="http://schemas.openxmlformats.org/drawingml/2006/main">
            <a:pPr algn="l">
              <a:defRPr sz="1725" b="1">
                <a:solidFill>
                  <a:srgbClr val="281E18"/>
                </a:solidFill>
                <a:latin typeface="Arial"/>
                <a:ea typeface="Arial"/>
                <a:cs typeface="Arial"/>
              </a:defRPr>
            </a:pPr>
            <a:r>
              <a:rPr sz="1725" b="1">
                <a:solidFill>
                  <a:srgbClr val="281E18"/>
                </a:solidFill>
                <a:latin typeface="Arial"/>
                <a:ea typeface="Arial"/>
                <a:cs typeface="Arial"/>
              </a:rPr>
              <a:t>Pelanggan melampirkan invoice dan mengirim chat.</a:t>
            </a:r>
          </a:p>
        </p:txBody>
      </p:sp>
      <p:sp>
        <p:nvSpPr>
          <p:cNvPr id="17" name="">
            <a:extLst xmlns:a="http://schemas.openxmlformats.org/drawingml/2006/main">
              <a:ext uri="{FF2B5EF4-FFF2-40B4-BE49-F238E27FC236}">
                <a16:creationId xmlns:a16="http://schemas.microsoft.com/office/drawing/2014/main" id="{D3B835AB-D136-4EEA-B2E7-0429900ECE2B}"/>
              </a:ext>
            </a:extLst>
          </p:cNvPr>
          <p:cNvSpPr>
            <a:spLocks xmlns:a="http://schemas.openxmlformats.org/drawingml/2006/main" noGrp="1"/>
          </p:cNvSpPr>
          <p:nvPr/>
        </p:nvSpPr>
        <p:spPr>
          <a:xfrm xmlns:a="http://schemas.openxmlformats.org/drawingml/2006/main">
            <a:off x="6362700" y="3362325"/>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l">
              <a:defRPr sz="1575" b="0">
                <a:solidFill>
                  <a:srgbClr val="281E18"/>
                </a:solidFill>
                <a:latin typeface="Arial"/>
                <a:ea typeface="Arial"/>
                <a:cs typeface="Arial"/>
              </a:defRPr>
            </a:defPPr>
          </a:lstStyle>
          <a:p xmlns:a="http://schemas.openxmlformats.org/drawingml/2006/main">
            <a:pPr algn="l">
              <a:defRPr sz="1575" b="0">
                <a:solidFill>
                  <a:srgbClr val="281E18"/>
                </a:solidFill>
                <a:latin typeface="Arial"/>
                <a:ea typeface="Arial"/>
                <a:cs typeface="Arial"/>
              </a:defRPr>
            </a:pPr>
            <a:r>
              <a:rPr sz="1575" b="0">
                <a:solidFill>
                  <a:srgbClr val="281E18"/>
                </a:solidFill>
                <a:latin typeface="Arial"/>
                <a:ea typeface="Arial"/>
                <a:cs typeface="Arial"/>
              </a:rPr>
              <a:t>Owner merespons untuk mengonfirmasi pesanan dan pembayaran.</a:t>
            </a:r>
          </a:p>
        </p:txBody>
      </p:sp>
      <p:sp>
        <p:nvSpPr>
          <p:cNvPr id="18" name="">
            <a:extLst xmlns:a="http://schemas.openxmlformats.org/drawingml/2006/main">
              <a:ext uri="{FF2B5EF4-FFF2-40B4-BE49-F238E27FC236}">
                <a16:creationId xmlns:a16="http://schemas.microsoft.com/office/drawing/2014/main" id="{1286D13D-747B-4ED8-BD96-6AE8B3B34775}"/>
              </a:ext>
            </a:extLst>
          </p:cNvPr>
          <p:cNvSpPr>
            <a:spLocks xmlns:a="http://schemas.openxmlformats.org/drawingml/2006/main" noGrp="1"/>
          </p:cNvSpPr>
          <p:nvPr/>
        </p:nvSpPr>
        <p:spPr>
          <a:xfrm xmlns:a="http://schemas.openxmlformats.org/drawingml/2006/main">
            <a:off x="6362700" y="4267200"/>
            <a:ext cx="4476750" cy="19050"/>
          </a:xfrm>
          <a:prstGeom xmlns:a="http://schemas.openxmlformats.org/drawingml/2006/main" prst="rect">
            <a:avLst/>
          </a:prstGeom>
          <a:solidFill xmlns:a="http://schemas.openxmlformats.org/drawingml/2006/main">
            <a:srgbClr val="D9CBB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47FB5117-5D8E-4D92-B9C5-0E72541F32F3}"/>
              </a:ext>
            </a:extLst>
          </p:cNvPr>
          <p:cNvSpPr>
            <a:spLocks xmlns:a="http://schemas.openxmlformats.org/drawingml/2006/main" noGrp="1"/>
          </p:cNvSpPr>
          <p:nvPr/>
        </p:nvSpPr>
        <p:spPr>
          <a:xfrm xmlns:a="http://schemas.openxmlformats.org/drawingml/2006/main">
            <a:off x="6362700" y="4476750"/>
            <a:ext cx="4762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defPPr algn="l">
              <a:defRPr sz="1350" b="0">
                <a:solidFill>
                  <a:srgbClr val="72675F"/>
                </a:solidFill>
                <a:latin typeface="Arial"/>
                <a:ea typeface="Arial"/>
                <a:cs typeface="Arial"/>
              </a:defRPr>
            </a:defPPr>
          </a:lstStyle>
          <a:p xmlns:a="http://schemas.openxmlformats.org/drawingml/2006/main">
            <a:pPr algn="l">
              <a:defRPr sz="1350" b="0">
                <a:solidFill>
                  <a:srgbClr val="72675F"/>
                </a:solidFill>
                <a:latin typeface="Arial"/>
                <a:ea typeface="Arial"/>
                <a:cs typeface="Arial"/>
              </a:defRPr>
            </a:pPr>
            <a:r>
              <a:rPr sz="1350" b="0">
                <a:solidFill>
                  <a:srgbClr val="72675F"/>
                </a:solidFill>
                <a:latin typeface="Arial"/>
                <a:ea typeface="Arial"/>
                <a:cs typeface="Arial"/>
              </a:rPr>
              <a:t>Tidak ada database order atau payment gateway. Keranjang tersimpan sementara di browser dan kosong setelah invoice final diunduh.</a:t>
            </a:r>
          </a:p>
        </p:txBody>
      </p:sp>
      <p:sp>
        <p:nvSpPr>
          <p:cNvPr id="20" name="">
            <a:extLst xmlns:a="http://schemas.openxmlformats.org/drawingml/2006/main">
              <a:ext uri="{FF2B5EF4-FFF2-40B4-BE49-F238E27FC236}">
                <a16:creationId xmlns:a16="http://schemas.microsoft.com/office/drawing/2014/main" id="{19CC9775-5B50-4B8D-ADB6-F092EFAC4FFC}"/>
              </a:ext>
            </a:extLst>
          </p:cNvPr>
          <p:cNvSpPr>
            <a:spLocks xmlns:a="http://schemas.openxmlformats.org/drawingml/2006/main" noGrp="1"/>
          </p:cNvSpPr>
          <p:nvPr/>
        </p:nvSpPr>
        <p:spPr>
          <a:xfrm xmlns:a="http://schemas.openxmlformats.org/drawingml/2006/main">
            <a:off x="762000" y="5667375"/>
            <a:ext cx="10572750" cy="400050"/>
          </a:xfrm>
          <a:prstGeom xmlns:a="http://schemas.openxmlformats.org/drawingml/2006/main" prst="roundRect">
            <a:avLst>
              <a:gd name="adj" fmla="val 23810"/>
            </a:avLst>
          </a:prstGeom>
          <a:solidFill xmlns:a="http://schemas.openxmlformats.org/drawingml/2006/main">
            <a:srgbClr val="EDF0E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736DBD0-2E4E-4BB6-86CD-981C6BE7C099}"/>
              </a:ext>
            </a:extLst>
          </p:cNvPr>
          <p:cNvSpPr>
            <a:spLocks xmlns:a="http://schemas.openxmlformats.org/drawingml/2006/main" noGrp="1"/>
          </p:cNvSpPr>
          <p:nvPr/>
        </p:nvSpPr>
        <p:spPr>
          <a:xfrm xmlns:a="http://schemas.openxmlformats.org/drawingml/2006/main">
            <a:off x="914400" y="5734050"/>
            <a:ext cx="1026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defPPr algn="ctr">
              <a:defRPr sz="1425" b="1">
                <a:solidFill>
                  <a:srgbClr val="3A2015"/>
                </a:solidFill>
                <a:latin typeface="Arial"/>
                <a:ea typeface="Arial"/>
                <a:cs typeface="Arial"/>
              </a:defRPr>
            </a:defPPr>
          </a:lstStyle>
          <a:p xmlns:a="http://schemas.openxmlformats.org/drawingml/2006/main">
            <a:pPr algn="ctr">
              <a:defRPr sz="1425" b="1">
                <a:solidFill>
                  <a:srgbClr val="3A2015"/>
                </a:solidFill>
                <a:latin typeface="Arial"/>
                <a:ea typeface="Arial"/>
                <a:cs typeface="Arial"/>
              </a:defRPr>
            </a:pPr>
            <a:r>
              <a:rPr sz="1425" b="1">
                <a:solidFill>
                  <a:srgbClr val="3A2015"/>
                </a:solidFill>
                <a:latin typeface="Arial"/>
                <a:ea typeface="Arial"/>
                <a:cs typeface="Arial"/>
              </a:rPr>
              <a:t>Alur singkat: pilih menu → cek keranjang → konfirmasi invoice → lampirkan di WhatsApp.</a:t>
            </a:r>
          </a:p>
        </p:txBody>
      </p:sp>
    </p:spTree>
    <p:extLst>
      <p:ext uri="{BB962C8B-B14F-4D97-AF65-F5344CB8AC3E}">
        <p14:creationId xmlns:p14="http://schemas.microsoft.com/office/powerpoint/2010/main" val="9073128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2026-10-09T10:22:58.4490000Z</dcterms:created>
  <dcterms:modified xsi:type="dcterms:W3CDTF">2026-10-09T10:22:58.4490000Z</dcterms:modified>
</coreProperties>
</file>